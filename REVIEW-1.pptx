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81" r:id="rId3"/>
    <p:sldId id="282" r:id="rId4"/>
    <p:sldId id="285" r:id="rId5"/>
    <p:sldId id="294" r:id="rId6"/>
    <p:sldId id="257" r:id="rId7"/>
    <p:sldId id="258" r:id="rId8"/>
    <p:sldId id="283" r:id="rId9"/>
    <p:sldId id="284" r:id="rId10"/>
    <p:sldId id="286" r:id="rId11"/>
    <p:sldId id="287" r:id="rId12"/>
    <p:sldId id="288" r:id="rId13"/>
    <p:sldId id="289" r:id="rId14"/>
    <p:sldId id="290" r:id="rId15"/>
    <p:sldId id="292" r:id="rId16"/>
    <p:sldId id="291" r:id="rId17"/>
    <p:sldId id="295" r:id="rId18"/>
    <p:sldId id="276" r:id="rId19"/>
    <p:sldId id="278" r:id="rId20"/>
    <p:sldId id="259" r:id="rId21"/>
    <p:sldId id="260" r:id="rId22"/>
    <p:sldId id="279" r:id="rId23"/>
    <p:sldId id="261" r:id="rId24"/>
    <p:sldId id="275" r:id="rId25"/>
    <p:sldId id="277" r:id="rId26"/>
    <p:sldId id="262" r:id="rId27"/>
    <p:sldId id="263" r:id="rId28"/>
    <p:sldId id="280" r:id="rId29"/>
    <p:sldId id="264" r:id="rId30"/>
    <p:sldId id="268" r:id="rId31"/>
    <p:sldId id="296" r:id="rId32"/>
    <p:sldId id="265" r:id="rId33"/>
    <p:sldId id="274" r:id="rId34"/>
    <p:sldId id="26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EC075-1F97-48B8-88BB-3FB33FD19E3C}" v="46" dt="2024-10-17T16:49:58.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08-01-2025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08/01/2025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08/01/2025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08/01/2025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08/01/2025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rimescholars.com/articles/literature-review-on-appointment-scheduling-in-hospitals-management-103724.html#corr" TargetMode="External"/><Relationship Id="rId2" Type="http://schemas.openxmlformats.org/officeDocument/2006/relationships/hyperlink" Target="https://www.primescholars.com/articles/literature-review-on-appointment-scheduling-in-hospitals-management-103724.html#a1" TargetMode="External"/><Relationship Id="rId1" Type="http://schemas.openxmlformats.org/officeDocument/2006/relationships/slideLayout" Target="../slideLayouts/slideLayout2.xml"/><Relationship Id="rId4" Type="http://schemas.openxmlformats.org/officeDocument/2006/relationships/hyperlink" Target="https://www.primescholars.com/articles/literature-review-on-appointment-scheduling-in-hospitals-management-103724.html#a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Mahesh-219/hopsitalfind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who.int/reproductivehealth/publications/digital-interventions-health-system-strengthening/e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indeed.com/career-advice/career-development/how-to-cite-a-research-paper" TargetMode="External"/><Relationship Id="rId2" Type="http://schemas.openxmlformats.org/officeDocument/2006/relationships/hyperlink" Target="https://nvlpubs.nist.gov/nistpubs/SpecialPublications/NIST.SP.800-63b.pd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HOSPITAL FINDER</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76169" y="1372642"/>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Number:CBD-10</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647749" y="2260362"/>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SRINIVAS</a:t>
            </a:r>
            <a:r>
              <a:rPr lang="en-US" b="1" dirty="0">
                <a:latin typeface="Cambria" panose="02040503050406030204" pitchFamily="18" charset="0"/>
                <a:ea typeface="Cambria" panose="02040503050406030204" pitchFamily="18" charset="0"/>
                <a:cs typeface="Verdana"/>
                <a:sym typeface="Verdana"/>
              </a:rPr>
              <a:t>AN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T</a:t>
            </a:r>
            <a:r>
              <a:rPr lang="en-US" sz="1800" b="1" dirty="0">
                <a:solidFill>
                  <a:schemeClr val="tx1"/>
                </a:solidFill>
                <a:latin typeface="Cambria" panose="02040503050406030204" pitchFamily="18" charset="0"/>
                <a:ea typeface="Cambria" panose="02040503050406030204" pitchFamily="18" charset="0"/>
                <a:cs typeface="Verdana"/>
                <a:sym typeface="Verdana"/>
              </a:rPr>
              <a:t> R</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Professor</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solidFill>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PRAVINTHRAJA</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solidFill>
                  <a:schemeClr val="tx1"/>
                </a:solidFill>
                <a:latin typeface="Cambria" panose="02040503050406030204" pitchFamily="18" charset="0"/>
                <a:ea typeface="Cambria" panose="02040503050406030204" pitchFamily="18" charset="0"/>
                <a:cs typeface="Verdana"/>
                <a:sym typeface="Verdana"/>
              </a:rPr>
              <a:t>MS. SUMA NG</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a:p>
            <a:pPr marL="0" marR="0" lvl="0" indent="0" rtl="0">
              <a:spcBef>
                <a:spcPts val="0"/>
              </a:spcBef>
              <a:spcAft>
                <a:spcPts val="0"/>
              </a:spcAft>
              <a:buClr>
                <a:srgbClr val="17365D"/>
              </a:buClr>
              <a:buSzPct val="100000"/>
              <a:buFont typeface="Arial"/>
              <a:buNone/>
            </a:pP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4F66D1AE-9448-EFF1-5A0C-8D82DA0A881C}"/>
              </a:ext>
            </a:extLst>
          </p:cNvPr>
          <p:cNvGraphicFramePr>
            <a:graphicFrameLocks noGrp="1"/>
          </p:cNvGraphicFramePr>
          <p:nvPr>
            <p:extLst>
              <p:ext uri="{D42A27DB-BD31-4B8C-83A1-F6EECF244321}">
                <p14:modId xmlns:p14="http://schemas.microsoft.com/office/powerpoint/2010/main" val="1368443152"/>
              </p:ext>
            </p:extLst>
          </p:nvPr>
        </p:nvGraphicFramePr>
        <p:xfrm>
          <a:off x="197505" y="1992549"/>
          <a:ext cx="6096000" cy="1828800"/>
        </p:xfrm>
        <a:graphic>
          <a:graphicData uri="http://schemas.openxmlformats.org/drawingml/2006/table">
            <a:tbl>
              <a:tblPr firstRow="1" bandRow="1"/>
              <a:tblGrid>
                <a:gridCol w="3048000">
                  <a:extLst>
                    <a:ext uri="{9D8B030D-6E8A-4147-A177-3AD203B41FA5}">
                      <a16:colId xmlns:a16="http://schemas.microsoft.com/office/drawing/2014/main" val="547692186"/>
                    </a:ext>
                  </a:extLst>
                </a:gridCol>
                <a:gridCol w="3048000">
                  <a:extLst>
                    <a:ext uri="{9D8B030D-6E8A-4147-A177-3AD203B41FA5}">
                      <a16:colId xmlns:a16="http://schemas.microsoft.com/office/drawing/2014/main" val="4139844074"/>
                    </a:ext>
                  </a:extLst>
                </a:gridCol>
              </a:tblGrid>
              <a:tr h="355559">
                <a:tc>
                  <a:txBody>
                    <a:bodyPr/>
                    <a:lstStyle/>
                    <a:p>
                      <a:r>
                        <a:rPr lang="en-IN" b="1" dirty="0">
                          <a:solidFill>
                            <a:schemeClr val="tx2"/>
                          </a:solidFill>
                        </a:rPr>
                        <a:t>ROLL NO</a:t>
                      </a:r>
                    </a:p>
                  </a:txBody>
                  <a:tcPr/>
                </a:tc>
                <a:tc>
                  <a:txBody>
                    <a:bodyPr/>
                    <a:lstStyle/>
                    <a:p>
                      <a:r>
                        <a:rPr lang="en-IN" b="1" dirty="0">
                          <a:solidFill>
                            <a:schemeClr val="tx2"/>
                          </a:solidFill>
                        </a:rPr>
                        <a:t>NAME</a:t>
                      </a:r>
                    </a:p>
                  </a:txBody>
                  <a:tcPr/>
                </a:tc>
                <a:extLst>
                  <a:ext uri="{0D108BD9-81ED-4DB2-BD59-A6C34878D82A}">
                    <a16:rowId xmlns:a16="http://schemas.microsoft.com/office/drawing/2014/main" val="2767175782"/>
                  </a:ext>
                </a:extLst>
              </a:tr>
              <a:tr h="355559">
                <a:tc>
                  <a:txBody>
                    <a:bodyPr/>
                    <a:lstStyle/>
                    <a:p>
                      <a:r>
                        <a:rPr lang="en-IN" b="1" dirty="0"/>
                        <a:t>20211CBD0059</a:t>
                      </a:r>
                    </a:p>
                  </a:txBody>
                  <a:tcPr/>
                </a:tc>
                <a:tc>
                  <a:txBody>
                    <a:bodyPr/>
                    <a:lstStyle/>
                    <a:p>
                      <a:r>
                        <a:rPr lang="en-IN" b="1" dirty="0"/>
                        <a:t>Mahesh Reddy</a:t>
                      </a:r>
                    </a:p>
                  </a:txBody>
                  <a:tcPr/>
                </a:tc>
                <a:extLst>
                  <a:ext uri="{0D108BD9-81ED-4DB2-BD59-A6C34878D82A}">
                    <a16:rowId xmlns:a16="http://schemas.microsoft.com/office/drawing/2014/main" val="364130314"/>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20211CBD0018</a:t>
                      </a:r>
                    </a:p>
                  </a:txBody>
                  <a:tcPr/>
                </a:tc>
                <a:tc>
                  <a:txBody>
                    <a:bodyPr/>
                    <a:lstStyle/>
                    <a:p>
                      <a:r>
                        <a:rPr lang="en-IN" b="1" dirty="0" err="1"/>
                        <a:t>Vadde</a:t>
                      </a:r>
                      <a:r>
                        <a:rPr lang="en-IN" b="1" dirty="0"/>
                        <a:t> Vinod</a:t>
                      </a:r>
                    </a:p>
                  </a:txBody>
                  <a:tcPr/>
                </a:tc>
                <a:extLst>
                  <a:ext uri="{0D108BD9-81ED-4DB2-BD59-A6C34878D82A}">
                    <a16:rowId xmlns:a16="http://schemas.microsoft.com/office/drawing/2014/main" val="3282110540"/>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20211CBD0051</a:t>
                      </a:r>
                    </a:p>
                  </a:txBody>
                  <a:tcPr/>
                </a:tc>
                <a:tc>
                  <a:txBody>
                    <a:bodyPr/>
                    <a:lstStyle/>
                    <a:p>
                      <a:r>
                        <a:rPr lang="en-IN" b="1" dirty="0"/>
                        <a:t>Mahammad </a:t>
                      </a:r>
                      <a:r>
                        <a:rPr lang="en-IN" b="1" dirty="0" err="1"/>
                        <a:t>Thouheed</a:t>
                      </a:r>
                      <a:endParaRPr lang="en-IN" b="1" dirty="0"/>
                    </a:p>
                  </a:txBody>
                  <a:tcPr/>
                </a:tc>
                <a:extLst>
                  <a:ext uri="{0D108BD9-81ED-4DB2-BD59-A6C34878D82A}">
                    <a16:rowId xmlns:a16="http://schemas.microsoft.com/office/drawing/2014/main" val="2696390207"/>
                  </a:ext>
                </a:extLst>
              </a:tr>
              <a:tr h="1516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20211CBD0010</a:t>
                      </a:r>
                    </a:p>
                  </a:txBody>
                  <a:tcPr/>
                </a:tc>
                <a:tc>
                  <a:txBody>
                    <a:bodyPr/>
                    <a:lstStyle/>
                    <a:p>
                      <a:r>
                        <a:rPr lang="en-IN" b="1" dirty="0"/>
                        <a:t>Mahammad Ajar</a:t>
                      </a:r>
                    </a:p>
                  </a:txBody>
                  <a:tcPr/>
                </a:tc>
                <a:extLst>
                  <a:ext uri="{0D108BD9-81ED-4DB2-BD59-A6C34878D82A}">
                    <a16:rowId xmlns:a16="http://schemas.microsoft.com/office/drawing/2014/main" val="1820843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649F7-0170-FFF1-81BD-57266E0CB5DF}"/>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616BEF0B-D88C-993E-C4F1-CD68DB39C137}"/>
              </a:ext>
            </a:extLst>
          </p:cNvPr>
          <p:cNvSpPr>
            <a:spLocks noGrp="1"/>
          </p:cNvSpPr>
          <p:nvPr>
            <p:ph idx="1"/>
          </p:nvPr>
        </p:nvSpPr>
        <p:spPr/>
        <p:txBody>
          <a:bodyPr>
            <a:normAutofit fontScale="925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GB" dirty="0"/>
              <a:t>Literature Review</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Existing method Drawback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Proposed Method</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Objectives</a:t>
            </a:r>
          </a:p>
          <a:p>
            <a:pPr marL="495300" indent="-342900" algn="just">
              <a:lnSpc>
                <a:spcPct val="200000"/>
              </a:lnSpc>
              <a:spcBef>
                <a:spcPts val="0"/>
              </a:spcBef>
              <a:buFont typeface="Wingdings" panose="05000000000000000000" pitchFamily="2" charset="2"/>
              <a:buChar char="Ø"/>
            </a:pPr>
            <a:r>
              <a:rPr lang="en-GB" dirty="0"/>
              <a:t>Methodology/Modules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US" dirty="0"/>
              <a:t>Architecture</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Hardware/software components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838269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2F5B-2E27-C44B-5CB3-888789663F63}"/>
              </a:ext>
            </a:extLst>
          </p:cNvPr>
          <p:cNvSpPr>
            <a:spLocks noGrp="1"/>
          </p:cNvSpPr>
          <p:nvPr>
            <p:ph type="title"/>
          </p:nvPr>
        </p:nvSpPr>
        <p:spPr/>
        <p:txBody>
          <a:bodyPr/>
          <a:lstStyle/>
          <a:p>
            <a:r>
              <a:rPr lang="en-IN" dirty="0"/>
              <a:t>CONTENT </a:t>
            </a:r>
          </a:p>
        </p:txBody>
      </p:sp>
      <p:sp>
        <p:nvSpPr>
          <p:cNvPr id="3" name="Content Placeholder 2">
            <a:extLst>
              <a:ext uri="{FF2B5EF4-FFF2-40B4-BE49-F238E27FC236}">
                <a16:creationId xmlns:a16="http://schemas.microsoft.com/office/drawing/2014/main" id="{B4A1F8B3-D212-AC06-0D3A-297475E0FF66}"/>
              </a:ext>
            </a:extLst>
          </p:cNvPr>
          <p:cNvSpPr>
            <a:spLocks noGrp="1"/>
          </p:cNvSpPr>
          <p:nvPr>
            <p:ph idx="1"/>
          </p:nvPr>
        </p:nvSpPr>
        <p:spPr/>
        <p:txBody>
          <a:bodyPr>
            <a:norm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Timeline of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Expected Outcomes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Conclusion</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err="1"/>
              <a:t>Github</a:t>
            </a:r>
            <a:r>
              <a:rPr lang="en-GB" dirty="0"/>
              <a:t> link</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t>Project work mapping with SDG</a:t>
            </a: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390226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7E9F-1B6D-BF12-38EC-D094F137BE11}"/>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6AB9E9F6-F93E-78F7-50EE-A0A793EC1097}"/>
              </a:ext>
            </a:extLst>
          </p:cNvPr>
          <p:cNvSpPr>
            <a:spLocks noGrp="1"/>
          </p:cNvSpPr>
          <p:nvPr>
            <p:ph idx="1"/>
          </p:nvPr>
        </p:nvSpPr>
        <p:spPr/>
        <p:txBody>
          <a:bodyPr/>
          <a:lstStyle/>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Hospitals provide health care and are the largest and most complex organizations. Effective patient care services in hospitals depend on efficient decisions made by hospital executives. The primary task of hospital executives is to ensure the hospital can provide high-quality patient care and services. But, during medical emergencies, people often have difficulty deciding which hospital to visit for treatment. They wander from one hospital to another in search of medical facilities, medicines, blood supply, etc. Hospital Finder is a solution to this problem. It allows people to search for nearby hospitals based on medical treatment, specialist doctors, medicine/blood availability, and other factors. </a:t>
            </a: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Internet Of Things, Android, Application (App), Hospital, Patient, Doctor, Appointment.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01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8D8D-9B22-CE56-0124-2F633F1ABD48}"/>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EDB39ADF-5636-0FE0-0263-972DD6CA33ED}"/>
              </a:ext>
            </a:extLst>
          </p:cNvPr>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Build an android application </a:t>
            </a:r>
          </a:p>
          <a:p>
            <a:pPr lvl="1" algn="just"/>
            <a:r>
              <a:rPr lang="en-US" dirty="0">
                <a:latin typeface="Times New Roman" panose="02020603050405020304" pitchFamily="18" charset="0"/>
                <a:cs typeface="Times New Roman" panose="02020603050405020304" pitchFamily="18" charset="0"/>
              </a:rPr>
              <a:t>that builds a communication gap between the hospitals and patients during emergencies.</a:t>
            </a:r>
          </a:p>
          <a:p>
            <a:pPr lvl="1" algn="just"/>
            <a:r>
              <a:rPr lang="en-US" dirty="0">
                <a:latin typeface="Times New Roman" panose="02020603050405020304" pitchFamily="18" charset="0"/>
                <a:cs typeface="Times New Roman" panose="02020603050405020304" pitchFamily="18" charset="0"/>
              </a:rPr>
              <a:t>that will display the nearest hospital and router to the selected hospital. After reaching the hospital,</a:t>
            </a:r>
          </a:p>
          <a:p>
            <a:pPr lvl="1" algn="just"/>
            <a:r>
              <a:rPr lang="en-US" dirty="0">
                <a:latin typeface="Times New Roman" panose="02020603050405020304" pitchFamily="18" charset="0"/>
                <a:cs typeface="Times New Roman" panose="02020603050405020304" pitchFamily="18" charset="0"/>
              </a:rPr>
              <a:t>In some cases, patients are informed due to a lack of ventilators the patient cannot be admitted. So, the patient's family rushes toward another hospital. In this process, many patients lose their lives. </a:t>
            </a:r>
          </a:p>
          <a:p>
            <a:pPr lvl="1" algn="just"/>
            <a:r>
              <a:rPr lang="en-US" dirty="0">
                <a:latin typeface="Times New Roman" panose="02020603050405020304" pitchFamily="18" charset="0"/>
                <a:cs typeface="Times New Roman" panose="02020603050405020304" pitchFamily="18" charset="0"/>
              </a:rPr>
              <a:t>To reduce this hassle our application displays all the available doctors in the hospitals. It displays the number of available resources like number of beds, number of ventilators, and number of available staff. </a:t>
            </a:r>
          </a:p>
          <a:p>
            <a:pPr algn="just"/>
            <a:r>
              <a:rPr lang="en-US" dirty="0">
                <a:latin typeface="Times New Roman" panose="02020603050405020304" pitchFamily="18" charset="0"/>
                <a:cs typeface="Times New Roman" panose="02020603050405020304" pitchFamily="18" charset="0"/>
              </a:rPr>
              <a:t>Book an ambulance to the nearest hospital in one click. </a:t>
            </a:r>
          </a:p>
          <a:p>
            <a:pPr lvl="1" algn="just"/>
            <a:r>
              <a:rPr lang="en-US" dirty="0">
                <a:latin typeface="Times New Roman" panose="02020603050405020304" pitchFamily="18" charset="0"/>
                <a:cs typeface="Times New Roman" panose="02020603050405020304" pitchFamily="18" charset="0"/>
              </a:rPr>
              <a:t>The ambulance booking section will have options to choose between different types of Ambulances such as Basic Ambulance, Cardiac Ambulance, and Mortuary Ambulance. </a:t>
            </a:r>
          </a:p>
          <a:p>
            <a:pPr lvl="1" algn="just"/>
            <a:r>
              <a:rPr lang="en-US" dirty="0">
                <a:latin typeface="Times New Roman" panose="02020603050405020304" pitchFamily="18" charset="0"/>
                <a:cs typeface="Times New Roman" panose="02020603050405020304" pitchFamily="18" charset="0"/>
              </a:rPr>
              <a:t>For the people who are busy in their everyday jobs and also want some lab tests but can’t really visit hospitals during working hours.</a:t>
            </a:r>
          </a:p>
          <a:p>
            <a:pPr algn="just"/>
            <a:r>
              <a:rPr lang="en-US" dirty="0">
                <a:latin typeface="Times New Roman" panose="02020603050405020304" pitchFamily="18" charset="0"/>
                <a:cs typeface="Times New Roman" panose="02020603050405020304" pitchFamily="18" charset="0"/>
              </a:rPr>
              <a:t> Our application brings lab tests to users convenient locations. </a:t>
            </a:r>
          </a:p>
          <a:p>
            <a:pPr lvl="1" algn="just"/>
            <a:r>
              <a:rPr lang="en-US" dirty="0">
                <a:latin typeface="Times New Roman" panose="02020603050405020304" pitchFamily="18" charset="0"/>
                <a:cs typeface="Times New Roman" panose="02020603050405020304" pitchFamily="18" charset="0"/>
              </a:rPr>
              <a:t>A certified practitioner will visit users selected locations and get all the tests done. </a:t>
            </a:r>
          </a:p>
          <a:p>
            <a:pPr lvl="1" algn="just"/>
            <a:r>
              <a:rPr lang="en-US" dirty="0">
                <a:latin typeface="Times New Roman" panose="02020603050405020304" pitchFamily="18" charset="0"/>
                <a:cs typeface="Times New Roman" panose="02020603050405020304" pitchFamily="18" charset="0"/>
              </a:rPr>
              <a:t>The reports of the results will be delivered to their selected address.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739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ea typeface="Cambria" panose="02040503050406030204" pitchFamily="18" charset="0"/>
                <a:cs typeface="Times New Roman" panose="02020603050405020304" pitchFamily="18" charset="0"/>
              </a:rPr>
              <a:t>In the state of mind that a common person is in during a medical emergency, it becomes difficult to take calculated decisions such as which hospital to rush to. This lapse of decision could mean the difference between life or death for a loved one. Additionally, there are several aspects to consider such as availability of the required medical facilities, medicines, blood group and specialists to provide the patient with a maximum chance of survival in those crucial moments. Our app aims to be the solution, giving the user all the necessary information during a medical emergency taking into account their location and requirements and providing the best-suited hospital in that hour of need.</a:t>
            </a:r>
          </a:p>
          <a:p>
            <a:endParaRPr lang="en-GB" dirty="0"/>
          </a:p>
        </p:txBody>
      </p:sp>
    </p:spTree>
    <p:extLst>
      <p:ext uri="{BB962C8B-B14F-4D97-AF65-F5344CB8AC3E}">
        <p14:creationId xmlns:p14="http://schemas.microsoft.com/office/powerpoint/2010/main" val="363348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p:txBody>
          <a:bodyPr>
            <a:normAutofit fontScale="62500" lnSpcReduction="20000"/>
          </a:bodyPr>
          <a:lstStyle/>
          <a:p>
            <a:pPr marL="457200" indent="-457200" algn="just">
              <a:buAutoNum type="arabicPeriod"/>
            </a:pPr>
            <a:r>
              <a:rPr lang="en-US" b="1" i="0" dirty="0">
                <a:effectLst/>
                <a:latin typeface="Times New Roman" panose="02020603050405020304" pitchFamily="18" charset="0"/>
                <a:cs typeface="Times New Roman" panose="02020603050405020304" pitchFamily="18" charset="0"/>
              </a:rPr>
              <a:t>“Analytic hierarchy process for hospital site selection,” T. S ̧</a:t>
            </a:r>
            <a:r>
              <a:rPr lang="en-US" b="1" i="0" dirty="0" err="1">
                <a:effectLst/>
                <a:latin typeface="Times New Roman" panose="02020603050405020304" pitchFamily="18" charset="0"/>
                <a:cs typeface="Times New Roman" panose="02020603050405020304" pitchFamily="18" charset="0"/>
              </a:rPr>
              <a:t>ahin</a:t>
            </a:r>
            <a:r>
              <a:rPr lang="en-US" b="1" i="0" dirty="0">
                <a:effectLst/>
                <a:latin typeface="Times New Roman" panose="02020603050405020304" pitchFamily="18" charset="0"/>
                <a:cs typeface="Times New Roman" panose="02020603050405020304" pitchFamily="18" charset="0"/>
              </a:rPr>
              <a:t>, S. </a:t>
            </a:r>
            <a:r>
              <a:rPr lang="en-US" b="1" i="0" dirty="0" err="1">
                <a:effectLst/>
                <a:latin typeface="Times New Roman" panose="02020603050405020304" pitchFamily="18" charset="0"/>
                <a:cs typeface="Times New Roman" panose="02020603050405020304" pitchFamily="18" charset="0"/>
              </a:rPr>
              <a:t>Ocak</a:t>
            </a:r>
            <a:r>
              <a:rPr lang="en-US" b="1" i="0" dirty="0">
                <a:effectLst/>
                <a:latin typeface="Times New Roman" panose="02020603050405020304" pitchFamily="18" charset="0"/>
                <a:cs typeface="Times New Roman" panose="02020603050405020304" pitchFamily="18" charset="0"/>
              </a:rPr>
              <a:t>, and M. Top, journal:</a:t>
            </a:r>
            <a:br>
              <a:rPr lang="en-US" b="1" i="0" dirty="0">
                <a:effectLst/>
                <a:latin typeface="Times New Roman" panose="02020603050405020304" pitchFamily="18" charset="0"/>
                <a:cs typeface="Times New Roman" panose="02020603050405020304" pitchFamily="18" charset="0"/>
              </a:rPr>
            </a:br>
            <a:r>
              <a:rPr lang="en-US" b="1" i="0" dirty="0">
                <a:effectLst/>
                <a:latin typeface="Times New Roman" panose="02020603050405020304" pitchFamily="18" charset="0"/>
                <a:cs typeface="Times New Roman" panose="02020603050405020304" pitchFamily="18" charset="0"/>
              </a:rPr>
              <a:t>Elsevier,2019 </a:t>
            </a:r>
            <a:r>
              <a:rPr lang="en-US" b="1" dirty="0">
                <a:latin typeface="Times New Roman" panose="02020603050405020304" pitchFamily="18" charset="0"/>
                <a:cs typeface="Times New Roman" panose="02020603050405020304" pitchFamily="18" charset="0"/>
              </a:rPr>
              <a:t>.</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Abstract: The paper titled "Analytic Hierarchy Process for Hospital Site Selection" by T. </a:t>
            </a:r>
            <a:r>
              <a:rPr lang="en-US" b="0" i="0" dirty="0" err="1">
                <a:effectLst/>
                <a:latin typeface="Times New Roman" panose="02020603050405020304" pitchFamily="18" charset="0"/>
                <a:cs typeface="Times New Roman" panose="02020603050405020304" pitchFamily="18" charset="0"/>
              </a:rPr>
              <a:t>Şahin</a:t>
            </a:r>
            <a:r>
              <a:rPr lang="en-US" b="0" i="0" dirty="0">
                <a:effectLst/>
                <a:latin typeface="Times New Roman" panose="02020603050405020304" pitchFamily="18" charset="0"/>
                <a:cs typeface="Times New Roman" panose="02020603050405020304" pitchFamily="18" charset="0"/>
              </a:rPr>
              <a:t>, S. </a:t>
            </a:r>
            <a:r>
              <a:rPr lang="en-US" b="0" i="0" dirty="0" err="1">
                <a:effectLst/>
                <a:latin typeface="Times New Roman" panose="02020603050405020304" pitchFamily="18" charset="0"/>
                <a:cs typeface="Times New Roman" panose="02020603050405020304" pitchFamily="18" charset="0"/>
              </a:rPr>
              <a:t>Ocak</a:t>
            </a:r>
            <a:r>
              <a:rPr lang="en-US" b="0" i="0" dirty="0">
                <a:effectLst/>
                <a:latin typeface="Times New Roman" panose="02020603050405020304" pitchFamily="18" charset="0"/>
                <a:cs typeface="Times New Roman" panose="02020603050405020304" pitchFamily="18" charset="0"/>
              </a:rPr>
              <a:t>, and M.</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Top, published in Health Policy and Technology in 2019, presents an application of the Analytic Hierarchy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Process (AHP) in the context of hospital site selection. The study focuses on employing AHP as a decision-</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making tool to systematically evaluate and prioritize various factors influencing the selection of optimal sites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for establishing healthcare facilities. Understanding these advantages and limitations is crucial for practitioners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and decision-makers considering the application of AHP in hospital site selection. It allows for a more nuanced</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and informed approach, taking into account the methodology's strengths and potential challenges.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Here are some of the advantages that are: Systematic Decision-Making is the use of</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Analytic Hierarchy Process provides a systematic and structured approach to decision-making. It allows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decision-makers to break down complex site selection criteria into a hierarchical structure, facilitating a</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comprehensive evaluation process. Multifactorial Evaluation in which AHP enables the consideration of</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multiple factors and criteria simultaneously. This holistic approach allows decision-makers to assess various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dimensions, such as accessibility, infrastructure, and community needs, ensuring a well-rounded evaluation of</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potential hospital sites. Sensitivity Analysis that is AHP facilitates sensitivity analysis, allowing decision-makers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to assess the impact of changes in criteria weights on the final site selection. This provides a level of flexibility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and adaptability to account for uncertainties or changing conditions.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Here are some of the limitations that are: In Data Dependency the effectiveness of AHP is contingent on the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availability and accuracy of relevant data. Insufficient or unreliable data can compromise the reliability of the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decision-making process. In Subjectivity Challenges the AHP involves subjective judgments in the form of</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pairwise comparisons. Variability in individual opinions and biases may introduce subjectivity, potentially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influencing the outcomes. Complexity of Implementation The implementation of AHP can be complex, requiring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 thorough understanding of the methodology and significant computational effort. This complexity may be a</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barrier, especially in situations where simplicity is preferred.</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711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6E667-337B-86D5-A92E-01FE6A1C6AE2}"/>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B456C51D-F85D-B160-1DD2-8B7773090307}"/>
              </a:ext>
            </a:extLst>
          </p:cNvPr>
          <p:cNvSpPr>
            <a:spLocks noGrp="1"/>
          </p:cNvSpPr>
          <p:nvPr>
            <p:ph idx="1"/>
          </p:nvPr>
        </p:nvSpPr>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2. An Android-based Application for Determining a Specialized Hospital Nearest to the Patient's Location, Syed Muhammad </a:t>
            </a:r>
            <a:r>
              <a:rPr lang="en-US" b="1" dirty="0" err="1">
                <a:latin typeface="Times New Roman" panose="02020603050405020304" pitchFamily="18" charset="0"/>
                <a:cs typeface="Times New Roman" panose="02020603050405020304" pitchFamily="18" charset="0"/>
              </a:rPr>
              <a:t>Omair</a:t>
            </a:r>
            <a:r>
              <a:rPr lang="en-US" b="1" dirty="0">
                <a:latin typeface="Times New Roman" panose="02020603050405020304" pitchFamily="18" charset="0"/>
                <a:cs typeface="Times New Roman" panose="02020603050405020304" pitchFamily="18" charset="0"/>
              </a:rPr>
              <a:t>, M. Zeeshan </a:t>
            </a:r>
            <a:r>
              <a:rPr lang="en-US" b="1" dirty="0" err="1">
                <a:latin typeface="Times New Roman" panose="02020603050405020304" pitchFamily="18" charset="0"/>
                <a:cs typeface="Times New Roman" panose="02020603050405020304" pitchFamily="18" charset="0"/>
              </a:rPr>
              <a:t>Ul</a:t>
            </a:r>
            <a:r>
              <a:rPr lang="en-US" b="1" dirty="0">
                <a:latin typeface="Times New Roman" panose="02020603050405020304" pitchFamily="18" charset="0"/>
                <a:cs typeface="Times New Roman" panose="02020603050405020304" pitchFamily="18" charset="0"/>
              </a:rPr>
              <a:t> Haque and Muhammad Wasim Munir.</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The Android-based application, authored by Muhammad Wasim Munir and M. Zeeshan </a:t>
            </a:r>
            <a:r>
              <a:rPr lang="en-US" dirty="0" err="1">
                <a:latin typeface="Times New Roman" panose="02020603050405020304" pitchFamily="18" charset="0"/>
                <a:cs typeface="Times New Roman" panose="02020603050405020304" pitchFamily="18" charset="0"/>
              </a:rPr>
              <a:t>Ul</a:t>
            </a:r>
            <a:r>
              <a:rPr lang="en-US" dirty="0">
                <a:latin typeface="Times New Roman" panose="02020603050405020304" pitchFamily="18" charset="0"/>
                <a:cs typeface="Times New Roman" panose="02020603050405020304" pitchFamily="18" charset="0"/>
              </a:rPr>
              <a:t> Haque, is developed with the primary objective of efficiently determining the nearest specialized hospital to a patient's location. </a:t>
            </a:r>
          </a:p>
          <a:p>
            <a:pPr algn="just"/>
            <a:r>
              <a:rPr lang="en-US" dirty="0">
                <a:latin typeface="Times New Roman" panose="02020603050405020304" pitchFamily="18" charset="0"/>
                <a:cs typeface="Times New Roman" panose="02020603050405020304" pitchFamily="18" charset="0"/>
              </a:rPr>
              <a:t>This innovative application harnesses the power of Android technology to enhance the accessibility and responsiveness of healthcare services. By utilizing location-based services and providing real-time information, the app aims to streamline the process of connecting patients with the most suitable specialized medical facilities in their vicinity. </a:t>
            </a:r>
          </a:p>
          <a:p>
            <a:pPr algn="just"/>
            <a:r>
              <a:rPr lang="en-US" dirty="0">
                <a:latin typeface="Times New Roman" panose="02020603050405020304" pitchFamily="18" charset="0"/>
                <a:cs typeface="Times New Roman" panose="02020603050405020304" pitchFamily="18" charset="0"/>
              </a:rPr>
              <a:t>In conclusion, while the Android application offers significant advantages in terms of efficient location-based services and enhanced accessibility to specialized healthcare, addressing limitations such as data accuracy, internet connectivity, privacy concerns, limited coverage, and device compatibility are crucial for its successful implementation and widespread user acceptance.</a:t>
            </a:r>
          </a:p>
          <a:p>
            <a:pPr algn="just"/>
            <a:r>
              <a:rPr lang="en-US" dirty="0">
                <a:latin typeface="Times New Roman" panose="02020603050405020304" pitchFamily="18" charset="0"/>
                <a:cs typeface="Times New Roman" panose="02020603050405020304" pitchFamily="18" charset="0"/>
              </a:rPr>
              <a:t> Here are some of the advantages they are: Efficient Location-Based Services in this app leverages Android's location-based services to precisely determine the patient's location. This enables quick and accurate identification of nearby specialized hospitals, reducing response times during emergencies. They have specialized Hospital Matching where the application focuses on matching patients with specialized hospitals based on their specific medical needs. This targeted approach ensures that patients receive the most relevant and appropriate care tailored to their health requirements.</a:t>
            </a:r>
          </a:p>
          <a:p>
            <a:pPr algn="just"/>
            <a:r>
              <a:rPr lang="en-US" dirty="0">
                <a:latin typeface="Times New Roman" panose="02020603050405020304" pitchFamily="18" charset="0"/>
                <a:cs typeface="Times New Roman" panose="02020603050405020304" pitchFamily="18" charset="0"/>
              </a:rPr>
              <a:t> Providing Real- Time Information about specialized hospitals ensures that patients and healthcare providers have up-to-date details on the availability of services, ensuring timely access to critical medical resources. User-Friendly Interface where the Android application is designed with a user-friendly interface, making it accessible to a wide range of users. Its intuitive design facilitates ease of use, ensuring that patients can efficiently navigate the app to find the medical assistance they need.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92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9818A-2109-EA6E-B104-8C271742ACF3}"/>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08AD27D8-A825-CEAD-F366-C87BAFD4D5C3}"/>
              </a:ext>
            </a:extLst>
          </p:cNvPr>
          <p:cNvSpPr>
            <a:spLocks noGrp="1"/>
          </p:cNvSpPr>
          <p:nvPr>
            <p:ph idx="1"/>
          </p:nvPr>
        </p:nvSpPr>
        <p:spPr>
          <a:xfrm>
            <a:off x="640080" y="1112521"/>
            <a:ext cx="10668000" cy="4952997"/>
          </a:xfrm>
        </p:spPr>
        <p:txBody>
          <a:bodyPr>
            <a:normAutofit/>
          </a:bodyPr>
          <a:lstStyle/>
          <a:p>
            <a:pPr marL="0" indent="0">
              <a:buNone/>
            </a:pPr>
            <a:r>
              <a:rPr lang="en-IN" sz="1100" b="1" dirty="0">
                <a:latin typeface="Times New Roman" panose="02020603050405020304" pitchFamily="18" charset="0"/>
                <a:cs typeface="Times New Roman" panose="02020603050405020304" pitchFamily="18" charset="0"/>
              </a:rPr>
              <a:t>3.Muhammet Gul 1 and Ali </a:t>
            </a:r>
            <a:r>
              <a:rPr lang="en-IN" sz="1100" b="1" dirty="0" err="1">
                <a:latin typeface="Times New Roman" panose="02020603050405020304" pitchFamily="18" charset="0"/>
                <a:cs typeface="Times New Roman" panose="02020603050405020304" pitchFamily="18" charset="0"/>
              </a:rPr>
              <a:t>Fuat</a:t>
            </a:r>
            <a:r>
              <a:rPr lang="en-IN" sz="1100" b="1" dirty="0">
                <a:latin typeface="Times New Roman" panose="02020603050405020304" pitchFamily="18" charset="0"/>
                <a:cs typeface="Times New Roman" panose="02020603050405020304" pitchFamily="18" charset="0"/>
              </a:rPr>
              <a:t> </a:t>
            </a:r>
            <a:r>
              <a:rPr lang="en-IN" sz="1100" b="1" dirty="0" err="1">
                <a:latin typeface="Times New Roman" panose="02020603050405020304" pitchFamily="18" charset="0"/>
                <a:cs typeface="Times New Roman" panose="02020603050405020304" pitchFamily="18" charset="0"/>
              </a:rPr>
              <a:t>Guneri</a:t>
            </a:r>
            <a:r>
              <a:rPr lang="en-IN" sz="1100" b="1" dirty="0">
                <a:latin typeface="Times New Roman" panose="02020603050405020304" pitchFamily="18" charset="0"/>
                <a:cs typeface="Times New Roman" panose="02020603050405020304" pitchFamily="18" charset="0"/>
              </a:rPr>
              <a:t> 2 1 </a:t>
            </a:r>
            <a:r>
              <a:rPr lang="en-IN" sz="1100" b="1" dirty="0" err="1">
                <a:latin typeface="Times New Roman" panose="02020603050405020304" pitchFamily="18" charset="0"/>
                <a:cs typeface="Times New Roman" panose="02020603050405020304" pitchFamily="18" charset="0"/>
              </a:rPr>
              <a:t>Munzur</a:t>
            </a:r>
            <a:r>
              <a:rPr lang="en-IN" sz="1100" b="1" dirty="0">
                <a:latin typeface="Times New Roman" panose="02020603050405020304" pitchFamily="18" charset="0"/>
                <a:cs typeface="Times New Roman" panose="02020603050405020304" pitchFamily="18" charset="0"/>
              </a:rPr>
              <a:t> University, Department of Emergency Aid and Disaster Management, </a:t>
            </a:r>
            <a:r>
              <a:rPr lang="en-IN" sz="1100" b="1" dirty="0" err="1">
                <a:latin typeface="Times New Roman" panose="02020603050405020304" pitchFamily="18" charset="0"/>
                <a:cs typeface="Times New Roman" panose="02020603050405020304" pitchFamily="18" charset="0"/>
              </a:rPr>
              <a:t>Tunceli</a:t>
            </a:r>
            <a:r>
              <a:rPr lang="en-IN" sz="1100" b="1" dirty="0">
                <a:latin typeface="Times New Roman" panose="02020603050405020304" pitchFamily="18" charset="0"/>
                <a:cs typeface="Times New Roman" panose="02020603050405020304" pitchFamily="18" charset="0"/>
              </a:rPr>
              <a:t>, Turkey 2 </a:t>
            </a:r>
            <a:r>
              <a:rPr lang="en-IN" sz="1100" b="1" dirty="0" err="1">
                <a:latin typeface="Times New Roman" panose="02020603050405020304" pitchFamily="18" charset="0"/>
                <a:cs typeface="Times New Roman" panose="02020603050405020304" pitchFamily="18" charset="0"/>
              </a:rPr>
              <a:t>Yildiz</a:t>
            </a:r>
            <a:r>
              <a:rPr lang="en-IN" sz="1100" b="1" dirty="0">
                <a:latin typeface="Times New Roman" panose="02020603050405020304" pitchFamily="18" charset="0"/>
                <a:cs typeface="Times New Roman" panose="02020603050405020304" pitchFamily="18" charset="0"/>
              </a:rPr>
              <a:t> Technical University, Department of Industrial Engineering, Istanbul, Turkey.</a:t>
            </a:r>
          </a:p>
          <a:p>
            <a:pPr algn="just"/>
            <a:r>
              <a:rPr lang="en-US" sz="1400" dirty="0">
                <a:latin typeface="Times New Roman" panose="02020603050405020304" pitchFamily="18" charset="0"/>
                <a:cs typeface="Times New Roman" panose="02020603050405020304" pitchFamily="18" charset="0"/>
              </a:rPr>
              <a:t>The increased focus of people on the quality of health care in recent years has led hospital owners to develop strategies and policies to improve medical services through the establishment of new hospitals. For hospitals to be competitive, the </a:t>
            </a:r>
            <a:r>
              <a:rPr lang="en-US" sz="1400" dirty="0" err="1">
                <a:latin typeface="Times New Roman" panose="02020603050405020304" pitchFamily="18" charset="0"/>
                <a:cs typeface="Times New Roman" panose="02020603050405020304" pitchFamily="18" charset="0"/>
              </a:rPr>
              <a:t>hospitalʼs</a:t>
            </a:r>
            <a:r>
              <a:rPr lang="en-US" sz="1400" dirty="0">
                <a:latin typeface="Times New Roman" panose="02020603050405020304" pitchFamily="18" charset="0"/>
                <a:cs typeface="Times New Roman" panose="02020603050405020304" pitchFamily="18" charset="0"/>
              </a:rPr>
              <a:t> location and proximity to potential patients are considered crucial factors in establishing new hospitals. </a:t>
            </a:r>
          </a:p>
          <a:p>
            <a:pPr algn="just"/>
            <a:r>
              <a:rPr lang="en-US" sz="1400" dirty="0">
                <a:latin typeface="Times New Roman" panose="02020603050405020304" pitchFamily="18" charset="0"/>
                <a:cs typeface="Times New Roman" panose="02020603050405020304" pitchFamily="18" charset="0"/>
              </a:rPr>
              <a:t>In this context, evaluating and selecting the most suitable hospital location to establish a new hospital from the multicriteria decision-making (MCDM) perspective is a priority for the entrepreneurs or government to gain a competitive advantage. (</a:t>
            </a:r>
            <a:r>
              <a:rPr lang="en-US" sz="1400" dirty="0" err="1">
                <a:latin typeface="Times New Roman" panose="02020603050405020304" pitchFamily="18" charset="0"/>
                <a:cs typeface="Times New Roman" panose="02020603050405020304" pitchFamily="18" charset="0"/>
              </a:rPr>
              <a:t>erefore</a:t>
            </a:r>
            <a:r>
              <a:rPr lang="en-US" sz="1400" dirty="0">
                <a:latin typeface="Times New Roman" panose="02020603050405020304" pitchFamily="18" charset="0"/>
                <a:cs typeface="Times New Roman" panose="02020603050405020304" pitchFamily="18" charset="0"/>
              </a:rPr>
              <a:t>, this study aims to present a systematic literature review of the hospital location selection problem considering the applied methods and application areas. (e preferred reporting items for systematic review and meta-analysis statement (PRISMA) are used as a reference framework.</a:t>
            </a:r>
          </a:p>
          <a:p>
            <a:pPr algn="just"/>
            <a:r>
              <a:rPr lang="en-US" sz="1400" dirty="0">
                <a:latin typeface="Times New Roman" panose="02020603050405020304" pitchFamily="18" charset="0"/>
                <a:cs typeface="Times New Roman" panose="02020603050405020304" pitchFamily="18" charset="0"/>
              </a:rPr>
              <a:t> Initially, known electronic databases (Web of science, </a:t>
            </a:r>
            <a:r>
              <a:rPr lang="en-US" sz="1400" dirty="0" err="1">
                <a:latin typeface="Times New Roman" panose="02020603050405020304" pitchFamily="18" charset="0"/>
                <a:cs typeface="Times New Roman" panose="02020603050405020304" pitchFamily="18" charset="0"/>
              </a:rPr>
              <a:t>IEEEXplore</a:t>
            </a:r>
            <a:r>
              <a:rPr lang="en-US" sz="1400" dirty="0">
                <a:latin typeface="Times New Roman" panose="02020603050405020304" pitchFamily="18" charset="0"/>
                <a:cs typeface="Times New Roman" panose="02020603050405020304" pitchFamily="18" charset="0"/>
              </a:rPr>
              <a:t>, Scopus, Science direct, and Google Scholar) were searched up to the early 2021. A number of 47 articles are selected and analyzed under this systematic framework based on inclusion-exclusion points. State-of-the-art developments in adopting MCDM methods and their fuzzy extensions are summarized. All the articles have been examined in a systematic taxonomy to find answers to six research questions (trend, country of origin, outlet journal, MCDM methods used, MCDM environment and criteria type, and decision criteria used). </a:t>
            </a:r>
          </a:p>
          <a:p>
            <a:pPr algn="just"/>
            <a:r>
              <a:rPr lang="en-US" sz="1400" dirty="0">
                <a:latin typeface="Times New Roman" panose="02020603050405020304" pitchFamily="18" charset="0"/>
                <a:cs typeface="Times New Roman" panose="02020603050405020304" pitchFamily="18" charset="0"/>
              </a:rPr>
              <a:t>Results show that (1) AHP and </a:t>
            </a:r>
            <a:r>
              <a:rPr lang="en-US" sz="1400" dirty="0" err="1">
                <a:latin typeface="Times New Roman" panose="02020603050405020304" pitchFamily="18" charset="0"/>
                <a:cs typeface="Times New Roman" panose="02020603050405020304" pitchFamily="18" charset="0"/>
              </a:rPr>
              <a:t>GISbased</a:t>
            </a:r>
            <a:r>
              <a:rPr lang="en-US" sz="1400" dirty="0">
                <a:latin typeface="Times New Roman" panose="02020603050405020304" pitchFamily="18" charset="0"/>
                <a:cs typeface="Times New Roman" panose="02020603050405020304" pitchFamily="18" charset="0"/>
              </a:rPr>
              <a:t> MCDM models are the most contributing approaches to the solution of this problem, (2) location selection criteria are mostly cost, demand, environment, population, government, competition in the market, and distance to some important places, (3) the fuzzy structure is also preferred in addition to the MCDM structure depending on the crisp data type, and (4) the location selection criteria are mostly considered subjective. We pay attention to promising directions that can dominate future research in this field from a methodological or applicability perspective. (is study shows the current views and opportunities for researchers and practitioners and acts as a guide to encourage more creative studies in this field.</a:t>
            </a:r>
            <a:endParaRPr lang="en-IN"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623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260E-66BB-4B9D-6EE9-91A37EFE8710}"/>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0DF4C453-0EF0-EE59-4CF6-FFC6DA378BEA}"/>
              </a:ext>
            </a:extLst>
          </p:cNvPr>
          <p:cNvSpPr>
            <a:spLocks noGrp="1"/>
          </p:cNvSpPr>
          <p:nvPr>
            <p:ph idx="1"/>
          </p:nvPr>
        </p:nvSpPr>
        <p:spPr/>
        <p:txBody>
          <a:bodyPr>
            <a:normAutofit fontScale="70000" lnSpcReduction="20000"/>
          </a:bodyPr>
          <a:lstStyle/>
          <a:p>
            <a:pPr marL="0" indent="0">
              <a:buNone/>
            </a:pPr>
            <a:r>
              <a:rPr lang="en-US" b="1" dirty="0"/>
              <a:t>4</a:t>
            </a:r>
            <a:r>
              <a:rPr lang="en-US" b="1" dirty="0">
                <a:latin typeface="Times New Roman" panose="02020603050405020304" pitchFamily="18" charset="0"/>
                <a:cs typeface="Times New Roman" panose="02020603050405020304" pitchFamily="18" charset="0"/>
              </a:rPr>
              <a:t>.Cong Peng , Prashant Goswami and </a:t>
            </a:r>
            <a:r>
              <a:rPr lang="en-US" b="1" dirty="0" err="1">
                <a:latin typeface="Times New Roman" panose="02020603050405020304" pitchFamily="18" charset="0"/>
                <a:cs typeface="Times New Roman" panose="02020603050405020304" pitchFamily="18" charset="0"/>
              </a:rPr>
              <a:t>Guohua</a:t>
            </a:r>
            <a:r>
              <a:rPr lang="en-US" b="1" dirty="0">
                <a:latin typeface="Times New Roman" panose="02020603050405020304" pitchFamily="18" charset="0"/>
                <a:cs typeface="Times New Roman" panose="02020603050405020304" pitchFamily="18" charset="0"/>
              </a:rPr>
              <a:t> Bai Blekinge Institute of Technology, Sweden.</a:t>
            </a:r>
          </a:p>
          <a:p>
            <a:pPr algn="just"/>
            <a:r>
              <a:rPr lang="en-US" dirty="0">
                <a:latin typeface="Times New Roman" panose="02020603050405020304" pitchFamily="18" charset="0"/>
                <a:cs typeface="Times New Roman" panose="02020603050405020304" pitchFamily="18" charset="0"/>
              </a:rPr>
              <a:t>The development and application of information and communication technologies in healthcare make it much more feasible for the self-management of one’s health. Electronic Health Record (EHR) systems have been adopted by many healthcare providers. Portable medical devices are used by patients for self-monitoring physiological parameters.4,5 The adoption of self-monitoring and management techniques engages patients more in the care of their health, which also facilitate more health data collection.6 Today, many people are using wearable devices and health applications to record and manage their health and lifestyle.7,8 Moreover, various emerging health-related applications have made this self-management feasible for the patients.</a:t>
            </a:r>
          </a:p>
          <a:p>
            <a:pPr algn="just"/>
            <a:r>
              <a:rPr lang="en-US" dirty="0">
                <a:latin typeface="Times New Roman" panose="02020603050405020304" pitchFamily="18" charset="0"/>
                <a:cs typeface="Times New Roman" panose="02020603050405020304" pitchFamily="18" charset="0"/>
              </a:rPr>
              <a:t>9 The many applications and devices record a huge amount of valuable health data about a patient. The collaborative utilization of various health data across data sources has the potential to provide valuable information to healthcare providers during clinical decision making.10 It can also support patients with more effective and convenient self-management with their health,11 and to stimulate promising applications, for example, health data mining and clinical decision support system.10,12–14 However, the systems holding these health data are usually heterogeneously built. The connectivity and accessibility of these systems are diverse. Besides, the problem of the heterogeneity of the exchange data model significantly reduces the efficiency of utilizations on various health data.</a:t>
            </a:r>
          </a:p>
          <a:p>
            <a:pPr algn="just"/>
            <a:r>
              <a:rPr lang="en-US" dirty="0">
                <a:latin typeface="Times New Roman" panose="02020603050405020304" pitchFamily="18" charset="0"/>
                <a:cs typeface="Times New Roman" panose="02020603050405020304" pitchFamily="18" charset="0"/>
              </a:rPr>
              <a:t> This situation requires certain methods to integrate the diverse and distributed health data from different systems. Although various integration attempts have been made by applying the different technologies including mobile application,8 integrated framework4 and Semantic Web,5 this topic is still fairly new and remains unexplored. To the best of our knowledge, there is no existing literature review study on this specific topic. This literature review is conducted to investigate the existing work to gain an understanding on integrating heterogeneous health data as well as ways of utilizing the integrated health data.</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64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E798B-6D33-9CD3-5A0E-43E5A5411FA8}"/>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BAB0B485-62D4-E38F-02C5-A4157A3B1149}"/>
              </a:ext>
            </a:extLst>
          </p:cNvPr>
          <p:cNvSpPr>
            <a:spLocks noGrp="1"/>
          </p:cNvSpPr>
          <p:nvPr>
            <p:ph idx="1"/>
          </p:nvPr>
        </p:nvSpPr>
        <p:spPr/>
        <p:txBody>
          <a:bodyPr>
            <a:normAutofit fontScale="55000" lnSpcReduction="20000"/>
          </a:bodyPr>
          <a:lstStyle/>
          <a:p>
            <a:pPr marL="0" indent="0">
              <a:buNone/>
            </a:pPr>
            <a:r>
              <a:rPr lang="en-US" b="1" dirty="0">
                <a:latin typeface="Times New Roman" panose="02020603050405020304" pitchFamily="18" charset="0"/>
                <a:cs typeface="Times New Roman" panose="02020603050405020304" pitchFamily="18" charset="0"/>
              </a:rPr>
              <a:t>5.IoT-Based Smart Health Monitoring System for Diabetes Patients using Neural Network, Md. </a:t>
            </a:r>
            <a:r>
              <a:rPr lang="en-US" b="1" dirty="0" err="1">
                <a:latin typeface="Times New Roman" panose="02020603050405020304" pitchFamily="18" charset="0"/>
                <a:cs typeface="Times New Roman" panose="02020603050405020304" pitchFamily="18" charset="0"/>
              </a:rPr>
              <a:t>Iftekharul</a:t>
            </a:r>
            <a:r>
              <a:rPr lang="en-US" b="1" dirty="0">
                <a:latin typeface="Times New Roman" panose="02020603050405020304" pitchFamily="18" charset="0"/>
                <a:cs typeface="Times New Roman" panose="02020603050405020304" pitchFamily="18" charset="0"/>
              </a:rPr>
              <a:t> Alam </a:t>
            </a:r>
            <a:r>
              <a:rPr lang="en-US" b="1" dirty="0" err="1">
                <a:latin typeface="Times New Roman" panose="02020603050405020304" pitchFamily="18" charset="0"/>
                <a:cs typeface="Times New Roman" panose="02020603050405020304" pitchFamily="18" charset="0"/>
              </a:rPr>
              <a:t>Efat</a:t>
            </a:r>
            <a:r>
              <a:rPr lang="en-US" b="1" dirty="0">
                <a:latin typeface="Times New Roman" panose="02020603050405020304" pitchFamily="18" charset="0"/>
                <a:cs typeface="Times New Roman" panose="02020603050405020304" pitchFamily="18" charset="0"/>
              </a:rPr>
              <a:t>, Shoaib Rahman and </a:t>
            </a:r>
            <a:r>
              <a:rPr lang="en-US" b="1" dirty="0" err="1">
                <a:latin typeface="Times New Roman" panose="02020603050405020304" pitchFamily="18" charset="0"/>
                <a:cs typeface="Times New Roman" panose="02020603050405020304" pitchFamily="18" charset="0"/>
              </a:rPr>
              <a:t>Tasnim</a:t>
            </a:r>
            <a:r>
              <a:rPr lang="en-US" b="1" dirty="0">
                <a:latin typeface="Times New Roman" panose="02020603050405020304" pitchFamily="18" charset="0"/>
                <a:cs typeface="Times New Roman" panose="02020603050405020304" pitchFamily="18" charset="0"/>
              </a:rPr>
              <a:t> Rahman, Publisher: Springer, Cham</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2020 </a:t>
            </a:r>
          </a:p>
          <a:p>
            <a:pPr algn="just"/>
            <a:r>
              <a:rPr lang="en-US" sz="2500" b="1" dirty="0" err="1">
                <a:latin typeface="Times New Roman" panose="02020603050405020304" pitchFamily="18" charset="0"/>
                <a:cs typeface="Times New Roman" panose="02020603050405020304" pitchFamily="18" charset="0"/>
              </a:rPr>
              <a:t>Abstrac</a:t>
            </a:r>
            <a:r>
              <a:rPr lang="en-US" sz="2500" dirty="0" err="1">
                <a:latin typeface="Times New Roman" panose="02020603050405020304" pitchFamily="18" charset="0"/>
                <a:cs typeface="Times New Roman" panose="02020603050405020304" pitchFamily="18" charset="0"/>
              </a:rPr>
              <a:t>Patients</a:t>
            </a:r>
            <a:r>
              <a:rPr lang="en-US" sz="2500" dirty="0">
                <a:latin typeface="Times New Roman" panose="02020603050405020304" pitchFamily="18" charset="0"/>
                <a:cs typeface="Times New Roman" panose="02020603050405020304" pitchFamily="18" charset="0"/>
              </a:rPr>
              <a:t> using Neural Network," authored by Md. </a:t>
            </a:r>
            <a:r>
              <a:rPr lang="en-US" sz="2500" dirty="0" err="1">
                <a:latin typeface="Times New Roman" panose="02020603050405020304" pitchFamily="18" charset="0"/>
                <a:cs typeface="Times New Roman" panose="02020603050405020304" pitchFamily="18" charset="0"/>
              </a:rPr>
              <a:t>Iftekharul</a:t>
            </a:r>
            <a:r>
              <a:rPr lang="en-US" sz="2500" dirty="0">
                <a:latin typeface="Times New Roman" panose="02020603050405020304" pitchFamily="18" charset="0"/>
                <a:cs typeface="Times New Roman" panose="02020603050405020304" pitchFamily="18" charset="0"/>
              </a:rPr>
              <a:t> Alam </a:t>
            </a:r>
            <a:r>
              <a:rPr lang="en-US" sz="2500" dirty="0" err="1">
                <a:latin typeface="Times New Roman" panose="02020603050405020304" pitchFamily="18" charset="0"/>
                <a:cs typeface="Times New Roman" panose="02020603050405020304" pitchFamily="18" charset="0"/>
              </a:rPr>
              <a:t>Efat</a:t>
            </a:r>
            <a:r>
              <a:rPr lang="en-US" sz="2500" dirty="0">
                <a:latin typeface="Times New Roman" panose="02020603050405020304" pitchFamily="18" charset="0"/>
                <a:cs typeface="Times New Roman" panose="02020603050405020304" pitchFamily="18" charset="0"/>
              </a:rPr>
              <a:t>, Shoaib Rahman, and </a:t>
            </a:r>
            <a:r>
              <a:rPr lang="en-US" sz="2500" dirty="0" err="1">
                <a:latin typeface="Times New Roman" panose="02020603050405020304" pitchFamily="18" charset="0"/>
                <a:cs typeface="Times New Roman" panose="02020603050405020304" pitchFamily="18" charset="0"/>
              </a:rPr>
              <a:t>Tasnim</a:t>
            </a:r>
            <a:r>
              <a:rPr lang="en-US" sz="2500" dirty="0">
                <a:latin typeface="Times New Roman" panose="02020603050405020304" pitchFamily="18" charset="0"/>
                <a:cs typeface="Times New Roman" panose="02020603050405020304" pitchFamily="18" charset="0"/>
              </a:rPr>
              <a:t> Rahman present a cutting-edge solution to address the health monitoring needs of diabetes patients. This system integrates Internet of Things (IoT) technology with advanced neural network algorithms to provide real-time health monitoring, ensuring proactive management of diabetes-related parameters. By leveraging neural networks, the application offers intelligent: The "IoT Based Smart Health Monitoring System for Diabetes  and personalized insights, contributing to more effective diabetes management and improved overall patient well-being. </a:t>
            </a:r>
          </a:p>
          <a:p>
            <a:pPr algn="just"/>
            <a:r>
              <a:rPr lang="en-US" sz="2500" dirty="0">
                <a:latin typeface="Times New Roman" panose="02020603050405020304" pitchFamily="18" charset="0"/>
                <a:cs typeface="Times New Roman" panose="02020603050405020304" pitchFamily="18" charset="0"/>
              </a:rPr>
              <a:t>In summary, the IoT-based Smart Health Monitoring System for Diabetes Patients using Neural Network offers significant advantages in real-time monitoring and personalized health insights. However, addressing limitations related to data security, technological accessibility, initial costs, user training, and neural network complexity is crucial for the successful deployment and adoption of the system. Here are some of the advantages they are: Real-Time Health Monitoring is the system that enables real-time monitoring of vital health parameters related to diabetes, providing timely information for both patients and healthcare providers. This real-time data facilitates prompt intervention and better management of the condition. Personalized Health Insights Utilizing neural network algorithms, the system can generate personalized health insights based on individual patient data. This enhances the precision of healthcare recommendations, leading to more effective and personalized diabetes management strategies. IoT Connectivity for Seamless Data Transfer is the Integration with IoT technology that allows for seamless connectivity between health monitoring devices and the monitoring system</a:t>
            </a:r>
          </a:p>
          <a:p>
            <a:pPr algn="just"/>
            <a:r>
              <a:rPr lang="en-US" sz="2500" dirty="0">
                <a:latin typeface="Times New Roman" panose="02020603050405020304" pitchFamily="18" charset="0"/>
                <a:cs typeface="Times New Roman" panose="02020603050405020304" pitchFamily="18" charset="0"/>
              </a:rPr>
              <a:t> Early identification allows for timely intervention and preventive measures. Here are some of the limitations they are: Data Security Concerns the system's reliance on IoT connectivity raises concerns about data security. Ensuring robust encryption and data protection measures is critical to safeguard patient information. In Technological Accessibility the effectiveness of the system may be limited by the </a:t>
            </a:r>
            <a:r>
              <a:rPr lang="en-US" sz="2500" dirty="0" err="1">
                <a:latin typeface="Times New Roman" panose="02020603050405020304" pitchFamily="18" charset="0"/>
                <a:cs typeface="Times New Roman" panose="02020603050405020304" pitchFamily="18" charset="0"/>
              </a:rPr>
              <a:t>accessibili</a:t>
            </a:r>
            <a:r>
              <a:rPr lang="en-US" sz="2500" b="1" dirty="0" err="1">
                <a:latin typeface="Times New Roman" panose="02020603050405020304" pitchFamily="18" charset="0"/>
                <a:cs typeface="Times New Roman" panose="02020603050405020304" pitchFamily="18" charset="0"/>
              </a:rPr>
              <a:t>t</a:t>
            </a:r>
            <a:r>
              <a:rPr lang="en-US" sz="2500" dirty="0" err="1">
                <a:latin typeface="Times New Roman" panose="02020603050405020304" pitchFamily="18" charset="0"/>
                <a:cs typeface="Times New Roman" panose="02020603050405020304" pitchFamily="18" charset="0"/>
              </a:rPr>
              <a:t>ty</a:t>
            </a:r>
            <a:r>
              <a:rPr lang="en-US" sz="2500" dirty="0">
                <a:latin typeface="Times New Roman" panose="02020603050405020304" pitchFamily="18" charset="0"/>
                <a:cs typeface="Times New Roman" panose="02020603050405020304" pitchFamily="18" charset="0"/>
              </a:rPr>
              <a:t> of IoT devices and technology. Patients in certain regions or with limited resources may face challenges in adopting the technology. </a:t>
            </a:r>
          </a:p>
          <a:p>
            <a:pPr algn="just"/>
            <a:r>
              <a:rPr lang="en-US" sz="2500" dirty="0">
                <a:latin typeface="Times New Roman" panose="02020603050405020304" pitchFamily="18" charset="0"/>
                <a:cs typeface="Times New Roman" panose="02020603050405020304" pitchFamily="18" charset="0"/>
              </a:rPr>
              <a:t>Initial Implementation Costs is nothing but implementing an IoT-based system may involve initial setup costs, including the purchase of compatible devices and infrastructure. Cost considerations may impact the system's adoption, particularly in resource-constrained environments. Neural Network Complexity is the complexity of neural network algorithms that may require computational resources. Ensuring that the system is compatible with a range of devices and computational capacities is essential for widespread implementation. </a:t>
            </a: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82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54DC-0642-7D3F-7123-83BCBC89BD76}"/>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70F5AF96-EC4E-8FA6-46B7-A3116A58AC13}"/>
              </a:ext>
            </a:extLst>
          </p:cNvPr>
          <p:cNvSpPr>
            <a:spLocks noGrp="1"/>
          </p:cNvSpPr>
          <p:nvPr>
            <p:ph idx="1"/>
          </p:nvPr>
        </p:nvSpPr>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6. G. Mobile Telemedicine Systems for Remote Patient’s Chronic Wound Monitoring, Chinmay Chakraborty, Bharat Gupta and Soumya K. Ghosh, In book: M- Health Innovations for Patient-Centered Care, 2019 </a:t>
            </a:r>
          </a:p>
          <a:p>
            <a:pPr algn="just"/>
            <a:r>
              <a:rPr lang="en-US" b="1" dirty="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The "Mobile Telemedicine Systems for Remote Patient’s Chronic Wound Monitoring," authored by Chinmay Chakraborty, Bharat Gupta, and Soumya K. Ghosh, presents an innovative solution aimed at enhancing healthcare through mobile telemedicine. Focused on the remote monitoring of chronic wounds, the system employs mobile technology to bridge the gap between healthcare providers and patients. By leveraging telemedicine principles, it enables real-time monitoring, assessment, and intervention for patients with chronic wounds, promoting timely and personalized healthcare delivery. In conclusion, while Mobile Telemedicine Systems for Remote Patient Chronic Wound Monitoring offers substantial advantages in terms of remote monitoring and timely intervention, addressing limitations related to technological barriers, data security, physical examination constraints, user training, and device reliability is critical for its successful implementation and integration into healthcare practices. Here are some of the advantages they are: In Remote Patient Monitoring the system allows healthcare providers to remotely monitor patients with chronic wounds, enabling continuous assessment of wound status without requiring physical presence. This is particularly beneficial for patients in remote locations or with limited mobility. Real-Time Data Transmission is Leveraging mobile telemedicine, the system facilitates </a:t>
            </a:r>
            <a:r>
              <a:rPr lang="en-US" dirty="0" err="1">
                <a:latin typeface="Times New Roman" panose="02020603050405020304" pitchFamily="18" charset="0"/>
                <a:cs typeface="Times New Roman" panose="02020603050405020304" pitchFamily="18" charset="0"/>
              </a:rPr>
              <a:t>realtime</a:t>
            </a:r>
            <a:r>
              <a:rPr lang="en-US" dirty="0">
                <a:latin typeface="Times New Roman" panose="02020603050405020304" pitchFamily="18" charset="0"/>
                <a:cs typeface="Times New Roman" panose="02020603050405020304" pitchFamily="18" charset="0"/>
              </a:rPr>
              <a:t> transmission of data related to chronic wound status. This enables healthcare providers to receive timely updates, promoting prompt intervention and personalized care. In Enhanced Patient Engagement patients actively participate in their healthcare by regularly updating wound status through mobile devices. This engagement fosters a sense of responsibility and awareness, contributing to improved adherence to healthcare regimens. In Accessibility and Convenience, mobile telemedicine systems offer increased accessibility to healthcare services, especially for patients who may face challenges with in-person visits. The convenience of remote monitoring contributes to a more patient-centric approach.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282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5408-2BF6-D9B6-A832-D1CD56B34320}"/>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0F7B88C6-1637-5FEE-5BF3-6EF88E3F40B8}"/>
              </a:ext>
            </a:extLst>
          </p:cNvPr>
          <p:cNvSpPr>
            <a:spLocks noGrp="1"/>
          </p:cNvSpPr>
          <p:nvPr>
            <p:ph idx="1"/>
          </p:nvPr>
        </p:nvSpPr>
        <p:spPr/>
        <p:txBody>
          <a:bodyPr>
            <a:normAutofit fontScale="55000" lnSpcReduction="20000"/>
          </a:bodyPr>
          <a:lstStyle/>
          <a:p>
            <a:pPr marL="0" indent="0">
              <a:buNone/>
            </a:pPr>
            <a:r>
              <a:rPr lang="en-US" b="1" dirty="0"/>
              <a:t>7</a:t>
            </a:r>
            <a:r>
              <a:rPr lang="en-US" sz="2500" b="1" dirty="0">
                <a:latin typeface="Times New Roman" panose="02020603050405020304" pitchFamily="18" charset="0"/>
                <a:cs typeface="Times New Roman" panose="02020603050405020304" pitchFamily="18" charset="0"/>
              </a:rPr>
              <a:t>.Self-aided system in health care monitoring using IOT Dr P. </a:t>
            </a:r>
            <a:r>
              <a:rPr lang="en-US" sz="2500" b="1" dirty="0" err="1">
                <a:latin typeface="Times New Roman" panose="02020603050405020304" pitchFamily="18" charset="0"/>
                <a:cs typeface="Times New Roman" panose="02020603050405020304" pitchFamily="18" charset="0"/>
              </a:rPr>
              <a:t>Kanagaraj</a:t>
            </a:r>
            <a:r>
              <a:rPr lang="en-US" sz="2500" b="1" dirty="0">
                <a:latin typeface="Times New Roman" panose="02020603050405020304" pitchFamily="18" charset="0"/>
                <a:cs typeface="Times New Roman" panose="02020603050405020304" pitchFamily="18" charset="0"/>
              </a:rPr>
              <a:t>, Dr P. </a:t>
            </a:r>
            <a:r>
              <a:rPr lang="en-US" sz="2500" b="1" dirty="0" err="1">
                <a:latin typeface="Times New Roman" panose="02020603050405020304" pitchFamily="18" charset="0"/>
                <a:cs typeface="Times New Roman" panose="02020603050405020304" pitchFamily="18" charset="0"/>
              </a:rPr>
              <a:t>Kanagaraju</a:t>
            </a:r>
            <a:r>
              <a:rPr lang="en-US" sz="2500" b="1" dirty="0">
                <a:latin typeface="Times New Roman" panose="02020603050405020304" pitchFamily="18" charset="0"/>
                <a:cs typeface="Times New Roman" panose="02020603050405020304" pitchFamily="18" charset="0"/>
              </a:rPr>
              <a:t>, B. </a:t>
            </a:r>
            <a:r>
              <a:rPr lang="en-US" sz="2500" b="1" dirty="0" err="1">
                <a:latin typeface="Times New Roman" panose="02020603050405020304" pitchFamily="18" charset="0"/>
                <a:cs typeface="Times New Roman" panose="02020603050405020304" pitchFamily="18" charset="0"/>
              </a:rPr>
              <a:t>Ajaykumar</a:t>
            </a:r>
            <a:r>
              <a:rPr lang="en-US" sz="2500" b="1" dirty="0">
                <a:latin typeface="Times New Roman" panose="02020603050405020304" pitchFamily="18" charset="0"/>
                <a:cs typeface="Times New Roman" panose="02020603050405020304" pitchFamily="18" charset="0"/>
              </a:rPr>
              <a:t> and B. </a:t>
            </a:r>
            <a:r>
              <a:rPr lang="en-US" sz="2500" b="1" dirty="0" err="1">
                <a:latin typeface="Times New Roman" panose="02020603050405020304" pitchFamily="18" charset="0"/>
                <a:cs typeface="Times New Roman" panose="02020603050405020304" pitchFamily="18" charset="0"/>
              </a:rPr>
              <a:t>Ajaykumar</a:t>
            </a:r>
            <a:r>
              <a:rPr lang="en-US" sz="2500" b="1" dirty="0">
                <a:latin typeface="Times New Roman" panose="02020603050405020304" pitchFamily="18" charset="0"/>
                <a:cs typeface="Times New Roman" panose="02020603050405020304" pitchFamily="18" charset="0"/>
              </a:rPr>
              <a:t>, International Journal of Health Sciences, 2022 </a:t>
            </a:r>
          </a:p>
          <a:p>
            <a:pPr algn="just"/>
            <a:r>
              <a:rPr lang="en-US" sz="2500" b="1" dirty="0">
                <a:latin typeface="Times New Roman" panose="02020603050405020304" pitchFamily="18" charset="0"/>
                <a:cs typeface="Times New Roman" panose="02020603050405020304" pitchFamily="18" charset="0"/>
              </a:rPr>
              <a:t>Abstract: </a:t>
            </a:r>
            <a:r>
              <a:rPr lang="en-US" sz="2500" dirty="0">
                <a:latin typeface="Times New Roman" panose="02020603050405020304" pitchFamily="18" charset="0"/>
                <a:cs typeface="Times New Roman" panose="02020603050405020304" pitchFamily="18" charset="0"/>
              </a:rPr>
              <a:t>The "Self-Aided System in Healthcare Monitoring using IoT," authored by Dr. P. </a:t>
            </a:r>
            <a:r>
              <a:rPr lang="en-US" sz="2500" dirty="0" err="1">
                <a:latin typeface="Times New Roman" panose="02020603050405020304" pitchFamily="18" charset="0"/>
                <a:cs typeface="Times New Roman" panose="02020603050405020304" pitchFamily="18" charset="0"/>
              </a:rPr>
              <a:t>Kanagaraju</a:t>
            </a:r>
            <a:r>
              <a:rPr lang="en-US" sz="2500" dirty="0">
                <a:latin typeface="Times New Roman" panose="02020603050405020304" pitchFamily="18" charset="0"/>
                <a:cs typeface="Times New Roman" panose="02020603050405020304" pitchFamily="18" charset="0"/>
              </a:rPr>
              <a:t>, B. </a:t>
            </a:r>
            <a:r>
              <a:rPr lang="en-US" sz="2500" dirty="0" err="1">
                <a:latin typeface="Times New Roman" panose="02020603050405020304" pitchFamily="18" charset="0"/>
                <a:cs typeface="Times New Roman" panose="02020603050405020304" pitchFamily="18" charset="0"/>
              </a:rPr>
              <a:t>Ajaykumar</a:t>
            </a:r>
            <a:r>
              <a:rPr lang="en-US" sz="2500" dirty="0">
                <a:latin typeface="Times New Roman" panose="02020603050405020304" pitchFamily="18" charset="0"/>
                <a:cs typeface="Times New Roman" panose="02020603050405020304" pitchFamily="18" charset="0"/>
              </a:rPr>
              <a:t>, and K. Karthikeyan, introduces an innovative approach to healthcare monitoring by leveraging Internet of Things (IoT) technology. This system is designed to empower individuals to actively monitor and manage their health. By incorporating IoT devices and smart sensors, users can seamlessly collect and </a:t>
            </a:r>
            <a:r>
              <a:rPr lang="en-US" sz="2500" dirty="0" err="1">
                <a:latin typeface="Times New Roman" panose="02020603050405020304" pitchFamily="18" charset="0"/>
                <a:cs typeface="Times New Roman" panose="02020603050405020304" pitchFamily="18" charset="0"/>
              </a:rPr>
              <a:t>analyse</a:t>
            </a:r>
            <a:r>
              <a:rPr lang="en-US" sz="2500" dirty="0">
                <a:latin typeface="Times New Roman" panose="02020603050405020304" pitchFamily="18" charset="0"/>
                <a:cs typeface="Times New Roman" panose="02020603050405020304" pitchFamily="18" charset="0"/>
              </a:rPr>
              <a:t> health data, fostering a proactive and personalized approach to healthcare management. In summary, the </a:t>
            </a:r>
            <a:r>
              <a:rPr lang="en-US" sz="2500" dirty="0" err="1">
                <a:latin typeface="Times New Roman" panose="02020603050405020304" pitchFamily="18" charset="0"/>
                <a:cs typeface="Times New Roman" panose="02020603050405020304" pitchFamily="18" charset="0"/>
              </a:rPr>
              <a:t>SelfAided</a:t>
            </a:r>
            <a:r>
              <a:rPr lang="en-US" sz="2500" dirty="0">
                <a:latin typeface="Times New Roman" panose="02020603050405020304" pitchFamily="18" charset="0"/>
                <a:cs typeface="Times New Roman" panose="02020603050405020304" pitchFamily="18" charset="0"/>
              </a:rPr>
              <a:t> System in Healthcare Monitoring using IoT offers notable advantages in empowering individuals for self-monitoring and proactive health management. To ensure successful implementation, addressing limitations related to data security, technology accessibility, user training, device maintenance, and device reliability is essential. Here are some of the advantages they have: Empowerment through Self-monitoring is the system that encourages individuals to actively participate in their healthcare by providing tools for self-monitoring. This empowerment can lead to increased awareness and better adherence to health management routines. In </a:t>
            </a:r>
            <a:r>
              <a:rPr lang="en-US" sz="2500" dirty="0" err="1">
                <a:latin typeface="Times New Roman" panose="02020603050405020304" pitchFamily="18" charset="0"/>
                <a:cs typeface="Times New Roman" panose="02020603050405020304" pitchFamily="18" charset="0"/>
              </a:rPr>
              <a:t>RealTime</a:t>
            </a:r>
            <a:r>
              <a:rPr lang="en-US" sz="2500" dirty="0">
                <a:latin typeface="Times New Roman" panose="02020603050405020304" pitchFamily="18" charset="0"/>
                <a:cs typeface="Times New Roman" panose="02020603050405020304" pitchFamily="18" charset="0"/>
              </a:rPr>
              <a:t> Data Collection IoT-enabled devices facilitate real-time data collection from various health parameters. This ensures that healthcare providers and users have access to up-to-date information, enabling prompt intervention and personalized health recommendations. In Remote Health Monitoring the system allows for remote health monitoring, enabling healthcare providers to track patients' health status without physical presence. This is particularly beneficial for individuals with chronic conditions or those in remote areas. Proactive Health Management provides continuous monitoring and instant data feedback, the system supports proactive health management. Early detection of anomalies allows for timely intervention, potentially preventing the progression of health issues. In Customized Health Insights the system uses IoT data to generate personalized health insights. This customization enhances the relevance of health recommendations, ensuring that users receive tailored guidance based on their health profiles. Here are some of the limitations they are: Data Security and Privacy Concerns where the system's reliance on IoT devices raises concerns about the security and privacy of health data. Implementing robust encryption and privacy measures is crucial to protect sensitive information. Technology Accessibility is the effectiveness of the system may be influenced by the accessibility of IoT devices and technology. Ensuring affordability and compatibility with a variety of devices is essential for broad user adoption. In User Training Requirements the users may require training to effectively use and interpret data from IoT devices. Clear and user-friendly interfaces, along with comprehensive training resources, are essential for user engagement. Maintenance and Device Compatibility is the continuous functionality of IoT devices and compatibility with evolving technologies may require regular maintenance. Compatibility issues with various devices and platforms must be addressed to provide a seamless user experience.</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111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ACB57-6138-FC7E-3615-62632646AA12}"/>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56685209-3486-C9DE-FB79-958D4DB9B506}"/>
              </a:ext>
            </a:extLst>
          </p:cNvPr>
          <p:cNvSpPr>
            <a:spLocks noGrp="1"/>
          </p:cNvSpPr>
          <p:nvPr>
            <p:ph idx="1"/>
          </p:nvPr>
        </p:nvSpPr>
        <p:spPr>
          <a:xfrm>
            <a:off x="812800" y="1082041"/>
            <a:ext cx="10668000" cy="4952997"/>
          </a:xfrm>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8.Hospital preparedness assessment against COVID-19 pandemic: a case study in Turkish tertiary healthcare services, </a:t>
            </a:r>
            <a:r>
              <a:rPr lang="en-US" b="1" dirty="0" err="1">
                <a:latin typeface="Times New Roman" panose="02020603050405020304" pitchFamily="18" charset="0"/>
                <a:cs typeface="Times New Roman" panose="02020603050405020304" pitchFamily="18" charset="0"/>
              </a:rPr>
              <a:t>M.Gul</a:t>
            </a:r>
            <a:r>
              <a:rPr lang="en-US" b="1" dirty="0">
                <a:latin typeface="Times New Roman" panose="02020603050405020304" pitchFamily="18" charset="0"/>
                <a:cs typeface="Times New Roman" panose="02020603050405020304" pitchFamily="18" charset="0"/>
              </a:rPr>
              <a:t> and M. </a:t>
            </a:r>
            <a:r>
              <a:rPr lang="en-US" b="1" dirty="0" err="1">
                <a:latin typeface="Times New Roman" panose="02020603050405020304" pitchFamily="18" charset="0"/>
                <a:cs typeface="Times New Roman" panose="02020603050405020304" pitchFamily="18" charset="0"/>
              </a:rPr>
              <a:t>Yucesan</a:t>
            </a:r>
            <a:r>
              <a:rPr lang="en-US" b="1" dirty="0">
                <a:latin typeface="Times New Roman" panose="02020603050405020304" pitchFamily="18" charset="0"/>
                <a:cs typeface="Times New Roman" panose="02020603050405020304" pitchFamily="18" charset="0"/>
              </a:rPr>
              <a:t> </a:t>
            </a:r>
          </a:p>
          <a:p>
            <a:pPr algn="just"/>
            <a:r>
              <a:rPr lang="en-US" b="1" dirty="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The paper titled "Hospital Preparedness Assessment against COVID-19 Pandemic: A Case Study in Turkish Tertiary Healthcare Services" by M. Gul and M. </a:t>
            </a:r>
            <a:r>
              <a:rPr lang="en-US" dirty="0" err="1">
                <a:latin typeface="Times New Roman" panose="02020603050405020304" pitchFamily="18" charset="0"/>
                <a:cs typeface="Times New Roman" panose="02020603050405020304" pitchFamily="18" charset="0"/>
              </a:rPr>
              <a:t>Yucesan</a:t>
            </a:r>
            <a:r>
              <a:rPr lang="en-US" dirty="0">
                <a:latin typeface="Times New Roman" panose="02020603050405020304" pitchFamily="18" charset="0"/>
                <a:cs typeface="Times New Roman" panose="02020603050405020304" pitchFamily="18" charset="0"/>
              </a:rPr>
              <a:t>, published in Mathematical Problems in Engineering in 2021, presents a case study evaluating the preparedness of Turkish tertiary healthcare services in the face of the COVID-19 pandemic. The study employs mathematical modelling and engineering methodologies to assess the readiness of hospitals to deal with the challenges posed by the pandemic. Understanding these advantages and limitations is important for interpreting the study's findings and considering the potential implications for hospital preparedness assessments in different contexts.</a:t>
            </a:r>
          </a:p>
          <a:p>
            <a:pPr algn="just"/>
            <a:r>
              <a:rPr lang="en-US" dirty="0">
                <a:latin typeface="Times New Roman" panose="02020603050405020304" pitchFamily="18" charset="0"/>
                <a:cs typeface="Times New Roman" panose="02020603050405020304" pitchFamily="18" charset="0"/>
              </a:rPr>
              <a:t> It also highlights areas where future research and interventions may be needed to enhance healthcare system resilience in the face of pandemics. Here are some of the advantages that are: Comprehensive Preparedness Assessment in which the study offers a comprehensive assessment of hospital preparedness, taking into account various factors critical to effectively managing the challenges presented by the COVID-19 pandemic. This includes factors such as infrastructure, resources, and response strategies. Mathematical Modeling for Decision Support Here utilization of mathematical modeling provides a quantitative framework for decision support.</a:t>
            </a:r>
          </a:p>
          <a:p>
            <a:pPr algn="just"/>
            <a:r>
              <a:rPr lang="en-US" dirty="0">
                <a:latin typeface="Times New Roman" panose="02020603050405020304" pitchFamily="18" charset="0"/>
                <a:cs typeface="Times New Roman" panose="02020603050405020304" pitchFamily="18" charset="0"/>
              </a:rPr>
              <a:t> This allows for a more systematic and data-driven approach to assessing and improving hospital preparedness. Engineering Methodologies is the incorporation of engineering methodologies that signify a systematic and structured approach to problem-solving. This approach aids in identifying areas for improvement and developing targeted interventions to enhance hospital preparedness. Here are some of the limitations that are: The Nature of the Pandemic that is the COVID-19 pandemic is dynamic, with evolving challenges and changing circumstances.</a:t>
            </a:r>
          </a:p>
          <a:p>
            <a:pPr algn="just"/>
            <a:r>
              <a:rPr lang="en-US" dirty="0">
                <a:latin typeface="Times New Roman" panose="02020603050405020304" pitchFamily="18" charset="0"/>
                <a:cs typeface="Times New Roman" panose="02020603050405020304" pitchFamily="18" charset="0"/>
              </a:rPr>
              <a:t> The study's findings may reflect a specific point in time and may not capture the ongoing adaptations and responses to new developments in the pandemic. Single Case Study Approach which Focuses on a single case study limits the generalizability of the findings. The specific characteristics and circumstances of the chosen tertiary healthcare services may not fully represent the diversity of all Turkish healthcare institutions. Limited Exploration of Behavioral Factors in which the study may have limitations in exploring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factors, such as the adherence of healthcare professionals and the general public to recommended guidelines.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aspects play a crucial role in the success of pandemic response efforts.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9037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62589-8A80-CCD9-B608-79BB625D40FD}"/>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7CFEC982-BF1A-9FEE-3814-3E84A59B74D4}"/>
              </a:ext>
            </a:extLst>
          </p:cNvPr>
          <p:cNvSpPr>
            <a:spLocks noGrp="1"/>
          </p:cNvSpPr>
          <p:nvPr>
            <p:ph idx="1"/>
          </p:nvPr>
        </p:nvSpPr>
        <p:spPr/>
        <p:txBody>
          <a:bodyPr>
            <a:normAutofit fontScale="85000" lnSpcReduction="10000"/>
          </a:bodyPr>
          <a:lstStyle/>
          <a:p>
            <a:pPr marL="0" indent="0" algn="l">
              <a:buNone/>
            </a:pPr>
            <a:r>
              <a:rPr lang="en-IN" b="1" i="0" dirty="0">
                <a:solidFill>
                  <a:srgbClr val="585F69"/>
                </a:solidFill>
                <a:effectLst/>
                <a:latin typeface="Times New Roman" panose="02020603050405020304" pitchFamily="18" charset="0"/>
                <a:cs typeface="Times New Roman" panose="02020603050405020304" pitchFamily="18" charset="0"/>
              </a:rPr>
              <a:t>9.Literature Review on Appointment Scheduling in Hospitals Management</a:t>
            </a:r>
          </a:p>
          <a:p>
            <a:pPr algn="l"/>
            <a:r>
              <a:rPr lang="en-IN" b="1" i="0" dirty="0">
                <a:solidFill>
                  <a:srgbClr val="555555"/>
                </a:solidFill>
                <a:effectLst/>
                <a:latin typeface="Times New Roman" panose="02020603050405020304" pitchFamily="18" charset="0"/>
                <a:cs typeface="Times New Roman" panose="02020603050405020304" pitchFamily="18" charset="0"/>
              </a:rPr>
              <a:t>Sarita Priyadarshini Nayak</a:t>
            </a:r>
            <a:r>
              <a:rPr lang="en-IN" b="1" i="0" u="none" strike="noStrike" baseline="30000" dirty="0">
                <a:solidFill>
                  <a:srgbClr val="0D6EFD"/>
                </a:solidFill>
                <a:effectLst/>
                <a:latin typeface="Times New Roman" panose="02020603050405020304" pitchFamily="18" charset="0"/>
                <a:cs typeface="Times New Roman" panose="02020603050405020304" pitchFamily="18" charset="0"/>
                <a:hlinkClick r:id="rId2"/>
              </a:rPr>
              <a:t>1</a:t>
            </a:r>
            <a:r>
              <a:rPr lang="en-IN" b="1" i="0" u="none" strike="noStrike" baseline="30000" dirty="0">
                <a:solidFill>
                  <a:srgbClr val="0D6EFD"/>
                </a:solidFill>
                <a:effectLst/>
                <a:latin typeface="Times New Roman" panose="02020603050405020304" pitchFamily="18" charset="0"/>
                <a:cs typeface="Times New Roman" panose="02020603050405020304" pitchFamily="18" charset="0"/>
                <a:hlinkClick r:id="rId3"/>
              </a:rPr>
              <a:t>*</a:t>
            </a:r>
            <a:r>
              <a:rPr lang="en-IN" b="1" i="0" dirty="0">
                <a:solidFill>
                  <a:srgbClr val="555555"/>
                </a:solidFill>
                <a:effectLst/>
                <a:latin typeface="Times New Roman" panose="02020603050405020304" pitchFamily="18" charset="0"/>
                <a:cs typeface="Times New Roman" panose="02020603050405020304" pitchFamily="18" charset="0"/>
              </a:rPr>
              <a:t>, Bharat Bhushan</a:t>
            </a:r>
            <a:r>
              <a:rPr lang="en-IN" b="1" i="0" u="none" strike="noStrike" baseline="30000" dirty="0">
                <a:solidFill>
                  <a:srgbClr val="0D6EFD"/>
                </a:solidFill>
                <a:effectLst/>
                <a:latin typeface="Times New Roman" panose="02020603050405020304" pitchFamily="18" charset="0"/>
                <a:cs typeface="Times New Roman" panose="02020603050405020304" pitchFamily="18" charset="0"/>
                <a:hlinkClick r:id="rId4"/>
              </a:rPr>
              <a:t>2</a:t>
            </a:r>
            <a:endParaRPr lang="en-IN" b="1" i="0" dirty="0">
              <a:solidFill>
                <a:srgbClr val="555555"/>
              </a:solidFill>
              <a:effectLst/>
              <a:latin typeface="Times New Roman" panose="02020603050405020304" pitchFamily="18" charset="0"/>
              <a:cs typeface="Times New Roman" panose="02020603050405020304" pitchFamily="18" charset="0"/>
            </a:endParaRPr>
          </a:p>
          <a:p>
            <a:pPr algn="l"/>
            <a:r>
              <a:rPr lang="en-IN" b="1" i="0" baseline="30000" dirty="0">
                <a:solidFill>
                  <a:srgbClr val="555555"/>
                </a:solidFill>
                <a:effectLst/>
                <a:latin typeface="Times New Roman" panose="02020603050405020304" pitchFamily="18" charset="0"/>
                <a:cs typeface="Times New Roman" panose="02020603050405020304" pitchFamily="18" charset="0"/>
              </a:rPr>
              <a:t>1</a:t>
            </a:r>
            <a:r>
              <a:rPr lang="en-IN" b="1" i="0" dirty="0">
                <a:solidFill>
                  <a:srgbClr val="555555"/>
                </a:solidFill>
                <a:effectLst/>
                <a:latin typeface="Times New Roman" panose="02020603050405020304" pitchFamily="18" charset="0"/>
                <a:cs typeface="Times New Roman" panose="02020603050405020304" pitchFamily="18" charset="0"/>
              </a:rPr>
              <a:t>MCA student, Sharda University, Greater Noida, Delhi, India</a:t>
            </a:r>
          </a:p>
          <a:p>
            <a:pPr algn="l"/>
            <a:r>
              <a:rPr lang="en-IN" b="1" i="0" baseline="30000" dirty="0">
                <a:solidFill>
                  <a:srgbClr val="555555"/>
                </a:solidFill>
                <a:effectLst/>
                <a:latin typeface="Times New Roman" panose="02020603050405020304" pitchFamily="18" charset="0"/>
                <a:cs typeface="Times New Roman" panose="02020603050405020304" pitchFamily="18" charset="0"/>
              </a:rPr>
              <a:t>2</a:t>
            </a:r>
            <a:r>
              <a:rPr lang="en-IN" b="1" i="0" dirty="0">
                <a:solidFill>
                  <a:srgbClr val="555555"/>
                </a:solidFill>
                <a:effectLst/>
                <a:latin typeface="Times New Roman" panose="02020603050405020304" pitchFamily="18" charset="0"/>
                <a:cs typeface="Times New Roman" panose="02020603050405020304" pitchFamily="18" charset="0"/>
              </a:rPr>
              <a:t>Asst. Professor, Sharda University, Greater Noida, Delhi, India</a:t>
            </a:r>
          </a:p>
          <a:p>
            <a:pPr algn="l"/>
            <a:r>
              <a:rPr lang="en-US" b="0" i="0" dirty="0">
                <a:solidFill>
                  <a:srgbClr val="014479"/>
                </a:solidFill>
                <a:effectLst/>
                <a:latin typeface="Times New Roman" panose="02020603050405020304" pitchFamily="18" charset="0"/>
                <a:cs typeface="Times New Roman" panose="02020603050405020304" pitchFamily="18" charset="0"/>
              </a:rPr>
              <a:t>Abstract:</a:t>
            </a:r>
          </a:p>
          <a:p>
            <a:pPr algn="just"/>
            <a:r>
              <a:rPr lang="en-US" b="0" i="0" dirty="0">
                <a:solidFill>
                  <a:srgbClr val="555555"/>
                </a:solidFill>
                <a:effectLst/>
                <a:latin typeface="Times New Roman" panose="02020603050405020304" pitchFamily="18" charset="0"/>
                <a:cs typeface="Times New Roman" panose="02020603050405020304" pitchFamily="18" charset="0"/>
              </a:rPr>
              <a:t>In such issues, patients in a hospital environment need to visit various resource forms sequentially so that they can undergo or be diagnosed with </a:t>
            </a:r>
            <a:r>
              <a:rPr lang="en-US" b="0" i="0" dirty="0" err="1">
                <a:solidFill>
                  <a:srgbClr val="555555"/>
                </a:solidFill>
                <a:effectLst/>
                <a:latin typeface="Times New Roman" panose="02020603050405020304" pitchFamily="18" charset="0"/>
                <a:cs typeface="Times New Roman" panose="02020603050405020304" pitchFamily="18" charset="0"/>
              </a:rPr>
              <a:t>medication.Therefore</a:t>
            </a:r>
            <a:r>
              <a:rPr lang="en-US" b="0" i="0" dirty="0">
                <a:solidFill>
                  <a:srgbClr val="555555"/>
                </a:solidFill>
                <a:effectLst/>
                <a:latin typeface="Times New Roman" panose="02020603050405020304" pitchFamily="18" charset="0"/>
                <a:cs typeface="Times New Roman" panose="02020603050405020304" pitchFamily="18" charset="0"/>
              </a:rPr>
              <a:t> a particular route over a subset of the assets deemed is allocated to each patient and each move needs to be planned. The primary objective of these problems is to allow the services in their subset to be visited by each individual within the allocated time. Additionally, with hospital appointment scheduling, hospitals have the occasion to supplement patient fulfilment, allowing the enduring to appointment the hospital less repeatedly. A classification proposal is projected and categorize on hospital appointment scheduling in hospitals published before the end of 2020. The explanations show that hospital appointments are attractive gradually more admired. In fact, the appointment arrangement problems in hospitals are now in advance gradually more drive in the intellectual literature.</a:t>
            </a:r>
          </a:p>
          <a:p>
            <a:pPr algn="just"/>
            <a:endParaRPr lang="en-US" b="0" i="0" dirty="0">
              <a:solidFill>
                <a:srgbClr val="555555"/>
              </a:solidFill>
              <a:effectLst/>
              <a:latin typeface="spectral"/>
            </a:endParaRPr>
          </a:p>
          <a:p>
            <a:endParaRPr lang="en-IN" dirty="0"/>
          </a:p>
          <a:p>
            <a:endParaRPr lang="en-IN" dirty="0"/>
          </a:p>
          <a:p>
            <a:endParaRPr lang="en-IN" dirty="0"/>
          </a:p>
        </p:txBody>
      </p:sp>
    </p:spTree>
    <p:extLst>
      <p:ext uri="{BB962C8B-B14F-4D97-AF65-F5344CB8AC3E}">
        <p14:creationId xmlns:p14="http://schemas.microsoft.com/office/powerpoint/2010/main" val="4052330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F72B-220E-686D-27EF-D12562D69318}"/>
              </a:ext>
            </a:extLst>
          </p:cNvPr>
          <p:cNvSpPr>
            <a:spLocks noGrp="1"/>
          </p:cNvSpPr>
          <p:nvPr>
            <p:ph type="title"/>
          </p:nvPr>
        </p:nvSpPr>
        <p:spPr/>
        <p:txBody>
          <a:bodyPr/>
          <a:lstStyle/>
          <a:p>
            <a:r>
              <a:rPr lang="en-GB" dirty="0"/>
              <a:t>Literature Review</a:t>
            </a:r>
            <a:endParaRPr lang="en-IN" dirty="0"/>
          </a:p>
        </p:txBody>
      </p:sp>
      <p:sp>
        <p:nvSpPr>
          <p:cNvPr id="3" name="Content Placeholder 2">
            <a:extLst>
              <a:ext uri="{FF2B5EF4-FFF2-40B4-BE49-F238E27FC236}">
                <a16:creationId xmlns:a16="http://schemas.microsoft.com/office/drawing/2014/main" id="{21E979B2-5268-6D34-BA15-BAA5F496D316}"/>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11.Frost &amp; Sullivan (2017) </a:t>
            </a:r>
            <a:r>
              <a:rPr lang="en-US" dirty="0"/>
              <a:t>- </a:t>
            </a:r>
            <a:r>
              <a:rPr lang="en-US" dirty="0">
                <a:latin typeface="Times New Roman" panose="02020603050405020304" pitchFamily="18" charset="0"/>
                <a:cs typeface="Times New Roman" panose="02020603050405020304" pitchFamily="18" charset="0"/>
              </a:rPr>
              <a:t>prevent medical accidents in advance by using an integrated solution based on information and communication. </a:t>
            </a:r>
          </a:p>
          <a:p>
            <a:r>
              <a:rPr lang="en-US" b="1" dirty="0">
                <a:latin typeface="Times New Roman" panose="02020603050405020304" pitchFamily="18" charset="0"/>
                <a:cs typeface="Times New Roman" panose="02020603050405020304" pitchFamily="18" charset="0"/>
              </a:rPr>
              <a:t>12</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Karen Taylor  (2017) </a:t>
            </a:r>
            <a:r>
              <a:rPr lang="en-US" dirty="0">
                <a:latin typeface="Times New Roman" panose="02020603050405020304" pitchFamily="18" charset="0"/>
                <a:cs typeface="Times New Roman" panose="02020603050405020304" pitchFamily="18" charset="0"/>
              </a:rPr>
              <a:t>- improving treatment procedures for existing patients and introducing new functions.</a:t>
            </a:r>
          </a:p>
          <a:p>
            <a:r>
              <a:rPr lang="en-US" b="1" dirty="0">
                <a:latin typeface="Times New Roman" panose="02020603050405020304" pitchFamily="18" charset="0"/>
                <a:cs typeface="Times New Roman" panose="02020603050405020304" pitchFamily="18" charset="0"/>
              </a:rPr>
              <a:t>13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European Union Agency for Network and Information Security  (2016) </a:t>
            </a:r>
            <a:r>
              <a:rPr lang="en-US" dirty="0">
                <a:latin typeface="Times New Roman" panose="02020603050405020304" pitchFamily="18" charset="0"/>
                <a:cs typeface="Times New Roman" panose="02020603050405020304" pitchFamily="18" charset="0"/>
              </a:rPr>
              <a:t>- A hospital that improves the patient treatment process based on IoT. </a:t>
            </a:r>
          </a:p>
          <a:p>
            <a:r>
              <a:rPr lang="en-US" b="1" dirty="0">
                <a:latin typeface="Times New Roman" panose="02020603050405020304" pitchFamily="18" charset="0"/>
                <a:cs typeface="Times New Roman" panose="02020603050405020304" pitchFamily="18" charset="0"/>
              </a:rPr>
              <a:t>14</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Korea Embedded Software and System Industry Association  (2018)</a:t>
            </a:r>
          </a:p>
          <a:p>
            <a:r>
              <a:rPr lang="en-US" b="1" dirty="0">
                <a:latin typeface="Times New Roman" panose="02020603050405020304" pitchFamily="18" charset="0"/>
                <a:cs typeface="Times New Roman" panose="02020603050405020304" pitchFamily="18" charset="0"/>
              </a:rPr>
              <a:t> 15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Seoul Asan Hospital Innovation Design Center  (2020) </a:t>
            </a:r>
            <a:r>
              <a:rPr lang="en-US" dirty="0">
                <a:latin typeface="Times New Roman" panose="02020603050405020304" pitchFamily="18" charset="0"/>
                <a:cs typeface="Times New Roman" panose="02020603050405020304" pitchFamily="18" charset="0"/>
              </a:rPr>
              <a:t>- A next-generation hospital that exceeds the limits of existing hospitals in terms of quality of care.</a:t>
            </a:r>
          </a:p>
          <a:p>
            <a:r>
              <a:rPr lang="en-US" b="1" dirty="0">
                <a:latin typeface="Times New Roman" panose="02020603050405020304" pitchFamily="18" charset="0"/>
                <a:cs typeface="Times New Roman" panose="02020603050405020304" pitchFamily="18" charset="0"/>
              </a:rPr>
              <a:t>16</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Ministry of Health and Welfare  (2020) </a:t>
            </a:r>
            <a:r>
              <a:rPr lang="en-US" dirty="0">
                <a:latin typeface="Times New Roman" panose="02020603050405020304" pitchFamily="18" charset="0"/>
                <a:cs typeface="Times New Roman" panose="02020603050405020304" pitchFamily="18" charset="0"/>
              </a:rPr>
              <a:t>- provides medical services by applying ICT such as 5G and IoT to improve medical services such as enhancing patient safety.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44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BF7-609D-5BF0-0A5E-107CA0673219}"/>
              </a:ext>
            </a:extLst>
          </p:cNvPr>
          <p:cNvSpPr>
            <a:spLocks noGrp="1"/>
          </p:cNvSpPr>
          <p:nvPr>
            <p:ph type="title"/>
          </p:nvPr>
        </p:nvSpPr>
        <p:spPr/>
        <p:txBody>
          <a:bodyPr/>
          <a:lstStyle/>
          <a:p>
            <a:r>
              <a:rPr lang="en-IN" dirty="0"/>
              <a:t>Comparison on Literature Review</a:t>
            </a:r>
          </a:p>
        </p:txBody>
      </p:sp>
      <p:graphicFrame>
        <p:nvGraphicFramePr>
          <p:cNvPr id="26" name="Content Placeholder 25">
            <a:extLst>
              <a:ext uri="{FF2B5EF4-FFF2-40B4-BE49-F238E27FC236}">
                <a16:creationId xmlns:a16="http://schemas.microsoft.com/office/drawing/2014/main" id="{AFDF9043-2AEF-A04D-0913-271A48255740}"/>
              </a:ext>
            </a:extLst>
          </p:cNvPr>
          <p:cNvGraphicFramePr>
            <a:graphicFrameLocks noGrp="1"/>
          </p:cNvGraphicFramePr>
          <p:nvPr>
            <p:ph idx="1"/>
            <p:extLst>
              <p:ext uri="{D42A27DB-BD31-4B8C-83A1-F6EECF244321}">
                <p14:modId xmlns:p14="http://schemas.microsoft.com/office/powerpoint/2010/main" val="2149198114"/>
              </p:ext>
            </p:extLst>
          </p:nvPr>
        </p:nvGraphicFramePr>
        <p:xfrm>
          <a:off x="1016000" y="1264920"/>
          <a:ext cx="10505440" cy="4697368"/>
        </p:xfrm>
        <a:graphic>
          <a:graphicData uri="http://schemas.openxmlformats.org/drawingml/2006/table">
            <a:tbl>
              <a:tblPr firstRow="1" bandRow="1"/>
              <a:tblGrid>
                <a:gridCol w="955040">
                  <a:extLst>
                    <a:ext uri="{9D8B030D-6E8A-4147-A177-3AD203B41FA5}">
                      <a16:colId xmlns:a16="http://schemas.microsoft.com/office/drawing/2014/main" val="1125424352"/>
                    </a:ext>
                  </a:extLst>
                </a:gridCol>
                <a:gridCol w="4492369">
                  <a:extLst>
                    <a:ext uri="{9D8B030D-6E8A-4147-A177-3AD203B41FA5}">
                      <a16:colId xmlns:a16="http://schemas.microsoft.com/office/drawing/2014/main" val="2764490673"/>
                    </a:ext>
                  </a:extLst>
                </a:gridCol>
                <a:gridCol w="5058031">
                  <a:extLst>
                    <a:ext uri="{9D8B030D-6E8A-4147-A177-3AD203B41FA5}">
                      <a16:colId xmlns:a16="http://schemas.microsoft.com/office/drawing/2014/main" val="3544985990"/>
                    </a:ext>
                  </a:extLst>
                </a:gridCol>
              </a:tblGrid>
              <a:tr h="580749">
                <a:tc>
                  <a:txBody>
                    <a:bodyPr/>
                    <a:lstStyle/>
                    <a:p>
                      <a:r>
                        <a:rPr lang="en-IN" dirty="0"/>
                        <a:t>SL NO</a:t>
                      </a:r>
                    </a:p>
                  </a:txBody>
                  <a:tcPr/>
                </a:tc>
                <a:tc>
                  <a:txBody>
                    <a:bodyPr/>
                    <a:lstStyle/>
                    <a:p>
                      <a:r>
                        <a:rPr lang="en-IN" dirty="0"/>
                        <a:t>ADAVANTAGES</a:t>
                      </a:r>
                    </a:p>
                  </a:txBody>
                  <a:tcPr/>
                </a:tc>
                <a:tc>
                  <a:txBody>
                    <a:bodyPr/>
                    <a:lstStyle/>
                    <a:p>
                      <a:r>
                        <a:rPr lang="en-IN" dirty="0"/>
                        <a:t>DISADAVANTAGES</a:t>
                      </a:r>
                    </a:p>
                  </a:txBody>
                  <a:tcPr/>
                </a:tc>
                <a:extLst>
                  <a:ext uri="{0D108BD9-81ED-4DB2-BD59-A6C34878D82A}">
                    <a16:rowId xmlns:a16="http://schemas.microsoft.com/office/drawing/2014/main" val="263185779"/>
                  </a:ext>
                </a:extLst>
              </a:tr>
              <a:tr h="580749">
                <a:tc>
                  <a:txBody>
                    <a:bodyPr/>
                    <a:lstStyle/>
                    <a:p>
                      <a:r>
                        <a:rPr lang="en-IN" dirty="0"/>
                        <a:t>1</a:t>
                      </a:r>
                    </a:p>
                  </a:txBody>
                  <a:tcPr/>
                </a:tc>
                <a:tc>
                  <a:txBody>
                    <a:bodyPr/>
                    <a:lstStyle/>
                    <a:p>
                      <a:r>
                        <a:rPr lang="en-IN" dirty="0"/>
                        <a:t>Systematic decision making</a:t>
                      </a:r>
                    </a:p>
                  </a:txBody>
                  <a:tcPr/>
                </a:tc>
                <a:tc>
                  <a:txBody>
                    <a:bodyPr/>
                    <a:lstStyle/>
                    <a:p>
                      <a:r>
                        <a:rPr lang="en-IN" dirty="0"/>
                        <a:t>Data Dependency</a:t>
                      </a:r>
                    </a:p>
                  </a:txBody>
                  <a:tcPr/>
                </a:tc>
                <a:extLst>
                  <a:ext uri="{0D108BD9-81ED-4DB2-BD59-A6C34878D82A}">
                    <a16:rowId xmlns:a16="http://schemas.microsoft.com/office/drawing/2014/main" val="3562275211"/>
                  </a:ext>
                </a:extLst>
              </a:tr>
              <a:tr h="580749">
                <a:tc>
                  <a:txBody>
                    <a:bodyPr/>
                    <a:lstStyle/>
                    <a:p>
                      <a:r>
                        <a:rPr lang="en-IN" dirty="0"/>
                        <a:t>2</a:t>
                      </a:r>
                    </a:p>
                  </a:txBody>
                  <a:tcPr/>
                </a:tc>
                <a:tc>
                  <a:txBody>
                    <a:bodyPr/>
                    <a:lstStyle/>
                    <a:p>
                      <a:r>
                        <a:rPr lang="en-IN" dirty="0"/>
                        <a:t>User-Friendly interface</a:t>
                      </a:r>
                    </a:p>
                    <a:p>
                      <a:endParaRPr lang="en-IN" dirty="0"/>
                    </a:p>
                  </a:txBody>
                  <a:tcPr/>
                </a:tc>
                <a:tc>
                  <a:txBody>
                    <a:bodyPr/>
                    <a:lstStyle/>
                    <a:p>
                      <a:r>
                        <a:rPr lang="en-IN" dirty="0"/>
                        <a:t>Privacy concerns</a:t>
                      </a:r>
                    </a:p>
                    <a:p>
                      <a:endParaRPr lang="en-IN" dirty="0"/>
                    </a:p>
                  </a:txBody>
                  <a:tcPr/>
                </a:tc>
                <a:extLst>
                  <a:ext uri="{0D108BD9-81ED-4DB2-BD59-A6C34878D82A}">
                    <a16:rowId xmlns:a16="http://schemas.microsoft.com/office/drawing/2014/main" val="1383237172"/>
                  </a:ext>
                </a:extLst>
              </a:tr>
              <a:tr h="572794">
                <a:tc>
                  <a:txBody>
                    <a:bodyPr/>
                    <a:lstStyle/>
                    <a:p>
                      <a:r>
                        <a:rPr lang="en-IN" dirty="0"/>
                        <a:t>3</a:t>
                      </a:r>
                    </a:p>
                  </a:txBody>
                  <a:tcPr/>
                </a:tc>
                <a:tc>
                  <a:txBody>
                    <a:bodyPr/>
                    <a:lstStyle/>
                    <a:p>
                      <a:r>
                        <a:rPr lang="en-IN" dirty="0"/>
                        <a:t>Use of MCDM Methods</a:t>
                      </a:r>
                    </a:p>
                  </a:txBody>
                  <a:tcPr/>
                </a:tc>
                <a:tc>
                  <a:txBody>
                    <a:bodyPr/>
                    <a:lstStyle/>
                    <a:p>
                      <a:r>
                        <a:rPr lang="en-IN" dirty="0"/>
                        <a:t>Dependence on Data Availability</a:t>
                      </a:r>
                    </a:p>
                  </a:txBody>
                  <a:tcPr/>
                </a:tc>
                <a:extLst>
                  <a:ext uri="{0D108BD9-81ED-4DB2-BD59-A6C34878D82A}">
                    <a16:rowId xmlns:a16="http://schemas.microsoft.com/office/drawing/2014/main" val="141053615"/>
                  </a:ext>
                </a:extLst>
              </a:tr>
              <a:tr h="580749">
                <a:tc>
                  <a:txBody>
                    <a:bodyPr/>
                    <a:lstStyle/>
                    <a:p>
                      <a:r>
                        <a:rPr lang="en-IN" dirty="0"/>
                        <a:t>4</a:t>
                      </a:r>
                    </a:p>
                  </a:txBody>
                  <a:tcPr/>
                </a:tc>
                <a:tc>
                  <a:txBody>
                    <a:bodyPr/>
                    <a:lstStyle/>
                    <a:p>
                      <a:r>
                        <a:rPr lang="en-IN" dirty="0"/>
                        <a:t>Enhanced patient Management</a:t>
                      </a:r>
                    </a:p>
                  </a:txBody>
                  <a:tcPr/>
                </a:tc>
                <a:tc>
                  <a:txBody>
                    <a:bodyPr/>
                    <a:lstStyle/>
                    <a:p>
                      <a:r>
                        <a:rPr lang="en-IN" dirty="0"/>
                        <a:t>Data privacy and security risks</a:t>
                      </a:r>
                    </a:p>
                  </a:txBody>
                  <a:tcPr/>
                </a:tc>
                <a:extLst>
                  <a:ext uri="{0D108BD9-81ED-4DB2-BD59-A6C34878D82A}">
                    <a16:rowId xmlns:a16="http://schemas.microsoft.com/office/drawing/2014/main" val="2658333287"/>
                  </a:ext>
                </a:extLst>
              </a:tr>
              <a:tr h="580749">
                <a:tc>
                  <a:txBody>
                    <a:bodyPr/>
                    <a:lstStyle/>
                    <a:p>
                      <a:r>
                        <a:rPr lang="en-IN" dirty="0"/>
                        <a:t>5</a:t>
                      </a:r>
                    </a:p>
                  </a:txBody>
                  <a:tcPr/>
                </a:tc>
                <a:tc>
                  <a:txBody>
                    <a:bodyPr/>
                    <a:lstStyle/>
                    <a:p>
                      <a:r>
                        <a:rPr lang="en-IN" dirty="0"/>
                        <a:t>Real-time health monitoring</a:t>
                      </a:r>
                    </a:p>
                  </a:txBody>
                  <a:tcPr/>
                </a:tc>
                <a:tc>
                  <a:txBody>
                    <a:bodyPr/>
                    <a:lstStyle/>
                    <a:p>
                      <a:r>
                        <a:rPr lang="en-IN" dirty="0"/>
                        <a:t>Technological accessibility</a:t>
                      </a:r>
                    </a:p>
                  </a:txBody>
                  <a:tcPr/>
                </a:tc>
                <a:extLst>
                  <a:ext uri="{0D108BD9-81ED-4DB2-BD59-A6C34878D82A}">
                    <a16:rowId xmlns:a16="http://schemas.microsoft.com/office/drawing/2014/main" val="2440987870"/>
                  </a:ext>
                </a:extLst>
              </a:tr>
              <a:tr h="580749">
                <a:tc>
                  <a:txBody>
                    <a:bodyPr/>
                    <a:lstStyle/>
                    <a:p>
                      <a:r>
                        <a:rPr lang="en-IN" dirty="0"/>
                        <a:t>6</a:t>
                      </a:r>
                    </a:p>
                  </a:txBody>
                  <a:tcPr/>
                </a:tc>
                <a:tc>
                  <a:txBody>
                    <a:bodyPr/>
                    <a:lstStyle/>
                    <a:p>
                      <a:r>
                        <a:rPr lang="en-IN" dirty="0"/>
                        <a:t>Cost-Effectiveness</a:t>
                      </a:r>
                    </a:p>
                  </a:txBody>
                  <a:tcPr/>
                </a:tc>
                <a:tc>
                  <a:txBody>
                    <a:bodyPr/>
                    <a:lstStyle/>
                    <a:p>
                      <a:r>
                        <a:rPr lang="en-IN" b="0" dirty="0"/>
                        <a:t>User Training Requirements</a:t>
                      </a:r>
                    </a:p>
                  </a:txBody>
                  <a:tcPr/>
                </a:tc>
                <a:extLst>
                  <a:ext uri="{0D108BD9-81ED-4DB2-BD59-A6C34878D82A}">
                    <a16:rowId xmlns:a16="http://schemas.microsoft.com/office/drawing/2014/main" val="3931076035"/>
                  </a:ext>
                </a:extLst>
              </a:tr>
              <a:tr h="580749">
                <a:tc>
                  <a:txBody>
                    <a:bodyPr/>
                    <a:lstStyle/>
                    <a:p>
                      <a:r>
                        <a:rPr lang="en-IN" dirty="0"/>
                        <a:t>7</a:t>
                      </a:r>
                    </a:p>
                  </a:txBody>
                  <a:tcPr/>
                </a:tc>
                <a:tc>
                  <a:txBody>
                    <a:bodyPr/>
                    <a:lstStyle/>
                    <a:p>
                      <a:r>
                        <a:rPr lang="en-IN" dirty="0"/>
                        <a:t>Proactive Health Management</a:t>
                      </a:r>
                    </a:p>
                  </a:txBody>
                  <a:tcPr/>
                </a:tc>
                <a:tc>
                  <a:txBody>
                    <a:bodyPr/>
                    <a:lstStyle/>
                    <a:p>
                      <a:r>
                        <a:rPr lang="en-IN" dirty="0"/>
                        <a:t>Dependence on Technology</a:t>
                      </a:r>
                    </a:p>
                  </a:txBody>
                  <a:tcPr/>
                </a:tc>
                <a:extLst>
                  <a:ext uri="{0D108BD9-81ED-4DB2-BD59-A6C34878D82A}">
                    <a16:rowId xmlns:a16="http://schemas.microsoft.com/office/drawing/2014/main" val="2769334296"/>
                  </a:ext>
                </a:extLst>
              </a:tr>
            </a:tbl>
          </a:graphicData>
        </a:graphic>
      </p:graphicFrame>
    </p:spTree>
    <p:extLst>
      <p:ext uri="{BB962C8B-B14F-4D97-AF65-F5344CB8AC3E}">
        <p14:creationId xmlns:p14="http://schemas.microsoft.com/office/powerpoint/2010/main" val="2210859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a:xfrm>
            <a:off x="812800" y="376238"/>
            <a:ext cx="10668000" cy="487362"/>
          </a:xfrm>
        </p:spPr>
        <p:txBody>
          <a:bodyPr/>
          <a:lstStyle/>
          <a:p>
            <a:r>
              <a:rPr lang="en-US" dirty="0"/>
              <a:t>Existing method</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fontScale="85000" lnSpcReduction="20000"/>
          </a:bodyPr>
          <a:lstStyle/>
          <a:p>
            <a:pPr marL="0" indent="0">
              <a:buNone/>
            </a:pPr>
            <a:r>
              <a:rPr lang="en-IN" dirty="0"/>
              <a:t>ADVANTAGES:</a:t>
            </a:r>
          </a:p>
          <a:p>
            <a:pPr algn="just">
              <a:buFont typeface="Arial" panose="020B0604020202020204" pitchFamily="34" charset="0"/>
              <a:buChar char="•"/>
            </a:pPr>
            <a:r>
              <a:rPr lang="en-US" b="1" i="0" dirty="0">
                <a:solidFill>
                  <a:srgbClr val="000000"/>
                </a:solidFill>
                <a:effectLst/>
                <a:latin typeface="ui-sans-serif"/>
              </a:rPr>
              <a:t>Improved efficiency and speed</a:t>
            </a:r>
            <a:r>
              <a:rPr lang="en-US" b="0" i="0" dirty="0">
                <a:solidFill>
                  <a:srgbClr val="000000"/>
                </a:solidFill>
                <a:effectLst/>
                <a:latin typeface="ui-sans-serif"/>
              </a:rPr>
              <a:t> – The healthcare apps can enhance healthcare delivery with more efficiency, as they can handle multiple queries and requirements at a time.</a:t>
            </a:r>
          </a:p>
          <a:p>
            <a:pPr algn="just">
              <a:buFont typeface="Arial" panose="020B0604020202020204" pitchFamily="34" charset="0"/>
              <a:buChar char="•"/>
            </a:pPr>
            <a:r>
              <a:rPr lang="en-US" b="1" i="0" dirty="0">
                <a:solidFill>
                  <a:srgbClr val="000000"/>
                </a:solidFill>
                <a:effectLst/>
                <a:latin typeface="ui-sans-serif"/>
              </a:rPr>
              <a:t>Reduction in healthcare costs</a:t>
            </a:r>
            <a:r>
              <a:rPr lang="en-US" b="0" i="0" dirty="0">
                <a:solidFill>
                  <a:srgbClr val="000000"/>
                </a:solidFill>
                <a:effectLst/>
                <a:latin typeface="ui-sans-serif"/>
              </a:rPr>
              <a:t> – The cost associated with the healthcare consultation reduced significantly with the usage of apps as the maintenance cost is less.</a:t>
            </a:r>
          </a:p>
          <a:p>
            <a:pPr algn="just">
              <a:buFont typeface="Arial" panose="020B0604020202020204" pitchFamily="34" charset="0"/>
              <a:buChar char="•"/>
            </a:pPr>
            <a:r>
              <a:rPr lang="en-US" b="1" i="0" dirty="0">
                <a:solidFill>
                  <a:srgbClr val="000000"/>
                </a:solidFill>
                <a:effectLst/>
                <a:latin typeface="ui-sans-serif"/>
              </a:rPr>
              <a:t>Easier and convenient to use </a:t>
            </a:r>
            <a:r>
              <a:rPr lang="en-US" b="0" i="0" dirty="0">
                <a:solidFill>
                  <a:srgbClr val="000000"/>
                </a:solidFill>
                <a:effectLst/>
                <a:latin typeface="ui-sans-serif"/>
              </a:rPr>
              <a:t>– The healthcare apps can be accessed at any time of the day. They have a 24/7 patient monitoring system. The mobile health app coupled with wearable devices can monitor vital stats such as blood pressure, heart rate, glucose levels, stress management, sleep quality, nutrition tracking, and several other important activities. Similarly, telemedicine is improving the accessibility of healthcare information to remote areas.</a:t>
            </a:r>
          </a:p>
          <a:p>
            <a:pPr algn="just">
              <a:buFont typeface="Arial" panose="020B0604020202020204" pitchFamily="34" charset="0"/>
              <a:buChar char="•"/>
            </a:pPr>
            <a:r>
              <a:rPr lang="en-US" b="1" i="0" dirty="0">
                <a:solidFill>
                  <a:srgbClr val="000000"/>
                </a:solidFill>
                <a:effectLst/>
                <a:latin typeface="ui-sans-serif"/>
              </a:rPr>
              <a:t>Save time</a:t>
            </a:r>
            <a:r>
              <a:rPr lang="en-US" b="0" i="0" dirty="0">
                <a:solidFill>
                  <a:srgbClr val="000000"/>
                </a:solidFill>
                <a:effectLst/>
                <a:latin typeface="ui-sans-serif"/>
              </a:rPr>
              <a:t> – With the healthcare apps, the patients can easily connect with the healthcare provider for consultation. It saves traveling time between home and the healthcare center and also requires fewer visits as compared to the traditional approach.</a:t>
            </a:r>
          </a:p>
          <a:p>
            <a:pPr algn="just">
              <a:buFont typeface="Arial" panose="020B0604020202020204" pitchFamily="34" charset="0"/>
              <a:buChar char="•"/>
            </a:pPr>
            <a:r>
              <a:rPr lang="en-US" b="1" i="0" dirty="0">
                <a:solidFill>
                  <a:srgbClr val="000000"/>
                </a:solidFill>
                <a:effectLst/>
                <a:latin typeface="ui-sans-serif"/>
              </a:rPr>
              <a:t>Seamless exchange of data</a:t>
            </a:r>
            <a:r>
              <a:rPr lang="en-US" b="0" i="0" dirty="0">
                <a:solidFill>
                  <a:srgbClr val="000000"/>
                </a:solidFill>
                <a:effectLst/>
                <a:latin typeface="ui-sans-serif"/>
              </a:rPr>
              <a:t> – The healthcare apps come with an inbuilt option to share and transfer the health data across the healthcare system. Similarly, the app provides an option for secure and hassle-free process payment options with different gateways for medical bills and subscriptions. If you forget to pay the bills, these apps send notifications as a reminder.</a:t>
            </a:r>
          </a:p>
          <a:p>
            <a:endParaRPr lang="en-IN" dirty="0"/>
          </a:p>
        </p:txBody>
      </p:sp>
    </p:spTree>
    <p:extLst>
      <p:ext uri="{BB962C8B-B14F-4D97-AF65-F5344CB8AC3E}">
        <p14:creationId xmlns:p14="http://schemas.microsoft.com/office/powerpoint/2010/main" val="1637666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C52F-4ED5-8199-791E-E85B5F498CBF}"/>
              </a:ext>
            </a:extLst>
          </p:cNvPr>
          <p:cNvSpPr>
            <a:spLocks noGrp="1"/>
          </p:cNvSpPr>
          <p:nvPr>
            <p:ph type="title"/>
          </p:nvPr>
        </p:nvSpPr>
        <p:spPr/>
        <p:txBody>
          <a:bodyPr/>
          <a:lstStyle/>
          <a:p>
            <a:r>
              <a:rPr lang="en-US" dirty="0"/>
              <a:t>Existing method</a:t>
            </a:r>
            <a:endParaRPr lang="en-IN" dirty="0"/>
          </a:p>
        </p:txBody>
      </p:sp>
      <p:sp>
        <p:nvSpPr>
          <p:cNvPr id="3" name="Content Placeholder 2">
            <a:extLst>
              <a:ext uri="{FF2B5EF4-FFF2-40B4-BE49-F238E27FC236}">
                <a16:creationId xmlns:a16="http://schemas.microsoft.com/office/drawing/2014/main" id="{C7D8A70B-B1B8-315D-E7D0-3791FEBE7BA6}"/>
              </a:ext>
            </a:extLst>
          </p:cNvPr>
          <p:cNvSpPr>
            <a:spLocks noGrp="1"/>
          </p:cNvSpPr>
          <p:nvPr>
            <p:ph idx="1"/>
          </p:nvPr>
        </p:nvSpPr>
        <p:spPr/>
        <p:txBody>
          <a:bodyPr>
            <a:normAutofit lnSpcReduction="10000"/>
          </a:bodyPr>
          <a:lstStyle/>
          <a:p>
            <a:pPr marL="0" indent="0">
              <a:buNone/>
            </a:pPr>
            <a:r>
              <a:rPr lang="en-IN" dirty="0"/>
              <a:t>DISADVANTAGES:</a:t>
            </a:r>
          </a:p>
          <a:p>
            <a:pPr algn="just">
              <a:buFont typeface="Arial" panose="020B0604020202020204" pitchFamily="34" charset="0"/>
              <a:buChar char="•"/>
            </a:pPr>
            <a:r>
              <a:rPr lang="en-US" b="1" i="0" dirty="0">
                <a:solidFill>
                  <a:srgbClr val="000000"/>
                </a:solidFill>
                <a:effectLst/>
                <a:latin typeface="ui-sans-serif"/>
              </a:rPr>
              <a:t>Data Privacy –</a:t>
            </a:r>
            <a:r>
              <a:rPr lang="en-US" b="0" i="0" dirty="0">
                <a:solidFill>
                  <a:srgbClr val="000000"/>
                </a:solidFill>
                <a:effectLst/>
                <a:latin typeface="ui-sans-serif"/>
              </a:rPr>
              <a:t> </a:t>
            </a:r>
            <a:r>
              <a:rPr lang="en-US" b="0" i="0" dirty="0">
                <a:solidFill>
                  <a:srgbClr val="000000"/>
                </a:solidFill>
                <a:effectLst/>
                <a:latin typeface="Times New Roman" panose="02020603050405020304" pitchFamily="18" charset="0"/>
                <a:cs typeface="Times New Roman" panose="02020603050405020304" pitchFamily="18" charset="0"/>
              </a:rPr>
              <a:t>The health apps continuously collect and analyze the health data of the person. The threat to the exposure of personal information by the hacker and sharing with the third parties is a major concern. Over the past few years, in several stances, news and updates regarding the leakage of health data have been reported by the reported apps manufacturers.</a:t>
            </a:r>
          </a:p>
          <a:p>
            <a:pPr algn="just">
              <a:buFont typeface="Arial" panose="020B0604020202020204" pitchFamily="34" charset="0"/>
              <a:buChar char="•"/>
            </a:pPr>
            <a:r>
              <a:rPr lang="en-US" b="1" i="0" dirty="0">
                <a:solidFill>
                  <a:srgbClr val="000000"/>
                </a:solidFill>
                <a:effectLst/>
                <a:latin typeface="ui-sans-serif"/>
              </a:rPr>
              <a:t>Accuracy of Data –</a:t>
            </a:r>
            <a:r>
              <a:rPr lang="en-US" b="0" i="0" dirty="0">
                <a:solidFill>
                  <a:srgbClr val="000000"/>
                </a:solidFill>
                <a:effectLst/>
                <a:latin typeface="ui-sans-serif"/>
              </a:rPr>
              <a:t> </a:t>
            </a:r>
            <a:r>
              <a:rPr lang="en-US" b="0" i="0" dirty="0">
                <a:solidFill>
                  <a:srgbClr val="000000"/>
                </a:solidFill>
                <a:effectLst/>
                <a:latin typeface="Times New Roman" panose="02020603050405020304" pitchFamily="18" charset="0"/>
                <a:cs typeface="Times New Roman" panose="02020603050405020304" pitchFamily="18" charset="0"/>
              </a:rPr>
              <a:t>The information and advice provided by healthcare apps is also an important concern with healthcare apps. Different apps use different methods and tools to analyze health data. In some cases, the data measured with the apps are found to be varying when compared with the MedTech devices.</a:t>
            </a:r>
          </a:p>
          <a:p>
            <a:pPr algn="just"/>
            <a:r>
              <a:rPr lang="en-US" b="0" i="0" dirty="0">
                <a:solidFill>
                  <a:srgbClr val="000000"/>
                </a:solidFill>
                <a:effectLst/>
                <a:latin typeface="Times New Roman" panose="02020603050405020304" pitchFamily="18" charset="0"/>
                <a:cs typeface="Times New Roman" panose="02020603050405020304" pitchFamily="18" charset="0"/>
              </a:rPr>
              <a:t>Internet accessibility, the high cost of smartphones, lack of regulatory approval, high cost for in-purchase applications are some of the other key factors hampering penetration of the mobile health apps in the market, faltering their demand.</a:t>
            </a:r>
          </a:p>
          <a:p>
            <a:pPr marL="0" indent="0">
              <a:buNone/>
            </a:pPr>
            <a:endParaRPr lang="en-IN" dirty="0"/>
          </a:p>
        </p:txBody>
      </p:sp>
    </p:spTree>
    <p:extLst>
      <p:ext uri="{BB962C8B-B14F-4D97-AF65-F5344CB8AC3E}">
        <p14:creationId xmlns:p14="http://schemas.microsoft.com/office/powerpoint/2010/main" val="3011073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rmAutofit lnSpcReduction="10000"/>
          </a:bodyPr>
          <a:lstStyle/>
          <a:p>
            <a:pPr marL="0" indent="0" algn="just">
              <a:buNone/>
            </a:pPr>
            <a:r>
              <a:rPr lang="en-US" b="1" i="0" dirty="0">
                <a:effectLst/>
                <a:latin typeface="Google Sans"/>
              </a:rPr>
              <a:t>User interface</a:t>
            </a:r>
            <a:endParaRPr lang="en-US" b="0" i="0" dirty="0">
              <a:effectLst/>
              <a:latin typeface="Google Sans"/>
            </a:endParaRPr>
          </a:p>
          <a:p>
            <a:pPr algn="just" fontAlgn="ctr">
              <a:buFont typeface="Arial" panose="020B0604020202020204" pitchFamily="34" charset="0"/>
              <a:buChar char="•"/>
            </a:pPr>
            <a:r>
              <a:rPr lang="en-US" b="0" i="0" dirty="0">
                <a:effectLst/>
                <a:latin typeface="Google Sans"/>
              </a:rPr>
              <a:t>Design an intuitive interface with search bars, filters, and interactive maps. Use a consistent design language across platforms. </a:t>
            </a:r>
          </a:p>
          <a:p>
            <a:pPr marL="0" indent="0" algn="just">
              <a:buNone/>
            </a:pPr>
            <a:r>
              <a:rPr lang="en-US" b="1" i="0" dirty="0">
                <a:effectLst/>
                <a:latin typeface="Google Sans"/>
              </a:rPr>
              <a:t>Communication</a:t>
            </a:r>
            <a:endParaRPr lang="en-US" b="0" i="0" dirty="0">
              <a:effectLst/>
              <a:latin typeface="Google Sans"/>
            </a:endParaRPr>
          </a:p>
          <a:p>
            <a:pPr algn="just" fontAlgn="ctr">
              <a:buFont typeface="Arial" panose="020B0604020202020204" pitchFamily="34" charset="0"/>
              <a:buChar char="•"/>
            </a:pPr>
            <a:r>
              <a:rPr lang="en-US" b="0" i="0" dirty="0">
                <a:effectLst/>
                <a:latin typeface="Google Sans"/>
              </a:rPr>
              <a:t>Establish secure communication channels between the frontend and backend components. Use RESTful APIs or </a:t>
            </a:r>
            <a:r>
              <a:rPr lang="en-US" b="0" i="0" dirty="0" err="1">
                <a:effectLst/>
                <a:latin typeface="Google Sans"/>
              </a:rPr>
              <a:t>GraphQL</a:t>
            </a:r>
            <a:r>
              <a:rPr lang="en-US" b="0" i="0" dirty="0">
                <a:effectLst/>
                <a:latin typeface="Google Sans"/>
              </a:rPr>
              <a:t> for data retrieval and manipulation. </a:t>
            </a:r>
          </a:p>
          <a:p>
            <a:pPr marL="0" indent="0" algn="just">
              <a:buNone/>
            </a:pPr>
            <a:r>
              <a:rPr lang="en-US" b="1" i="0" dirty="0">
                <a:effectLst/>
                <a:latin typeface="Google Sans"/>
              </a:rPr>
              <a:t>GPS</a:t>
            </a:r>
            <a:endParaRPr lang="en-US" b="0" i="0" dirty="0">
              <a:effectLst/>
              <a:latin typeface="Google Sans"/>
            </a:endParaRPr>
          </a:p>
          <a:p>
            <a:pPr algn="just" fontAlgn="ctr">
              <a:buFont typeface="Arial" panose="020B0604020202020204" pitchFamily="34" charset="0"/>
              <a:buChar char="•"/>
            </a:pPr>
            <a:r>
              <a:rPr lang="en-US" b="0" i="0" dirty="0">
                <a:effectLst/>
                <a:latin typeface="Google Sans"/>
              </a:rPr>
              <a:t>Use the global positioning system (GPS) on smartphones to calculate the nearest hospitals and provide directions. </a:t>
            </a:r>
          </a:p>
          <a:p>
            <a:pPr marL="0" indent="0" algn="just">
              <a:buNone/>
            </a:pPr>
            <a:r>
              <a:rPr lang="en-US" b="1" i="0" dirty="0">
                <a:effectLst/>
                <a:latin typeface="Google Sans"/>
              </a:rPr>
              <a:t>Hospital demographics</a:t>
            </a:r>
            <a:endParaRPr lang="en-US" b="0" i="0" dirty="0">
              <a:effectLst/>
              <a:latin typeface="Google Sans"/>
            </a:endParaRPr>
          </a:p>
          <a:p>
            <a:pPr algn="just">
              <a:buFont typeface="Arial" panose="020B0604020202020204" pitchFamily="34" charset="0"/>
              <a:buChar char="•"/>
            </a:pPr>
            <a:r>
              <a:rPr lang="en-US" b="0" i="0" dirty="0">
                <a:effectLst/>
                <a:latin typeface="Google Sans"/>
              </a:rPr>
              <a:t>Include hospital demographics, inpatient procedure rates, outpatient calls, hospital quality data, and clinical trials data</a:t>
            </a: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normAutofit fontScale="70000" lnSpcReduction="20000"/>
          </a:bodyPr>
          <a:lstStyle/>
          <a:p>
            <a:pPr marL="457200" indent="-457200">
              <a:buAutoNum type="arabicPeriod"/>
            </a:pPr>
            <a:r>
              <a:rPr lang="en-US" b="1" i="0" dirty="0">
                <a:effectLst/>
                <a:latin typeface="Arial" panose="020B0604020202020204" pitchFamily="34" charset="0"/>
              </a:rPr>
              <a:t>User-Friendly Interface</a:t>
            </a:r>
            <a:r>
              <a:rPr lang="en-US" b="0" i="0" dirty="0">
                <a:effectLst/>
                <a:latin typeface="Arial" panose="020B0604020202020204" pitchFamily="34" charset="0"/>
              </a:rPr>
              <a:t>:</a:t>
            </a:r>
            <a:br>
              <a:rPr lang="en-US" dirty="0"/>
            </a:br>
            <a:r>
              <a:rPr lang="en-US" b="0" i="0" dirty="0">
                <a:effectLst/>
                <a:latin typeface="Arial" panose="020B0604020202020204" pitchFamily="34" charset="0"/>
              </a:rPr>
              <a:t>• </a:t>
            </a:r>
            <a:r>
              <a:rPr lang="en-US" b="1" i="0" dirty="0">
                <a:effectLst/>
                <a:latin typeface="Arial" panose="020B0604020202020204" pitchFamily="34" charset="0"/>
              </a:rPr>
              <a:t>Objective: </a:t>
            </a:r>
            <a:r>
              <a:rPr lang="en-US" b="0" i="0" dirty="0">
                <a:effectLst/>
                <a:latin typeface="Arial" panose="020B0604020202020204" pitchFamily="34" charset="0"/>
              </a:rPr>
              <a:t>Design and develop an intuitive and user-friendly interface that allows users to easily navigate and search for hospitals.</a:t>
            </a:r>
            <a:br>
              <a:rPr lang="en-US" dirty="0"/>
            </a:br>
            <a:r>
              <a:rPr lang="en-US" b="0" i="0" dirty="0">
                <a:effectLst/>
                <a:latin typeface="Arial" panose="020B0604020202020204" pitchFamily="34" charset="0"/>
              </a:rPr>
              <a:t>• </a:t>
            </a:r>
            <a:r>
              <a:rPr lang="en-US" b="1" i="0" dirty="0">
                <a:effectLst/>
                <a:latin typeface="Arial" panose="020B0604020202020204" pitchFamily="34" charset="0"/>
              </a:rPr>
              <a:t>Key Results: </a:t>
            </a:r>
            <a:r>
              <a:rPr lang="en-US" b="0" i="0" dirty="0">
                <a:effectLst/>
                <a:latin typeface="Arial" panose="020B0604020202020204" pitchFamily="34" charset="0"/>
              </a:rPr>
              <a:t>Achieve a high user satisfaction rating in usability testing, minimize the number of steps required to find information,</a:t>
            </a:r>
            <a:br>
              <a:rPr lang="en-US" dirty="0"/>
            </a:br>
            <a:r>
              <a:rPr lang="en-US" b="0" i="0" dirty="0">
                <a:effectLst/>
                <a:latin typeface="Arial" panose="020B0604020202020204" pitchFamily="34" charset="0"/>
              </a:rPr>
              <a:t>and implement clear and concise design elements.</a:t>
            </a:r>
          </a:p>
          <a:p>
            <a:pPr marL="457200" indent="-457200">
              <a:buAutoNum type="arabicPeriod"/>
            </a:pPr>
            <a:br>
              <a:rPr lang="en-US" dirty="0"/>
            </a:br>
            <a:r>
              <a:rPr lang="en-US" b="0" i="0" dirty="0">
                <a:effectLst/>
                <a:latin typeface="Arial" panose="020B0604020202020204" pitchFamily="34" charset="0"/>
              </a:rPr>
              <a:t>2. </a:t>
            </a:r>
            <a:r>
              <a:rPr lang="en-US" b="1" i="0" dirty="0">
                <a:effectLst/>
                <a:latin typeface="Arial" panose="020B0604020202020204" pitchFamily="34" charset="0"/>
              </a:rPr>
              <a:t>Accurate Hospital Data:</a:t>
            </a:r>
            <a:br>
              <a:rPr lang="en-US" dirty="0"/>
            </a:br>
            <a:r>
              <a:rPr lang="en-US" b="0" i="0" dirty="0">
                <a:effectLst/>
                <a:latin typeface="Arial" panose="020B0604020202020204" pitchFamily="34" charset="0"/>
              </a:rPr>
              <a:t>• </a:t>
            </a:r>
            <a:r>
              <a:rPr lang="en-US" b="1" i="0" dirty="0">
                <a:effectLst/>
                <a:latin typeface="Arial" panose="020B0604020202020204" pitchFamily="34" charset="0"/>
              </a:rPr>
              <a:t>Objective: </a:t>
            </a:r>
            <a:r>
              <a:rPr lang="en-US" b="0" i="0" dirty="0">
                <a:effectLst/>
                <a:latin typeface="Arial" panose="020B0604020202020204" pitchFamily="34" charset="0"/>
              </a:rPr>
              <a:t>Ensure that the app provides up-to-date and accurate information about hospitals, including their locations, contact</a:t>
            </a:r>
            <a:br>
              <a:rPr lang="en-US" dirty="0"/>
            </a:br>
            <a:r>
              <a:rPr lang="en-US" b="0" i="0" dirty="0">
                <a:effectLst/>
                <a:latin typeface="Arial" panose="020B0604020202020204" pitchFamily="34" charset="0"/>
              </a:rPr>
              <a:t>details, services offered, and any other relevant data.</a:t>
            </a:r>
            <a:br>
              <a:rPr lang="en-US" dirty="0"/>
            </a:br>
            <a:r>
              <a:rPr lang="en-US" b="0" i="0" dirty="0">
                <a:effectLst/>
                <a:latin typeface="Arial" panose="020B0604020202020204" pitchFamily="34" charset="0"/>
              </a:rPr>
              <a:t>• </a:t>
            </a:r>
            <a:r>
              <a:rPr lang="en-US" b="1" i="0" dirty="0">
                <a:effectLst/>
                <a:latin typeface="Arial" panose="020B0604020202020204" pitchFamily="34" charset="0"/>
              </a:rPr>
              <a:t>Key Results: </a:t>
            </a:r>
            <a:r>
              <a:rPr lang="en-US" b="0" i="0" dirty="0">
                <a:effectLst/>
                <a:latin typeface="Arial" panose="020B0604020202020204" pitchFamily="34" charset="0"/>
              </a:rPr>
              <a:t>Regularly update the database, establish a system for verifying and validating information, and incorporate user</a:t>
            </a:r>
            <a:br>
              <a:rPr lang="en-US" dirty="0"/>
            </a:br>
            <a:r>
              <a:rPr lang="en-US" b="0" i="0" dirty="0">
                <a:effectLst/>
                <a:latin typeface="Arial" panose="020B0604020202020204" pitchFamily="34" charset="0"/>
              </a:rPr>
              <a:t>feedback mechanisms to correct any inaccuracies.</a:t>
            </a:r>
          </a:p>
          <a:p>
            <a:pPr marL="457200" indent="-457200">
              <a:buAutoNum type="arabicPeriod"/>
            </a:pPr>
            <a:br>
              <a:rPr lang="en-US" dirty="0"/>
            </a:br>
            <a:r>
              <a:rPr lang="en-US" b="0" i="0" dirty="0">
                <a:effectLst/>
                <a:latin typeface="Arial" panose="020B0604020202020204" pitchFamily="34" charset="0"/>
              </a:rPr>
              <a:t>3. </a:t>
            </a:r>
            <a:r>
              <a:rPr lang="en-US" b="1" i="0" dirty="0">
                <a:effectLst/>
                <a:latin typeface="Arial" panose="020B0604020202020204" pitchFamily="34" charset="0"/>
              </a:rPr>
              <a:t>Geolocation Services:</a:t>
            </a:r>
            <a:br>
              <a:rPr lang="en-US" dirty="0"/>
            </a:br>
            <a:r>
              <a:rPr lang="en-US" b="0" i="0" dirty="0">
                <a:effectLst/>
                <a:latin typeface="Arial" panose="020B0604020202020204" pitchFamily="34" charset="0"/>
              </a:rPr>
              <a:t>• </a:t>
            </a:r>
            <a:r>
              <a:rPr lang="en-US" b="1" i="0" dirty="0">
                <a:effectLst/>
                <a:latin typeface="Arial" panose="020B0604020202020204" pitchFamily="34" charset="0"/>
              </a:rPr>
              <a:t>Objective: </a:t>
            </a:r>
            <a:r>
              <a:rPr lang="en-US" b="0" i="0" dirty="0">
                <a:effectLst/>
                <a:latin typeface="Arial" panose="020B0604020202020204" pitchFamily="34" charset="0"/>
              </a:rPr>
              <a:t>Implement geolocation features to enable users to find nearby hospitals based on their current location.</a:t>
            </a:r>
            <a:br>
              <a:rPr lang="en-US" dirty="0"/>
            </a:br>
            <a:r>
              <a:rPr lang="en-US" b="1" i="0" dirty="0">
                <a:effectLst/>
                <a:latin typeface="Arial" panose="020B0604020202020204" pitchFamily="34" charset="0"/>
              </a:rPr>
              <a:t>• Key Results</a:t>
            </a:r>
            <a:r>
              <a:rPr lang="en-US" b="0" i="0" dirty="0">
                <a:effectLst/>
                <a:latin typeface="Arial" panose="020B0604020202020204" pitchFamily="34" charset="0"/>
              </a:rPr>
              <a:t>: Achieve accurate geolocation functionality, integrate with mapping services, and optimize for both mobile and web</a:t>
            </a:r>
            <a:br>
              <a:rPr lang="en-US" dirty="0"/>
            </a:br>
            <a:r>
              <a:rPr lang="en-US" b="0" i="0" dirty="0">
                <a:effectLst/>
                <a:latin typeface="Arial" panose="020B0604020202020204" pitchFamily="34" charset="0"/>
              </a:rPr>
              <a:t>platforms.</a:t>
            </a:r>
            <a:endParaRPr lang="en-GB" dirty="0"/>
          </a:p>
        </p:txBody>
      </p:sp>
    </p:spTree>
    <p:extLst>
      <p:ext uri="{BB962C8B-B14F-4D97-AF65-F5344CB8AC3E}">
        <p14:creationId xmlns:p14="http://schemas.microsoft.com/office/powerpoint/2010/main" val="2666729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A281-2DBC-6E79-8BAE-C1146C57A21B}"/>
              </a:ext>
            </a:extLst>
          </p:cNvPr>
          <p:cNvSpPr>
            <a:spLocks noGrp="1"/>
          </p:cNvSpPr>
          <p:nvPr>
            <p:ph type="title"/>
          </p:nvPr>
        </p:nvSpPr>
        <p:spPr/>
        <p:txBody>
          <a:bodyPr/>
          <a:lstStyle/>
          <a:p>
            <a:r>
              <a:rPr lang="en-GB" dirty="0"/>
              <a:t>Objectives</a:t>
            </a:r>
            <a:endParaRPr lang="en-IN" dirty="0"/>
          </a:p>
        </p:txBody>
      </p:sp>
      <p:sp>
        <p:nvSpPr>
          <p:cNvPr id="3" name="Content Placeholder 2">
            <a:extLst>
              <a:ext uri="{FF2B5EF4-FFF2-40B4-BE49-F238E27FC236}">
                <a16:creationId xmlns:a16="http://schemas.microsoft.com/office/drawing/2014/main" id="{86A65A8D-7BB4-55B7-66B6-372DA22DB14A}"/>
              </a:ext>
            </a:extLst>
          </p:cNvPr>
          <p:cNvSpPr>
            <a:spLocks noGrp="1"/>
          </p:cNvSpPr>
          <p:nvPr>
            <p:ph idx="1"/>
          </p:nvPr>
        </p:nvSpPr>
        <p:spPr/>
        <p:txBody>
          <a:bodyPr>
            <a:normAutofit fontScale="77500" lnSpcReduction="20000"/>
          </a:bodyPr>
          <a:lstStyle/>
          <a:p>
            <a:pPr marL="0" indent="0" rtl="0">
              <a:buNone/>
            </a:pPr>
            <a:r>
              <a:rPr lang="en-US" b="0" i="0" dirty="0">
                <a:solidFill>
                  <a:srgbClr val="000000"/>
                </a:solidFill>
                <a:effectLst/>
                <a:latin typeface="Arial" panose="020B0604020202020204" pitchFamily="34" charset="0"/>
              </a:rPr>
              <a:t>4. </a:t>
            </a:r>
            <a:r>
              <a:rPr lang="en-US" b="1" i="0" dirty="0">
                <a:solidFill>
                  <a:srgbClr val="000000"/>
                </a:solidFill>
                <a:effectLst/>
                <a:latin typeface="Arial" panose="020B0604020202020204" pitchFamily="34" charset="0"/>
              </a:rPr>
              <a:t>Search and Filtering Options:</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 Objective: Provide users with robust search and filtering options to refine their hospital search based on criteria such as </a:t>
            </a:r>
            <a:r>
              <a:rPr lang="en-US" b="0" i="0" dirty="0" err="1">
                <a:solidFill>
                  <a:srgbClr val="000000"/>
                </a:solidFill>
                <a:effectLst/>
                <a:latin typeface="Arial" panose="020B0604020202020204" pitchFamily="34" charset="0"/>
              </a:rPr>
              <a:t>specialty,facilities</a:t>
            </a:r>
            <a:r>
              <a:rPr lang="en-US" b="0" i="0" dirty="0">
                <a:solidFill>
                  <a:srgbClr val="000000"/>
                </a:solidFill>
                <a:effectLst/>
                <a:latin typeface="Arial" panose="020B0604020202020204" pitchFamily="34" charset="0"/>
              </a:rPr>
              <a:t>, ratings, and distance.</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 </a:t>
            </a:r>
            <a:r>
              <a:rPr lang="en-US" b="1" i="0" dirty="0">
                <a:solidFill>
                  <a:srgbClr val="000000"/>
                </a:solidFill>
                <a:effectLst/>
                <a:latin typeface="Arial" panose="020B0604020202020204" pitchFamily="34" charset="0"/>
              </a:rPr>
              <a:t>Key Results</a:t>
            </a:r>
            <a:r>
              <a:rPr lang="en-US" b="0" i="0" dirty="0">
                <a:solidFill>
                  <a:srgbClr val="000000"/>
                </a:solidFill>
                <a:effectLst/>
                <a:latin typeface="Arial" panose="020B0604020202020204" pitchFamily="34" charset="0"/>
              </a:rPr>
              <a:t>: Implement advanced search algorithms, allow users to filter results based on specific criteria, and optimize </a:t>
            </a:r>
            <a:r>
              <a:rPr lang="en-US" b="0" i="0" dirty="0" err="1">
                <a:solidFill>
                  <a:srgbClr val="000000"/>
                </a:solidFill>
                <a:effectLst/>
                <a:latin typeface="Arial" panose="020B0604020202020204" pitchFamily="34" charset="0"/>
              </a:rPr>
              <a:t>searchspeed</a:t>
            </a:r>
            <a:r>
              <a:rPr lang="en-US" b="0" i="0" dirty="0">
                <a:solidFill>
                  <a:srgbClr val="000000"/>
                </a:solidFill>
                <a:effectLst/>
                <a:latin typeface="Arial" panose="020B0604020202020204" pitchFamily="34" charset="0"/>
              </a:rPr>
              <a:t> and accuracy.</a:t>
            </a:r>
          </a:p>
          <a:p>
            <a:pPr marL="0" indent="0" rtl="0">
              <a:buNone/>
            </a:pP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5. </a:t>
            </a:r>
            <a:r>
              <a:rPr lang="en-US" b="1" i="0" dirty="0">
                <a:solidFill>
                  <a:srgbClr val="000000"/>
                </a:solidFill>
                <a:effectLst/>
                <a:latin typeface="Arial" panose="020B0604020202020204" pitchFamily="34" charset="0"/>
              </a:rPr>
              <a:t>Integration with Emergency Services</a:t>
            </a:r>
            <a:r>
              <a:rPr lang="en-US" b="0" i="0" dirty="0">
                <a:solidFill>
                  <a:srgbClr val="000000"/>
                </a:solidFill>
                <a:effectLst/>
                <a:latin typeface="Arial" panose="020B0604020202020204" pitchFamily="34" charset="0"/>
              </a:rPr>
              <a:t>:</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 Objective: Integrate emergency service information, such as contact numbers and emergency room wait times, to enhance the app’s usefulness during critical </a:t>
            </a:r>
            <a:r>
              <a:rPr lang="en-US" b="0" i="0" dirty="0" err="1">
                <a:solidFill>
                  <a:srgbClr val="000000"/>
                </a:solidFill>
                <a:effectLst/>
                <a:latin typeface="Arial" panose="020B0604020202020204" pitchFamily="34" charset="0"/>
              </a:rPr>
              <a:t>situations.International</a:t>
            </a:r>
            <a:r>
              <a:rPr lang="en-US" b="0" i="0" dirty="0">
                <a:solidFill>
                  <a:srgbClr val="000000"/>
                </a:solidFill>
                <a:effectLst/>
                <a:latin typeface="Arial" panose="020B0604020202020204" pitchFamily="34" charset="0"/>
              </a:rPr>
              <a:t> Journal of Research Publication and Reviews, Vol 5, no 1, pp 1904-1910 January 2024 1906</a:t>
            </a:r>
            <a:br>
              <a:rPr lang="en-US" b="0" i="0" dirty="0">
                <a:solidFill>
                  <a:srgbClr val="000000"/>
                </a:solidFill>
                <a:effectLst/>
                <a:latin typeface="Arial" panose="020B0604020202020204" pitchFamily="34" charset="0"/>
              </a:rPr>
            </a:br>
            <a:r>
              <a:rPr lang="en-US" b="1" i="0" dirty="0">
                <a:solidFill>
                  <a:srgbClr val="000000"/>
                </a:solidFill>
                <a:effectLst/>
                <a:latin typeface="Arial" panose="020B0604020202020204" pitchFamily="34" charset="0"/>
              </a:rPr>
              <a:t>• Key Results: </a:t>
            </a:r>
            <a:r>
              <a:rPr lang="en-US" b="0" i="0" dirty="0">
                <a:solidFill>
                  <a:srgbClr val="000000"/>
                </a:solidFill>
                <a:effectLst/>
                <a:latin typeface="Arial" panose="020B0604020202020204" pitchFamily="34" charset="0"/>
              </a:rPr>
              <a:t>Establish partnerships with emergency services, implement real-time updates for emergency room wait times, </a:t>
            </a:r>
            <a:r>
              <a:rPr lang="en-US" b="0" i="0" dirty="0" err="1">
                <a:solidFill>
                  <a:srgbClr val="000000"/>
                </a:solidFill>
                <a:effectLst/>
                <a:latin typeface="Arial" panose="020B0604020202020204" pitchFamily="34" charset="0"/>
              </a:rPr>
              <a:t>andprovide</a:t>
            </a:r>
            <a:r>
              <a:rPr lang="en-US" b="0" i="0" dirty="0">
                <a:solidFill>
                  <a:srgbClr val="000000"/>
                </a:solidFill>
                <a:effectLst/>
                <a:latin typeface="Arial" panose="020B0604020202020204" pitchFamily="34" charset="0"/>
              </a:rPr>
              <a:t> clear instructions for users in emergency situations.</a:t>
            </a:r>
          </a:p>
          <a:p>
            <a:pPr marL="0" indent="0" rtl="0">
              <a:buNone/>
            </a:pP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6</a:t>
            </a:r>
            <a:r>
              <a:rPr lang="en-US" b="1" i="0" dirty="0">
                <a:solidFill>
                  <a:srgbClr val="000000"/>
                </a:solidFill>
                <a:effectLst/>
                <a:latin typeface="Arial" panose="020B0604020202020204" pitchFamily="34" charset="0"/>
              </a:rPr>
              <a:t>. User Reviews and Ratings</a:t>
            </a:r>
            <a:r>
              <a:rPr lang="en-US" b="0" i="0" dirty="0">
                <a:solidFill>
                  <a:srgbClr val="000000"/>
                </a:solidFill>
                <a:effectLst/>
                <a:latin typeface="Arial" panose="020B0604020202020204" pitchFamily="34" charset="0"/>
              </a:rPr>
              <a:t>:</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 Objective: Enable users to leave reviews and ratings for hospitals, fostering a community-driven feedback system.</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 </a:t>
            </a:r>
            <a:r>
              <a:rPr lang="en-US" b="1" i="0" dirty="0">
                <a:solidFill>
                  <a:srgbClr val="000000"/>
                </a:solidFill>
                <a:effectLst/>
                <a:latin typeface="Arial" panose="020B0604020202020204" pitchFamily="34" charset="0"/>
              </a:rPr>
              <a:t>Key Results</a:t>
            </a:r>
            <a:r>
              <a:rPr lang="en-US" b="0" i="0" dirty="0">
                <a:solidFill>
                  <a:srgbClr val="000000"/>
                </a:solidFill>
                <a:effectLst/>
                <a:latin typeface="Arial" panose="020B0604020202020204" pitchFamily="34" charset="0"/>
              </a:rPr>
              <a:t>: Implement a secure and moderated review system, encourage user engagement, and respond promptly to </a:t>
            </a:r>
            <a:r>
              <a:rPr lang="en-US" b="0" i="0" dirty="0" err="1">
                <a:solidFill>
                  <a:srgbClr val="000000"/>
                </a:solidFill>
                <a:effectLst/>
                <a:latin typeface="Arial" panose="020B0604020202020204" pitchFamily="34" charset="0"/>
              </a:rPr>
              <a:t>userfeedback</a:t>
            </a:r>
            <a:endParaRPr lang="en-US" b="0" i="0" dirty="0">
              <a:solidFill>
                <a:srgbClr val="000000"/>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787865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a:xfrm>
            <a:off x="812800" y="1153161"/>
            <a:ext cx="10668000" cy="4952997"/>
          </a:xfrm>
        </p:spPr>
        <p:txBody>
          <a:bodyPr>
            <a:normAutofit fontScale="70000" lnSpcReduction="20000"/>
          </a:bodyPr>
          <a:lstStyle/>
          <a:p>
            <a:r>
              <a:rPr lang="en-US" b="1" i="0" dirty="0">
                <a:effectLst/>
                <a:latin typeface="Times New Roman" panose="02020603050405020304" pitchFamily="18" charset="0"/>
              </a:rPr>
              <a:t>MODULES</a:t>
            </a:r>
            <a:br>
              <a:rPr lang="en-US" b="0" i="0" dirty="0">
                <a:effectLst/>
                <a:latin typeface="Arial" panose="020B0604020202020204" pitchFamily="34" charset="0"/>
              </a:rPr>
            </a:br>
            <a:r>
              <a:rPr lang="en-US" b="1" i="0" dirty="0">
                <a:effectLst/>
                <a:latin typeface="Times New Roman" panose="02020603050405020304" pitchFamily="18" charset="0"/>
              </a:rPr>
              <a:t>Registration: </a:t>
            </a:r>
            <a:r>
              <a:rPr lang="en-US" b="0" i="0" dirty="0">
                <a:effectLst/>
                <a:latin typeface="Times New Roman" panose="02020603050405020304" pitchFamily="18" charset="0"/>
                <a:cs typeface="Times New Roman" panose="02020603050405020304" pitchFamily="18" charset="0"/>
              </a:rPr>
              <a:t>process of signing up or enrolling in the app. During the registration process, users typically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provide necessary information, such as their email address, username, password, and sometime additional</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details depending on the platform's requirements. The purpose of registration is to create a unique user</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account that allows individuals to access the features and functionalities of the app or service. The registration</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process may include steps like email verification or mobile number verification to ensure the authenticity of the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user's information. Once registered, users can log in using their credentials to access personalized content,</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settings, and other features within the application.</a:t>
            </a:r>
            <a:br>
              <a:rPr lang="en-US" b="0" i="0" dirty="0">
                <a:effectLst/>
                <a:latin typeface="Times New Roman" panose="02020603050405020304" pitchFamily="18" charset="0"/>
                <a:cs typeface="Times New Roman" panose="02020603050405020304" pitchFamily="18" charset="0"/>
              </a:rPr>
            </a:br>
            <a:r>
              <a:rPr lang="en-US" b="1" i="0" dirty="0">
                <a:effectLst/>
                <a:latin typeface="Times New Roman" panose="02020603050405020304" pitchFamily="18" charset="0"/>
              </a:rPr>
              <a:t>Login: </a:t>
            </a:r>
            <a:r>
              <a:rPr lang="en-US" b="0" i="0" dirty="0">
                <a:effectLst/>
                <a:latin typeface="Times New Roman" panose="02020603050405020304" pitchFamily="18" charset="0"/>
                <a:cs typeface="Times New Roman" panose="02020603050405020304" pitchFamily="18" charset="0"/>
              </a:rPr>
              <a:t>it allows the user to log in by using a username and password. Login is the process by which users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access an application, website, or service using their previously created credentials, typically a combination of a</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username and password. Once users have successfully registered and created an account, they can log in to gain</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access to their personalized features, data, and settings. The login process is a security measure designed to</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ensure that only authorized users can access their accounts and the associated information. The login</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functionality is a fundamental aspect of user authentication, providing a secure and personalized experience for</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users while safeguarding their accounts from unauthorized access.</a:t>
            </a:r>
            <a:br>
              <a:rPr lang="en-US" b="0" i="0" dirty="0">
                <a:effectLst/>
                <a:latin typeface="Times New Roman" panose="02020603050405020304" pitchFamily="18" charset="0"/>
                <a:cs typeface="Times New Roman" panose="02020603050405020304" pitchFamily="18" charset="0"/>
              </a:rPr>
            </a:br>
            <a:r>
              <a:rPr lang="en-US" b="1" i="0" dirty="0">
                <a:effectLst/>
                <a:latin typeface="Times New Roman" panose="02020603050405020304" pitchFamily="18" charset="0"/>
              </a:rPr>
              <a:t>Treatment for the Disease required: </a:t>
            </a:r>
            <a:r>
              <a:rPr lang="en-US" b="0" i="0" dirty="0">
                <a:effectLst/>
                <a:latin typeface="Times New Roman" panose="02020603050405020304" pitchFamily="18" charset="0"/>
                <a:cs typeface="Times New Roman" panose="02020603050405020304" pitchFamily="18" charset="0"/>
              </a:rPr>
              <a:t>search for the treatment specialist for the required disease. Start by</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understanding the nature of the disease or medical condition you are dealing with. This includes gathering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information about symptoms, potential causes, and the recommended course of treatment. Your PCP will</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evaluate your symptoms, conduct necessary tests, and determine if a specialist is required. If a specialist is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needed, your PCP will provide a referral to an appropriate healthcare professional Check if there are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professional medical associations or societies related to the disease.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5" name="Content Placeholder 4" descr="A diagram of a medical procedure&#10;&#10;Description automatically generated">
            <a:extLst>
              <a:ext uri="{FF2B5EF4-FFF2-40B4-BE49-F238E27FC236}">
                <a16:creationId xmlns:a16="http://schemas.microsoft.com/office/drawing/2014/main" id="{A849EC1A-024C-54CB-496A-BDB853B79C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482" y="1083456"/>
            <a:ext cx="7877737" cy="4691087"/>
          </a:xfrm>
        </p:spPr>
      </p:pic>
    </p:spTree>
    <p:extLst>
      <p:ext uri="{BB962C8B-B14F-4D97-AF65-F5344CB8AC3E}">
        <p14:creationId xmlns:p14="http://schemas.microsoft.com/office/powerpoint/2010/main" val="593898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Android Studio</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HTML &amp; HTML5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CSS</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Google Maps API</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Node.js</a:t>
            </a: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sp>
        <p:nvSpPr>
          <p:cNvPr id="3" name="Content Placeholder 2"/>
          <p:cNvSpPr>
            <a:spLocks noGrp="1"/>
          </p:cNvSpPr>
          <p:nvPr>
            <p:ph idx="1"/>
          </p:nvPr>
        </p:nvSpPr>
        <p:spPr/>
        <p:txBody>
          <a:bodyPr/>
          <a:lstStyle/>
          <a:p>
            <a:pPr marL="495300" lvl="0" indent="-342900" algn="just">
              <a:lnSpc>
                <a:spcPct val="200000"/>
              </a:lnSpc>
              <a:spcBef>
                <a:spcPts val="0"/>
              </a:spcBef>
              <a:buSzPct val="100000"/>
              <a:buFont typeface="Wingdings" panose="05000000000000000000" pitchFamily="2" charset="2"/>
              <a:buChar char="§"/>
            </a:pPr>
            <a:r>
              <a:rPr lang="en-US" sz="2400" dirty="0">
                <a:latin typeface="Cambria" panose="02040503050406030204" pitchFamily="18" charset="0"/>
                <a:ea typeface="Cambria" panose="02040503050406030204" pitchFamily="18" charset="0"/>
              </a:rPr>
              <a:t>Research and Analysis: September 2024 -October 2024 </a:t>
            </a:r>
          </a:p>
          <a:p>
            <a:pPr marL="495300" lvl="0" indent="-342900" algn="just">
              <a:lnSpc>
                <a:spcPct val="200000"/>
              </a:lnSpc>
              <a:spcBef>
                <a:spcPts val="0"/>
              </a:spcBef>
              <a:buSzPct val="100000"/>
              <a:buFont typeface="Wingdings" panose="05000000000000000000" pitchFamily="2" charset="2"/>
              <a:buChar char="§"/>
            </a:pPr>
            <a:r>
              <a:rPr lang="en-US" sz="2400" dirty="0">
                <a:latin typeface="Cambria" panose="02040503050406030204" pitchFamily="18" charset="0"/>
                <a:ea typeface="Cambria" panose="02040503050406030204" pitchFamily="18" charset="0"/>
              </a:rPr>
              <a:t>Development of App(</a:t>
            </a:r>
            <a:r>
              <a:rPr lang="en-US" sz="2400" dirty="0" err="1">
                <a:latin typeface="Cambria" panose="02040503050406030204" pitchFamily="18" charset="0"/>
                <a:ea typeface="Cambria" panose="02040503050406030204" pitchFamily="18" charset="0"/>
              </a:rPr>
              <a:t>Frontend&amp;Backend</a:t>
            </a:r>
            <a:r>
              <a:rPr lang="en-US" sz="2400" dirty="0">
                <a:latin typeface="Cambria" panose="02040503050406030204" pitchFamily="18" charset="0"/>
                <a:ea typeface="Cambria" panose="02040503050406030204" pitchFamily="18" charset="0"/>
              </a:rPr>
              <a:t>): October 2024 - November 2024</a:t>
            </a:r>
          </a:p>
          <a:p>
            <a:pPr marL="495300" lvl="0" indent="-342900" algn="just">
              <a:lnSpc>
                <a:spcPct val="200000"/>
              </a:lnSpc>
              <a:spcBef>
                <a:spcPts val="0"/>
              </a:spcBef>
              <a:buSzPct val="100000"/>
              <a:buFont typeface="Wingdings" panose="05000000000000000000" pitchFamily="2" charset="2"/>
              <a:buChar char="§"/>
            </a:pPr>
            <a:r>
              <a:rPr lang="en-US" sz="2400" dirty="0">
                <a:latin typeface="Cambria" panose="02040503050406030204" pitchFamily="18" charset="0"/>
                <a:ea typeface="Cambria" panose="02040503050406030204" pitchFamily="18" charset="0"/>
              </a:rPr>
              <a:t>Testing and Refinement: November 2024</a:t>
            </a:r>
          </a:p>
          <a:p>
            <a:pPr marL="495300" lvl="0" indent="-342900" algn="just">
              <a:lnSpc>
                <a:spcPct val="200000"/>
              </a:lnSpc>
              <a:spcBef>
                <a:spcPts val="0"/>
              </a:spcBef>
              <a:buSzPct val="100000"/>
              <a:buFont typeface="Wingdings" panose="05000000000000000000" pitchFamily="2" charset="2"/>
              <a:buChar char="§"/>
            </a:pPr>
            <a:r>
              <a:rPr lang="en-US" sz="2400" dirty="0">
                <a:latin typeface="Cambria" panose="02040503050406030204" pitchFamily="18" charset="0"/>
                <a:ea typeface="Cambria" panose="02040503050406030204" pitchFamily="18" charset="0"/>
              </a:rPr>
              <a:t>Final Report and Presentation: December 2024</a:t>
            </a:r>
          </a:p>
          <a:p>
            <a:pPr marL="342900" lvl="0" indent="-190500" algn="just">
              <a:lnSpc>
                <a:spcPct val="200000"/>
              </a:lnSpc>
              <a:spcBef>
                <a:spcPts val="0"/>
              </a:spcBef>
              <a:buSzPct val="100000"/>
              <a:buNone/>
            </a:pPr>
            <a:r>
              <a:rPr lang="en-US" sz="2400" dirty="0">
                <a:latin typeface="Cambria" panose="02040503050406030204" pitchFamily="18" charset="0"/>
                <a:ea typeface="Cambria" panose="02040503050406030204" pitchFamily="18" charset="0"/>
              </a:rPr>
              <a:t>   ( it will take around 3 to 4 months)</a:t>
            </a:r>
          </a:p>
          <a:p>
            <a:endParaRPr lang="en-GB" dirty="0"/>
          </a:p>
        </p:txBody>
      </p:sp>
    </p:spTree>
    <p:extLst>
      <p:ext uri="{BB962C8B-B14F-4D97-AF65-F5344CB8AC3E}">
        <p14:creationId xmlns:p14="http://schemas.microsoft.com/office/powerpoint/2010/main" val="3677332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a:t>1. Improved Healthcare Accessibility</a:t>
            </a:r>
          </a:p>
          <a:p>
            <a:pPr algn="just">
              <a:buFont typeface="Arial" panose="020B0604020202020204" pitchFamily="34" charset="0"/>
              <a:buChar char="•"/>
            </a:pPr>
            <a:r>
              <a:rPr lang="en-US" b="1" dirty="0"/>
              <a:t>Quick and Easy Access</a:t>
            </a:r>
            <a:r>
              <a:rPr lang="en-US" dirty="0"/>
              <a:t>: Users can locate hospitals, clinics, or specialized healthcare facilities near them based on their current location or specified preferences.</a:t>
            </a:r>
          </a:p>
          <a:p>
            <a:pPr algn="just">
              <a:buFont typeface="Arial" panose="020B0604020202020204" pitchFamily="34" charset="0"/>
              <a:buChar char="•"/>
            </a:pPr>
            <a:r>
              <a:rPr lang="en-US" b="1" dirty="0"/>
              <a:t>24/7 Availability</a:t>
            </a:r>
            <a:r>
              <a:rPr lang="en-US" dirty="0"/>
              <a:t>: A hospital finder app can provide continuous access to healthcare facility information, allowing users to find hospitals at any time, including during emergencies.</a:t>
            </a:r>
          </a:p>
          <a:p>
            <a:pPr marL="0" indent="0" algn="just">
              <a:buNone/>
            </a:pPr>
            <a:r>
              <a:rPr lang="en-US" b="1" dirty="0"/>
              <a:t>2. Real-Time Information</a:t>
            </a:r>
          </a:p>
          <a:p>
            <a:pPr algn="just">
              <a:buFont typeface="Arial" panose="020B0604020202020204" pitchFamily="34" charset="0"/>
              <a:buChar char="•"/>
            </a:pPr>
            <a:r>
              <a:rPr lang="en-US" b="1" dirty="0"/>
              <a:t>Live Hospital Status</a:t>
            </a:r>
            <a:r>
              <a:rPr lang="en-US" dirty="0"/>
              <a:t>: The app could provide real-time data about hospital availability, including information such as:</a:t>
            </a:r>
          </a:p>
          <a:p>
            <a:pPr marL="742950" lvl="1" indent="-285750" algn="just">
              <a:buFont typeface="Arial" panose="020B0604020202020204" pitchFamily="34" charset="0"/>
              <a:buChar char="•"/>
            </a:pPr>
            <a:r>
              <a:rPr lang="en-US" dirty="0"/>
              <a:t>Bed occupancy</a:t>
            </a:r>
          </a:p>
          <a:p>
            <a:pPr marL="742950" lvl="1" indent="-285750" algn="just">
              <a:buFont typeface="Arial" panose="020B0604020202020204" pitchFamily="34" charset="0"/>
              <a:buChar char="•"/>
            </a:pPr>
            <a:r>
              <a:rPr lang="en-US" dirty="0"/>
              <a:t>Emergency room wait times</a:t>
            </a:r>
          </a:p>
          <a:p>
            <a:pPr marL="742950" lvl="1" indent="-285750" algn="just">
              <a:buFont typeface="Arial" panose="020B0604020202020204" pitchFamily="34" charset="0"/>
              <a:buChar char="•"/>
            </a:pPr>
            <a:r>
              <a:rPr lang="en-US" dirty="0"/>
              <a:t>Specialized equipment or doctors available (e.g., MRI, cardiologists)</a:t>
            </a:r>
          </a:p>
          <a:p>
            <a:pPr algn="just">
              <a:buFont typeface="Arial" panose="020B0604020202020204" pitchFamily="34" charset="0"/>
              <a:buChar char="•"/>
            </a:pPr>
            <a:r>
              <a:rPr lang="en-US" b="1" dirty="0"/>
              <a:t>Reduced Overcrowding</a:t>
            </a:r>
            <a:r>
              <a:rPr lang="en-US" dirty="0"/>
              <a:t>: By providing real-time information on hospital capacity, the app can direct users to less crowded hospitals, reducing the strain on busy healthcare facilities.</a:t>
            </a:r>
          </a:p>
          <a:p>
            <a:endParaRPr lang="en-GB" dirty="0"/>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CAAC21DA-C9D4-F8F5-FE3F-9591B0860E42}"/>
                  </a:ext>
                </a:extLst>
              </p:cNvPr>
              <p:cNvGraphicFramePr>
                <a:graphicFrameLocks noChangeAspect="1"/>
              </p:cNvGraphicFramePr>
              <p:nvPr>
                <p:extLst>
                  <p:ext uri="{D42A27DB-BD31-4B8C-83A1-F6EECF244321}">
                    <p14:modId xmlns:p14="http://schemas.microsoft.com/office/powerpoint/2010/main" val="1995791551"/>
                  </p:ext>
                </p:extLst>
              </p:nvPr>
            </p:nvGraphicFramePr>
            <p:xfrm>
              <a:off x="-3505200" y="676910"/>
              <a:ext cx="3048000" cy="1714500"/>
            </p:xfrm>
            <a:graphic>
              <a:graphicData uri="http://schemas.microsoft.com/office/powerpoint/2016/slidezoom">
                <pslz:sldZm>
                  <pslz:sldZmObj sldId="263" cId="1923928155">
                    <pslz:zmPr id="{B3895460-AE36-4B56-ADDF-F4D1FC0B3B92}"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CAAC21DA-C9D4-F8F5-FE3F-9591B0860E42}"/>
                  </a:ext>
                </a:extLst>
              </p:cNvPr>
              <p:cNvPicPr>
                <a:picLocks noGrp="1" noRot="1" noChangeAspect="1" noMove="1" noResize="1" noEditPoints="1" noAdjustHandles="1" noChangeArrowheads="1" noChangeShapeType="1"/>
              </p:cNvPicPr>
              <p:nvPr/>
            </p:nvPicPr>
            <p:blipFill>
              <a:blip r:embed="rId4"/>
              <a:stretch>
                <a:fillRect/>
              </a:stretch>
            </p:blipFill>
            <p:spPr>
              <a:xfrm>
                <a:off x="-3505200" y="676910"/>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923928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D93F-305D-003F-4BE5-B3B0AF2A156F}"/>
              </a:ext>
            </a:extLst>
          </p:cNvPr>
          <p:cNvSpPr>
            <a:spLocks noGrp="1"/>
          </p:cNvSpPr>
          <p:nvPr>
            <p:ph type="title"/>
          </p:nvPr>
        </p:nvSpPr>
        <p:spPr/>
        <p:txBody>
          <a:bodyPr/>
          <a:lstStyle/>
          <a:p>
            <a:r>
              <a:rPr lang="en-GB" dirty="0"/>
              <a:t>Expected Outcomes</a:t>
            </a:r>
            <a:endParaRPr lang="en-IN" dirty="0"/>
          </a:p>
        </p:txBody>
      </p:sp>
      <p:sp>
        <p:nvSpPr>
          <p:cNvPr id="3" name="Content Placeholder 2">
            <a:extLst>
              <a:ext uri="{FF2B5EF4-FFF2-40B4-BE49-F238E27FC236}">
                <a16:creationId xmlns:a16="http://schemas.microsoft.com/office/drawing/2014/main" id="{90F9BC6E-B562-2CC4-3435-68368237927E}"/>
              </a:ext>
            </a:extLst>
          </p:cNvPr>
          <p:cNvSpPr>
            <a:spLocks noGrp="1"/>
          </p:cNvSpPr>
          <p:nvPr>
            <p:ph idx="1"/>
          </p:nvPr>
        </p:nvSpPr>
        <p:spPr/>
        <p:txBody>
          <a:bodyPr>
            <a:normAutofit fontScale="92500" lnSpcReduction="10000"/>
          </a:bodyPr>
          <a:lstStyle/>
          <a:p>
            <a:pPr marL="0" indent="0" algn="just">
              <a:buNone/>
            </a:pPr>
            <a:r>
              <a:rPr lang="en-US" b="1" dirty="0"/>
              <a:t>3. Optimized Emergency Response</a:t>
            </a:r>
          </a:p>
          <a:p>
            <a:pPr algn="just">
              <a:buFont typeface="Arial" panose="020B0604020202020204" pitchFamily="34" charset="0"/>
              <a:buChar char="•"/>
            </a:pPr>
            <a:r>
              <a:rPr lang="en-US" b="1" dirty="0"/>
              <a:t>Reduced Response Time</a:t>
            </a:r>
            <a:r>
              <a:rPr lang="en-US" dirty="0"/>
              <a:t>: In emergency situations, users can quickly find the nearest hospital with emergency services, reducing the time spent searching for appropriate care.</a:t>
            </a:r>
          </a:p>
          <a:p>
            <a:pPr algn="just">
              <a:buFont typeface="Arial" panose="020B0604020202020204" pitchFamily="34" charset="0"/>
              <a:buChar char="•"/>
            </a:pPr>
            <a:r>
              <a:rPr lang="en-US" b="1" dirty="0"/>
              <a:t>Integration with Ambulance Services</a:t>
            </a:r>
            <a:r>
              <a:rPr lang="en-US" dirty="0"/>
              <a:t>: The app can integrate with local emergency services to send location-based alerts, or dispatch an ambulance, further optimizing the response process.</a:t>
            </a:r>
          </a:p>
          <a:p>
            <a:pPr marL="0" indent="0" algn="just">
              <a:buNone/>
            </a:pPr>
            <a:r>
              <a:rPr lang="en-US" b="1" dirty="0"/>
              <a:t>4. Better Resource Management for Hospitals</a:t>
            </a:r>
          </a:p>
          <a:p>
            <a:pPr algn="just">
              <a:buFont typeface="Arial" panose="020B0604020202020204" pitchFamily="34" charset="0"/>
              <a:buChar char="•"/>
            </a:pPr>
            <a:r>
              <a:rPr lang="en-US" b="1" dirty="0"/>
              <a:t>Efficient Patient Distribution</a:t>
            </a:r>
            <a:r>
              <a:rPr lang="en-US" dirty="0"/>
              <a:t>: Hospitals can manage incoming patient flow more effectively by sharing real-time capacity information, reducing bottlenecks in emergency rooms and overcrowding.</a:t>
            </a:r>
          </a:p>
          <a:p>
            <a:pPr algn="just">
              <a:buFont typeface="Arial" panose="020B0604020202020204" pitchFamily="34" charset="0"/>
              <a:buChar char="•"/>
            </a:pPr>
            <a:r>
              <a:rPr lang="en-US" b="1" dirty="0"/>
              <a:t>Data-Driven Insights</a:t>
            </a:r>
            <a:r>
              <a:rPr lang="en-US" dirty="0"/>
              <a:t>: Hospitals can leverage user data for better resource allocation and to identify trends in patient needs (e.g., higher demand for certain specialists or services).</a:t>
            </a:r>
          </a:p>
          <a:p>
            <a:endParaRPr lang="en-IN" dirty="0"/>
          </a:p>
        </p:txBody>
      </p:sp>
    </p:spTree>
    <p:extLst>
      <p:ext uri="{BB962C8B-B14F-4D97-AF65-F5344CB8AC3E}">
        <p14:creationId xmlns:p14="http://schemas.microsoft.com/office/powerpoint/2010/main" val="60302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a:bodyPr>
          <a:lstStyle/>
          <a:p>
            <a:pPr algn="just"/>
            <a:r>
              <a:rPr lang="en-US" dirty="0"/>
              <a:t>A </a:t>
            </a:r>
            <a:r>
              <a:rPr lang="en-US" b="1" dirty="0"/>
              <a:t>hospital finder app</a:t>
            </a:r>
            <a:r>
              <a:rPr lang="en-US" dirty="0"/>
              <a:t> </a:t>
            </a:r>
            <a:r>
              <a:rPr lang="en-US" sz="1800" dirty="0">
                <a:latin typeface="Times New Roman" panose="02020603050405020304" pitchFamily="18" charset="0"/>
                <a:cs typeface="Times New Roman" panose="02020603050405020304" pitchFamily="18" charset="0"/>
              </a:rPr>
              <a:t>holds immense potential to revolutionize healthcare accessibility by bridging the gap between patients and medical facilities. Its core benefits include providing users with quick and easy access to nearby hospitals, real-time information on hospital capacity and services, and optimized emergency responses. By integrating location-based services, real-time data, and personalized recommendations, the app enhances decision-making for patients, leading to faster and more efficient access to care, especially in emergency situations.</a:t>
            </a:r>
          </a:p>
          <a:p>
            <a:pPr algn="just"/>
            <a:r>
              <a:rPr lang="en-US" sz="1800" dirty="0">
                <a:latin typeface="Times New Roman" panose="02020603050405020304" pitchFamily="18" charset="0"/>
                <a:cs typeface="Times New Roman" panose="02020603050405020304" pitchFamily="18" charset="0"/>
              </a:rPr>
              <a:t>Moreover, hospitals benefit from better resource management, as real-time capacity updates help balance patient flow and prevent overcrowding. The app fosters transparency through patient reviews and ratings, empowering users to make informed healthcare choices. Integrations with telemedicine services, ambulance dispatch, and preventive care alerts further extend the app's utility, making it a comprehensive tool for both routine healthcare needs and urgent care situations.</a:t>
            </a:r>
          </a:p>
          <a:p>
            <a:endParaRPr lang="en-GB" dirty="0"/>
          </a:p>
        </p:txBody>
      </p:sp>
    </p:spTree>
    <p:extLst>
      <p:ext uri="{BB962C8B-B14F-4D97-AF65-F5344CB8AC3E}">
        <p14:creationId xmlns:p14="http://schemas.microsoft.com/office/powerpoint/2010/main" val="2238571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r>
              <a:rPr lang="en-US" b="1" dirty="0">
                <a:solidFill>
                  <a:schemeClr val="tx1"/>
                </a:solidFill>
                <a:latin typeface="Cambria" panose="02040503050406030204" pitchFamily="18" charset="0"/>
                <a:ea typeface="Cambria" panose="02040503050406030204" pitchFamily="18" charset="0"/>
                <a:hlinkClick r:id="rId3"/>
              </a:rPr>
              <a:t>https://github.com/Mahesh-219/hopsitalfinder</a:t>
            </a: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C1C40-FDED-3438-B905-60EB1DE079B8}"/>
              </a:ext>
            </a:extLst>
          </p:cNvPr>
          <p:cNvSpPr>
            <a:spLocks noGrp="1"/>
          </p:cNvSpPr>
          <p:nvPr>
            <p:ph type="title"/>
          </p:nvPr>
        </p:nvSpPr>
        <p:spPr/>
        <p:txBody>
          <a:bodyPr/>
          <a:lstStyle/>
          <a:p>
            <a:r>
              <a:rPr lang="en-GB" dirty="0"/>
              <a:t>References</a:t>
            </a:r>
            <a:endParaRPr lang="en-IN" dirty="0"/>
          </a:p>
        </p:txBody>
      </p:sp>
      <p:sp>
        <p:nvSpPr>
          <p:cNvPr id="3" name="Content Placeholder 2">
            <a:extLst>
              <a:ext uri="{FF2B5EF4-FFF2-40B4-BE49-F238E27FC236}">
                <a16:creationId xmlns:a16="http://schemas.microsoft.com/office/drawing/2014/main" id="{BC1009E1-7047-1571-5368-6B7AE014C710}"/>
              </a:ext>
            </a:extLst>
          </p:cNvPr>
          <p:cNvSpPr>
            <a:spLocks noGrp="1"/>
          </p:cNvSpPr>
          <p:nvPr>
            <p:ph idx="1"/>
          </p:nvPr>
        </p:nvSpPr>
        <p:spPr/>
        <p:txBody>
          <a:bodyPr>
            <a:normAutofit fontScale="62500" lnSpcReduction="20000"/>
          </a:bodyPr>
          <a:lstStyle/>
          <a:p>
            <a:r>
              <a:rPr lang="en-US" dirty="0"/>
              <a:t>6. Agarwal, S., &amp; LeFevre, A. E. (2017). Finding healthcare at your fingertips: A case study of apps addressing healthcare needs in India. In Proceedings of the Ninth International Conference on Information and Communication Technologies and Development (ICTD). </a:t>
            </a:r>
          </a:p>
          <a:p>
            <a:r>
              <a:rPr lang="en-US" dirty="0"/>
              <a:t>7. Hossain, M. S., &amp; Ahmed, K. (2019). Telemedicine system using Hospital Finder app. In 2019 3rd International Conference on Electrical, Computer &amp; Telecommunication Engineering (ICECTE). </a:t>
            </a:r>
          </a:p>
          <a:p>
            <a:r>
              <a:rPr lang="en-US" dirty="0"/>
              <a:t>8. </a:t>
            </a:r>
            <a:r>
              <a:rPr lang="en-US" dirty="0" err="1"/>
              <a:t>Lasierra</a:t>
            </a:r>
            <a:r>
              <a:rPr lang="en-US" dirty="0"/>
              <a:t>, N., </a:t>
            </a:r>
            <a:r>
              <a:rPr lang="en-US" dirty="0" err="1"/>
              <a:t>Alesanco</a:t>
            </a:r>
            <a:r>
              <a:rPr lang="en-US" dirty="0"/>
              <a:t>, Á., Guillén, S., García-Sáez, G., &amp; García-Gómez, J. M. (2014). A survey on mobile phone tools for Hospital Finder. Journal of medical systems, 38(1), 1-9. </a:t>
            </a:r>
          </a:p>
          <a:p>
            <a:r>
              <a:rPr lang="en-US" dirty="0"/>
              <a:t>9. </a:t>
            </a:r>
            <a:r>
              <a:rPr lang="en-US" dirty="0" err="1"/>
              <a:t>Lloréns</a:t>
            </a:r>
            <a:r>
              <a:rPr lang="en-US" dirty="0"/>
              <a:t>-Montes, F. J., Ruiz-Moreno, A., &amp; del Barrio-García, S. (2015). Hospital Finder applications and service quality: Influencing patient loyalty and recommendation. Computers in Human Behavior, 48, 542-549.</a:t>
            </a:r>
          </a:p>
          <a:p>
            <a:r>
              <a:rPr lang="en-US" dirty="0"/>
              <a:t> 10. Mehta, N., Pandit, A., &amp; Shukla, S. (2016). Hospital Finder mobile applications: a systematic review. International Journal of Pharmacy &amp; Technology, 8(3), 16065-16073.</a:t>
            </a:r>
          </a:p>
          <a:p>
            <a:r>
              <a:rPr lang="en-US" dirty="0"/>
              <a:t> 11. National Institute of Standards and Technology (NIST). (2020). Digital Identity Guidelines: Authentication and Lifecycle Management. Retrieved from https://nvlpubs.nist.gov/nistpubs/SpecialPublications/NIST.SP.800-63b.pdf </a:t>
            </a:r>
          </a:p>
          <a:p>
            <a:endParaRPr lang="en-US" dirty="0"/>
          </a:p>
          <a:p>
            <a:r>
              <a:rPr lang="en-US" dirty="0"/>
              <a:t>12. World Health Organization (WHO). (2019). WHO Guideline: Recommendations on Digital Interventions for Health System Strengthening. Retrieved from </a:t>
            </a:r>
            <a:r>
              <a:rPr lang="en-US" dirty="0">
                <a:hlinkClick r:id="rId2"/>
              </a:rPr>
              <a:t>https://www.who.int/reproductivehealth/publications/digital-interventions-health-system-strengthening/en/</a:t>
            </a:r>
            <a:endParaRPr lang="en-US" dirty="0"/>
          </a:p>
          <a:p>
            <a:r>
              <a:rPr lang="en-US" dirty="0"/>
              <a:t> 13. Xue, Y., Liang, H., &amp; Aung, Z. (2018). An empirical investigation of factors affecting mobile healthcare service adoption in China. Telemedicine and e-Health, 24(5), 373-383.</a:t>
            </a:r>
            <a:endParaRPr lang="en-IN" dirty="0"/>
          </a:p>
        </p:txBody>
      </p:sp>
    </p:spTree>
    <p:extLst>
      <p:ext uri="{BB962C8B-B14F-4D97-AF65-F5344CB8AC3E}">
        <p14:creationId xmlns:p14="http://schemas.microsoft.com/office/powerpoint/2010/main" val="545642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lnSpcReduction="10000"/>
          </a:bodyPr>
          <a:lstStyle/>
          <a:p>
            <a:pPr marL="609600" lvl="1" indent="0">
              <a:spcBef>
                <a:spcPts val="0"/>
              </a:spcBef>
              <a:buNone/>
            </a:pPr>
            <a:r>
              <a:rPr lang="en-US" dirty="0">
                <a:latin typeface="Cambria" panose="02040503050406030204" pitchFamily="18" charset="0"/>
                <a:ea typeface="Cambria" panose="02040503050406030204" pitchFamily="18" charset="0"/>
              </a:rPr>
              <a:t>1.Agarwal, S., &amp; LeFevre, A. E. (2017). Finding healthcare at your fingertips: A case study of apps addressing healthcare needs in India. In Proceedings of the Ninth International Conference on Information and Communication Technologies and Development (ICTD). </a:t>
            </a:r>
          </a:p>
          <a:p>
            <a:pPr marL="609600" lvl="1" indent="0">
              <a:spcBef>
                <a:spcPts val="0"/>
              </a:spcBef>
              <a:buNone/>
            </a:pPr>
            <a:r>
              <a:rPr lang="en-US" dirty="0">
                <a:latin typeface="Cambria" panose="02040503050406030204" pitchFamily="18" charset="0"/>
                <a:ea typeface="Cambria" panose="02040503050406030204" pitchFamily="18" charset="0"/>
              </a:rPr>
              <a:t>2. Hossain, M. S., &amp; Ahmed, K. (2019). Telemedicine system using Hospital Finder app. In 2019 3rd International Conference on Electrical, Computer &amp; Telecommunication Engineering (ICECTE).</a:t>
            </a:r>
          </a:p>
          <a:p>
            <a:pPr marL="609600" lvl="1" indent="0">
              <a:spcBef>
                <a:spcPts val="0"/>
              </a:spcBef>
              <a:buNone/>
            </a:pPr>
            <a:r>
              <a:rPr lang="en-IN" dirty="0">
                <a:latin typeface="Cambria" panose="02040503050406030204" pitchFamily="18" charset="0"/>
                <a:ea typeface="Cambria" panose="02040503050406030204" pitchFamily="18" charset="0"/>
              </a:rPr>
              <a:t>3. Mehta, N., Pandit, A., &amp; Shukla, S. (2016). Hospital Finder mobile applications: a systematic review. International Journal of Pharmacy &amp; Technology, 8(3), 16065-16073.</a:t>
            </a:r>
          </a:p>
          <a:p>
            <a:pPr marL="609600" lvl="1" indent="0">
              <a:spcBef>
                <a:spcPts val="0"/>
              </a:spcBef>
              <a:buNone/>
            </a:pPr>
            <a:r>
              <a:rPr lang="en-IN" dirty="0">
                <a:latin typeface="Cambria" panose="02040503050406030204" pitchFamily="18" charset="0"/>
                <a:ea typeface="Cambria" panose="02040503050406030204" pitchFamily="18" charset="0"/>
              </a:rPr>
              <a:t>4. National Institute of Standards and Technology (NIST). (2020). Digital Identity Guidelines: Authentication and Lifecycle Management. Retrieved from </a:t>
            </a:r>
            <a:r>
              <a:rPr lang="en-IN" dirty="0">
                <a:latin typeface="Cambria" panose="02040503050406030204" pitchFamily="18" charset="0"/>
                <a:ea typeface="Cambria" panose="02040503050406030204" pitchFamily="18" charset="0"/>
                <a:hlinkClick r:id="rId2"/>
              </a:rPr>
              <a:t>https://nvlpubs.nist.gov/nistpubs/SpecialPublications/NIST.SP.800-63b.pdf</a:t>
            </a:r>
            <a:endParaRPr lang="en-IN" dirty="0">
              <a:latin typeface="Cambria" panose="02040503050406030204" pitchFamily="18" charset="0"/>
              <a:ea typeface="Cambria" panose="02040503050406030204" pitchFamily="18" charset="0"/>
            </a:endParaRPr>
          </a:p>
          <a:p>
            <a:pPr marL="609600" lvl="1" indent="0">
              <a:spcBef>
                <a:spcPts val="0"/>
              </a:spcBef>
              <a:buNone/>
            </a:pPr>
            <a:r>
              <a:rPr lang="en-IN" dirty="0">
                <a:latin typeface="Cambria" panose="02040503050406030204" pitchFamily="18" charset="0"/>
                <a:ea typeface="Cambria" panose="02040503050406030204" pitchFamily="18" charset="0"/>
              </a:rPr>
              <a:t>5.</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Llorens</a:t>
            </a:r>
            <a:r>
              <a:rPr lang="en-US" dirty="0">
                <a:latin typeface="Cambria" panose="02040503050406030204" pitchFamily="18" charset="0"/>
                <a:ea typeface="Cambria" panose="02040503050406030204" pitchFamily="18" charset="0"/>
              </a:rPr>
              <a:t>-Montes, F. J., Ruiz-Moreno, A., &amp; del Barrio-García, S. (2015). Hospital Finder applications and service quality: Influencing patient loyalty and recommendation. Computers in Human Behavior, 48, 542-549</a:t>
            </a:r>
          </a:p>
          <a:p>
            <a:pPr marL="152400" indent="0">
              <a:spcBef>
                <a:spcPts val="0"/>
              </a:spcBef>
              <a:buNone/>
            </a:pPr>
            <a:r>
              <a:rPr lang="en-US" dirty="0">
                <a:latin typeface="Cambria" panose="02040503050406030204" pitchFamily="18" charset="0"/>
                <a:ea typeface="Cambria" panose="02040503050406030204" pitchFamily="18" charset="0"/>
                <a:hlinkClick r:id="rId3"/>
              </a:rPr>
              <a:t>https://www.indeed.com/career-advice/career-development/how-to-cite-a-research-paper</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descr="A mobile phone with a globe and a city in the background&#10;&#10;Description automatically generated">
            <a:extLst>
              <a:ext uri="{FF2B5EF4-FFF2-40B4-BE49-F238E27FC236}">
                <a16:creationId xmlns:a16="http://schemas.microsoft.com/office/drawing/2014/main" id="{9F75B1C0-7F3D-C5AB-2C5E-EE81E39AF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143001"/>
            <a:ext cx="10668000" cy="4952997"/>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2303</TotalTime>
  <Words>6643</Words>
  <Application>Microsoft Office PowerPoint</Application>
  <PresentationFormat>Widescreen</PresentationFormat>
  <Paragraphs>238</Paragraphs>
  <Slides>34</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Arial</vt:lpstr>
      <vt:lpstr>Bookman Old Style</vt:lpstr>
      <vt:lpstr>Calibri</vt:lpstr>
      <vt:lpstr>Cambria</vt:lpstr>
      <vt:lpstr>Courier New</vt:lpstr>
      <vt:lpstr>Google Sans</vt:lpstr>
      <vt:lpstr>spectral</vt:lpstr>
      <vt:lpstr>Times New Roman</vt:lpstr>
      <vt:lpstr>ui-sans-serif</vt:lpstr>
      <vt:lpstr>Verdana</vt:lpstr>
      <vt:lpstr>Wingdings</vt:lpstr>
      <vt:lpstr>Bioinformatics</vt:lpstr>
      <vt:lpstr>HOSPITAL FINDER</vt:lpstr>
      <vt:lpstr>CONTENT</vt:lpstr>
      <vt:lpstr>CONTENT </vt:lpstr>
      <vt:lpstr>ABSTRACT</vt:lpstr>
      <vt:lpstr>PROBLEM STATEMENT</vt:lpstr>
      <vt:lpstr>Introduction</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Comparison on Literature Review</vt:lpstr>
      <vt:lpstr>Existing method</vt:lpstr>
      <vt:lpstr>Existing method</vt:lpstr>
      <vt:lpstr>Proposed Method</vt:lpstr>
      <vt:lpstr>Objectives</vt:lpstr>
      <vt:lpstr>Objectives</vt:lpstr>
      <vt:lpstr>Methodology/Modules</vt:lpstr>
      <vt:lpstr>Architecture</vt:lpstr>
      <vt:lpstr>Hardware/software components</vt:lpstr>
      <vt:lpstr>Timeline of Project</vt:lpstr>
      <vt:lpstr>Expected Outcomes</vt:lpstr>
      <vt:lpstr>Expected Outcomes</vt:lpstr>
      <vt:lpstr>Conclusion</vt:lpstr>
      <vt:lpstr>Github Link</vt:lpstr>
      <vt:lpstr>References</vt:lpstr>
      <vt:lpstr>References</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Vadde Vinod</cp:lastModifiedBy>
  <cp:revision>24</cp:revision>
  <dcterms:created xsi:type="dcterms:W3CDTF">2023-03-16T03:26:27Z</dcterms:created>
  <dcterms:modified xsi:type="dcterms:W3CDTF">2025-01-08T13:30:06Z</dcterms:modified>
</cp:coreProperties>
</file>