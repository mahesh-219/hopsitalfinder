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81" r:id="rId3"/>
    <p:sldId id="282" r:id="rId4"/>
    <p:sldId id="294" r:id="rId5"/>
    <p:sldId id="257" r:id="rId6"/>
    <p:sldId id="291" r:id="rId7"/>
    <p:sldId id="276" r:id="rId8"/>
    <p:sldId id="278" r:id="rId9"/>
    <p:sldId id="259" r:id="rId10"/>
    <p:sldId id="260" r:id="rId11"/>
    <p:sldId id="279" r:id="rId12"/>
    <p:sldId id="261" r:id="rId13"/>
    <p:sldId id="275" r:id="rId14"/>
    <p:sldId id="277" r:id="rId15"/>
    <p:sldId id="262" r:id="rId16"/>
    <p:sldId id="263" r:id="rId17"/>
    <p:sldId id="280" r:id="rId18"/>
    <p:sldId id="264" r:id="rId19"/>
    <p:sldId id="268" r:id="rId20"/>
    <p:sldId id="265" r:id="rId21"/>
    <p:sldId id="274" r:id="rId22"/>
    <p:sldId id="26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63" d="100"/>
          <a:sy n="63" d="100"/>
        </p:scale>
        <p:origin x="78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8AD288-E15B-4271-B55D-DDB1B43DC8BE}" type="datetimeFigureOut">
              <a:rPr lang="en-IN" smtClean="0"/>
              <a:t>08-01-2025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6EC8B7-7AE0-485D-8CE3-A3E29B97A364}" type="slidenum">
              <a:rPr lang="en-IN" smtClean="0"/>
              <a:t>‹#›</a:t>
            </a:fld>
            <a:endParaRPr lang="en-IN"/>
          </a:p>
        </p:txBody>
      </p:sp>
    </p:spTree>
    <p:extLst>
      <p:ext uri="{BB962C8B-B14F-4D97-AF65-F5344CB8AC3E}">
        <p14:creationId xmlns:p14="http://schemas.microsoft.com/office/powerpoint/2010/main" val="1146367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0877" y="1322386"/>
            <a:ext cx="10363200" cy="1470025"/>
          </a:xfrm>
        </p:spPr>
        <p:txBody>
          <a:bodyPr/>
          <a:lstStyle>
            <a:lvl1pPr>
              <a:defRPr>
                <a:solidFill>
                  <a:schemeClr val="tx2">
                    <a:lumMod val="75000"/>
                  </a:schemeClr>
                </a:solidFill>
              </a:defRPr>
            </a:lvl1pPr>
          </a:lstStyle>
          <a:p>
            <a:r>
              <a:rPr lang="en-US"/>
              <a:t>Click to edit Master title style</a:t>
            </a:r>
          </a:p>
        </p:txBody>
      </p:sp>
      <p:sp>
        <p:nvSpPr>
          <p:cNvPr id="3" name="Subtitle 2"/>
          <p:cNvSpPr>
            <a:spLocks noGrp="1"/>
          </p:cNvSpPr>
          <p:nvPr>
            <p:ph type="subTitle" idx="1"/>
          </p:nvPr>
        </p:nvSpPr>
        <p:spPr>
          <a:xfrm>
            <a:off x="2032000" y="3326641"/>
            <a:ext cx="8534400" cy="1752600"/>
          </a:xfrm>
        </p:spPr>
        <p:txBody>
          <a:bodyPr>
            <a:normAutofit/>
          </a:bodyPr>
          <a:lstStyle>
            <a:lvl1pPr marL="0" indent="0" algn="ctr">
              <a:buNone/>
              <a:defRPr sz="2000" b="1">
                <a:solidFill>
                  <a:schemeClr val="tx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94CE30-7D40-4BC0-BA0D-56C992D5B4BD}" type="datetimeFigureOut">
              <a:rPr lang="en-GB" smtClean="0"/>
              <a:t>08/01/2025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167997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08/01/2025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190914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94CE30-7D40-4BC0-BA0D-56C992D5B4BD}" type="datetimeFigureOut">
              <a:rPr lang="en-GB" smtClean="0"/>
              <a:t>08/01/2025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406418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94CE30-7D40-4BC0-BA0D-56C992D5B4BD}" type="datetimeFigureOut">
              <a:rPr lang="en-GB" smtClean="0"/>
              <a:t>08/01/2025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738786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9368" y="304800"/>
            <a:ext cx="10668000" cy="487362"/>
          </a:xfrm>
        </p:spPr>
        <p:txBody>
          <a:bodyPr/>
          <a:lstStyle>
            <a:lvl1pPr>
              <a:defRPr>
                <a:solidFill>
                  <a:srgbClr val="FF0000"/>
                </a:solidFill>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94CE30-7D40-4BC0-BA0D-56C992D5B4BD}" type="datetimeFigureOut">
              <a:rPr lang="en-GB" smtClean="0"/>
              <a:t>08/01/2025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0163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60800" y="274638"/>
            <a:ext cx="7721600" cy="48736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4994CE30-7D40-4BC0-BA0D-56C992D5B4BD}" type="datetimeFigureOut">
              <a:rPr lang="en-GB" smtClean="0"/>
              <a:t>08/01/2025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BCD3F7E-62B3-4FB9-95CE-D1B0CC271B85}" type="slidenum">
              <a:rPr lang="en-GB" smtClean="0"/>
              <a:t>‹#›</a:t>
            </a:fld>
            <a:endParaRPr lang="en-GB"/>
          </a:p>
        </p:txBody>
      </p:sp>
      <p:pic>
        <p:nvPicPr>
          <p:cNvPr id="2051" name="Picture 3" descr="C:\Users\AMMU\Desktop\Bord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5209" y="139874"/>
            <a:ext cx="9686793" cy="698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022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94CE30-7D40-4BC0-BA0D-56C992D5B4BD}" type="datetimeFigureOut">
              <a:rPr lang="en-GB" smtClean="0"/>
              <a:t>08/01/2025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24971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08/01/2025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521564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08/01/2025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874595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08/01/2025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96261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08/01/2025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7830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274638"/>
            <a:ext cx="10668000" cy="48736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12800" y="1143001"/>
            <a:ext cx="10668000" cy="49529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latin typeface="Verdana" pitchFamily="34" charset="0"/>
                <a:ea typeface="Verdana" pitchFamily="34" charset="0"/>
                <a:cs typeface="Verdana" pitchFamily="34" charset="0"/>
              </a:defRPr>
            </a:lvl1pPr>
          </a:lstStyle>
          <a:p>
            <a:fld id="{4994CE30-7D40-4BC0-BA0D-56C992D5B4BD}" type="datetimeFigureOut">
              <a:rPr lang="en-GB" smtClean="0"/>
              <a:t>08/01/2025</a:t>
            </a:fld>
            <a:endParaRPr lang="en-GB"/>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latin typeface="Verdana" pitchFamily="34" charset="0"/>
                <a:ea typeface="Verdana" pitchFamily="34" charset="0"/>
                <a:cs typeface="Verdana" pitchFamily="34" charset="0"/>
              </a:defRPr>
            </a:lvl1pPr>
          </a:lstStyle>
          <a:p>
            <a:endParaRPr lang="en-GB"/>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latin typeface="Verdana" pitchFamily="34" charset="0"/>
                <a:ea typeface="Verdana" pitchFamily="34" charset="0"/>
                <a:cs typeface="Verdana" pitchFamily="34" charset="0"/>
              </a:defRPr>
            </a:lvl1pPr>
          </a:lstStyle>
          <a:p>
            <a:fld id="{1BCD3F7E-62B3-4FB9-95CE-D1B0CC271B85}" type="slidenum">
              <a:rPr lang="en-GB" smtClean="0"/>
              <a:t>‹#›</a:t>
            </a:fld>
            <a:endParaRPr lang="en-GB"/>
          </a:p>
        </p:txBody>
      </p:sp>
      <p:sp>
        <p:nvSpPr>
          <p:cNvPr id="8" name="Line 6">
            <a:extLst>
              <a:ext uri="{FF2B5EF4-FFF2-40B4-BE49-F238E27FC236}">
                <a16:creationId xmlns:a16="http://schemas.microsoft.com/office/drawing/2014/main" id="{3F0EAE8F-8B4C-436F-93E6-DF250930561C}"/>
              </a:ext>
            </a:extLst>
          </p:cNvPr>
          <p:cNvSpPr>
            <a:spLocks noChangeShapeType="1"/>
          </p:cNvSpPr>
          <p:nvPr/>
        </p:nvSpPr>
        <p:spPr bwMode="auto">
          <a:xfrm>
            <a:off x="812800" y="914400"/>
            <a:ext cx="10668000" cy="0"/>
          </a:xfrm>
          <a:prstGeom prst="line">
            <a:avLst/>
          </a:prstGeom>
          <a:noFill/>
          <a:ln w="57150" cmpd="thickThin">
            <a:solidFill>
              <a:schemeClr val="tx1"/>
            </a:solidFill>
            <a:round/>
            <a:headEnd/>
            <a:tailEnd/>
          </a:ln>
          <a:effectLst/>
        </p:spPr>
        <p:txBody>
          <a:bodyPr/>
          <a:lstStyle/>
          <a:p>
            <a:pPr>
              <a:defRPr/>
            </a:pPr>
            <a:endParaRPr lang="en-IN" sz="1800"/>
          </a:p>
        </p:txBody>
      </p:sp>
      <p:pic>
        <p:nvPicPr>
          <p:cNvPr id="7" name="Picture 7">
            <a:extLst>
              <a:ext uri="{FF2B5EF4-FFF2-40B4-BE49-F238E27FC236}">
                <a16:creationId xmlns:a16="http://schemas.microsoft.com/office/drawing/2014/main" id="{F5847C07-33FE-4652-A9FD-CD40E657B784}"/>
              </a:ext>
            </a:extLst>
          </p:cNvPr>
          <p:cNvPicPr>
            <a:picLocks noChangeAspect="1"/>
          </p:cNvPicPr>
          <p:nvPr/>
        </p:nvPicPr>
        <p:blipFill rotWithShape="1">
          <a:blip r:embed="rId13">
            <a:extLst>
              <a:ext uri="{28A0092B-C50C-407E-A947-70E740481C1C}">
                <a14:useLocalDpi xmlns:a14="http://schemas.microsoft.com/office/drawing/2010/main" val="0"/>
              </a:ext>
            </a:extLst>
          </a:blip>
          <a:srcRect b="18045"/>
          <a:stretch/>
        </p:blipFill>
        <p:spPr bwMode="auto">
          <a:xfrm>
            <a:off x="0" y="5991366"/>
            <a:ext cx="12192000" cy="866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48401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b="1" kern="1200">
          <a:solidFill>
            <a:srgbClr val="FF0000"/>
          </a:solidFill>
          <a:latin typeface="Verdana" pitchFamily="34" charset="0"/>
          <a:ea typeface="Verdana" pitchFamily="34" charset="0"/>
          <a:cs typeface="Verdana"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Mahesh-219/hopsitalfinder"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indeed.com/career-advice/career-development/how-to-cite-a-research-paper" TargetMode="External"/><Relationship Id="rId2" Type="http://schemas.openxmlformats.org/officeDocument/2006/relationships/hyperlink" Target="https://nvlpubs.nist.gov/nistpubs/SpecialPublications/NIST.SP.800-63b.pdf"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dirty="0">
                <a:solidFill>
                  <a:schemeClr val="tx1"/>
                </a:solidFill>
                <a:latin typeface="Cambria" panose="02040503050406030204" pitchFamily="18" charset="0"/>
                <a:ea typeface="Cambria" panose="02040503050406030204" pitchFamily="18" charset="0"/>
              </a:rPr>
              <a:t>HOSPITAL FINDER</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676169" y="1372642"/>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Number:CBD-10</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rgbClr val="17365D"/>
              </a:buClr>
              <a:buSzPts val="2000"/>
              <a:buFont typeface="Arial"/>
              <a:buNone/>
            </a:pPr>
            <a:r>
              <a:rPr lang="en-US" sz="24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US"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lang="en-US" sz="24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SRINIVAS</a:t>
            </a:r>
            <a:r>
              <a:rPr lang="en-US" b="1" dirty="0">
                <a:latin typeface="Cambria" panose="02040503050406030204" pitchFamily="18" charset="0"/>
                <a:ea typeface="Cambria" panose="02040503050406030204" pitchFamily="18" charset="0"/>
                <a:cs typeface="Verdana"/>
                <a:sym typeface="Verdana"/>
              </a:rPr>
              <a:t>AN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T</a:t>
            </a:r>
            <a:r>
              <a:rPr lang="en-US" sz="1800" b="1" dirty="0">
                <a:solidFill>
                  <a:schemeClr val="tx1"/>
                </a:solidFill>
                <a:latin typeface="Cambria" panose="02040503050406030204" pitchFamily="18" charset="0"/>
                <a:ea typeface="Cambria" panose="02040503050406030204" pitchFamily="18" charset="0"/>
                <a:cs typeface="Verdana"/>
                <a:sym typeface="Verdana"/>
              </a:rPr>
              <a:t> R,</a:t>
            </a:r>
            <a:endPar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US"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Professor,</a:t>
            </a:r>
            <a:endParaRPr lang="en-US"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US"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lang="en-US"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US"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lang="en-US" dirty="0">
              <a:latin typeface="Cambria" panose="02040503050406030204" pitchFamily="18" charset="0"/>
              <a:ea typeface="Cambria" panose="02040503050406030204" pitchFamily="18" charset="0"/>
            </a:endParaRPr>
          </a:p>
          <a:p>
            <a:pPr marL="0" marR="0" lvl="0" indent="0" algn="ctr" rtl="0">
              <a:spcBef>
                <a:spcPts val="0"/>
              </a:spcBef>
              <a:spcAft>
                <a:spcPts val="0"/>
              </a:spcAft>
              <a:buClr>
                <a:srgbClr val="17365D"/>
              </a:buClr>
              <a:buSzPts val="2000"/>
              <a:buFont typeface="Arial"/>
              <a:buNone/>
            </a:pPr>
            <a:endParaRPr dirty="0">
              <a:latin typeface="Cambria" panose="02040503050406030204" pitchFamily="18" charset="0"/>
              <a:ea typeface="Cambria" panose="02040503050406030204" pitchFamily="18" charset="0"/>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PIP2001 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2032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a:solidFill>
                  <a:schemeClr val="tx1"/>
                </a:solidFill>
                <a:latin typeface="Cambria" panose="02040503050406030204" pitchFamily="18" charset="0"/>
                <a:ea typeface="Cambria" panose="02040503050406030204" pitchFamily="18" charset="0"/>
                <a:cs typeface="Verdana"/>
                <a:sym typeface="Verdana"/>
              </a:rPr>
              <a:t>B.TECH</a:t>
            </a:r>
            <a:endPar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b="1" dirty="0">
                <a:solidFill>
                  <a:schemeClr val="tx1"/>
                </a:solidFill>
                <a:latin typeface="Cambria" panose="02040503050406030204" pitchFamily="18" charset="0"/>
                <a:ea typeface="Cambria" panose="02040503050406030204" pitchFamily="18" charset="0"/>
                <a:cs typeface="Verdana"/>
                <a:sym typeface="Verdana"/>
              </a:rPr>
              <a:t>DR. PRAVINTHRAJA</a:t>
            </a:r>
          </a:p>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2000" b="1" dirty="0">
                <a:solidFill>
                  <a:schemeClr val="tx1"/>
                </a:solidFill>
                <a:latin typeface="Cambria" panose="02040503050406030204" pitchFamily="18" charset="0"/>
                <a:ea typeface="Cambria" panose="02040503050406030204" pitchFamily="18" charset="0"/>
                <a:cs typeface="Verdana"/>
                <a:sym typeface="Verdana"/>
              </a:rPr>
              <a:t>MS. SUMA NG</a:t>
            </a:r>
            <a:endPar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Abdul Khadar A / Mr. Md </a:t>
            </a:r>
            <a:r>
              <a:rPr lang="en-US" sz="20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Ziaur</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 Rahman</a:t>
            </a:r>
          </a:p>
          <a:p>
            <a:pPr marL="0" marR="0" lvl="0" indent="0" rtl="0">
              <a:spcBef>
                <a:spcPts val="0"/>
              </a:spcBef>
              <a:spcAft>
                <a:spcPts val="0"/>
              </a:spcAft>
              <a:buClr>
                <a:srgbClr val="17365D"/>
              </a:buClr>
              <a:buSzPct val="100000"/>
              <a:buFont typeface="Arial"/>
              <a:buNone/>
            </a:pP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4F66D1AE-9448-EFF1-5A0C-8D82DA0A881C}"/>
              </a:ext>
            </a:extLst>
          </p:cNvPr>
          <p:cNvGraphicFramePr>
            <a:graphicFrameLocks noGrp="1"/>
          </p:cNvGraphicFramePr>
          <p:nvPr>
            <p:extLst>
              <p:ext uri="{D42A27DB-BD31-4B8C-83A1-F6EECF244321}">
                <p14:modId xmlns:p14="http://schemas.microsoft.com/office/powerpoint/2010/main" val="413550334"/>
              </p:ext>
            </p:extLst>
          </p:nvPr>
        </p:nvGraphicFramePr>
        <p:xfrm>
          <a:off x="197505" y="1992549"/>
          <a:ext cx="6096000" cy="1828800"/>
        </p:xfrm>
        <a:graphic>
          <a:graphicData uri="http://schemas.openxmlformats.org/drawingml/2006/table">
            <a:tbl>
              <a:tblPr firstRow="1" bandRow="1"/>
              <a:tblGrid>
                <a:gridCol w="3048000">
                  <a:extLst>
                    <a:ext uri="{9D8B030D-6E8A-4147-A177-3AD203B41FA5}">
                      <a16:colId xmlns:a16="http://schemas.microsoft.com/office/drawing/2014/main" val="547692186"/>
                    </a:ext>
                  </a:extLst>
                </a:gridCol>
                <a:gridCol w="3048000">
                  <a:extLst>
                    <a:ext uri="{9D8B030D-6E8A-4147-A177-3AD203B41FA5}">
                      <a16:colId xmlns:a16="http://schemas.microsoft.com/office/drawing/2014/main" val="4139844074"/>
                    </a:ext>
                  </a:extLst>
                </a:gridCol>
              </a:tblGrid>
              <a:tr h="355559">
                <a:tc>
                  <a:txBody>
                    <a:bodyPr/>
                    <a:lstStyle/>
                    <a:p>
                      <a:r>
                        <a:rPr lang="en-IN" b="1" dirty="0">
                          <a:solidFill>
                            <a:schemeClr val="tx2"/>
                          </a:solidFill>
                        </a:rPr>
                        <a:t>ROLL NO</a:t>
                      </a:r>
                    </a:p>
                  </a:txBody>
                  <a:tcPr/>
                </a:tc>
                <a:tc>
                  <a:txBody>
                    <a:bodyPr/>
                    <a:lstStyle/>
                    <a:p>
                      <a:r>
                        <a:rPr lang="en-IN" b="1" dirty="0">
                          <a:solidFill>
                            <a:schemeClr val="tx2"/>
                          </a:solidFill>
                        </a:rPr>
                        <a:t>NAME</a:t>
                      </a:r>
                    </a:p>
                  </a:txBody>
                  <a:tcPr/>
                </a:tc>
                <a:extLst>
                  <a:ext uri="{0D108BD9-81ED-4DB2-BD59-A6C34878D82A}">
                    <a16:rowId xmlns:a16="http://schemas.microsoft.com/office/drawing/2014/main" val="2767175782"/>
                  </a:ext>
                </a:extLst>
              </a:tr>
              <a:tr h="355559">
                <a:tc>
                  <a:txBody>
                    <a:bodyPr/>
                    <a:lstStyle/>
                    <a:p>
                      <a:r>
                        <a:rPr lang="en-IN" b="1" dirty="0"/>
                        <a:t>20211CBD0059</a:t>
                      </a:r>
                    </a:p>
                  </a:txBody>
                  <a:tcPr/>
                </a:tc>
                <a:tc>
                  <a:txBody>
                    <a:bodyPr/>
                    <a:lstStyle/>
                    <a:p>
                      <a:r>
                        <a:rPr lang="en-IN" b="1" dirty="0"/>
                        <a:t>Mahesh Reddy</a:t>
                      </a:r>
                    </a:p>
                  </a:txBody>
                  <a:tcPr/>
                </a:tc>
                <a:extLst>
                  <a:ext uri="{0D108BD9-81ED-4DB2-BD59-A6C34878D82A}">
                    <a16:rowId xmlns:a16="http://schemas.microsoft.com/office/drawing/2014/main" val="364130314"/>
                  </a:ext>
                </a:extLst>
              </a:tr>
              <a:tr h="3555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20211CBD0018</a:t>
                      </a:r>
                    </a:p>
                  </a:txBody>
                  <a:tcPr/>
                </a:tc>
                <a:tc>
                  <a:txBody>
                    <a:bodyPr/>
                    <a:lstStyle/>
                    <a:p>
                      <a:r>
                        <a:rPr lang="en-IN" b="1" dirty="0"/>
                        <a:t>Vadde Vinod</a:t>
                      </a:r>
                    </a:p>
                  </a:txBody>
                  <a:tcPr/>
                </a:tc>
                <a:extLst>
                  <a:ext uri="{0D108BD9-81ED-4DB2-BD59-A6C34878D82A}">
                    <a16:rowId xmlns:a16="http://schemas.microsoft.com/office/drawing/2014/main" val="3282110540"/>
                  </a:ext>
                </a:extLst>
              </a:tr>
              <a:tr h="3555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20211CBD0051</a:t>
                      </a:r>
                    </a:p>
                  </a:txBody>
                  <a:tcPr/>
                </a:tc>
                <a:tc>
                  <a:txBody>
                    <a:bodyPr/>
                    <a:lstStyle/>
                    <a:p>
                      <a:r>
                        <a:rPr lang="en-IN" b="1" dirty="0"/>
                        <a:t>Mahammad </a:t>
                      </a:r>
                      <a:r>
                        <a:rPr lang="en-IN" b="1" dirty="0" err="1"/>
                        <a:t>Thouheed</a:t>
                      </a:r>
                      <a:endParaRPr lang="en-IN" b="1" dirty="0"/>
                    </a:p>
                  </a:txBody>
                  <a:tcPr/>
                </a:tc>
                <a:extLst>
                  <a:ext uri="{0D108BD9-81ED-4DB2-BD59-A6C34878D82A}">
                    <a16:rowId xmlns:a16="http://schemas.microsoft.com/office/drawing/2014/main" val="2696390207"/>
                  </a:ext>
                </a:extLst>
              </a:tr>
              <a:tr h="1516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20211CBD0010</a:t>
                      </a:r>
                    </a:p>
                  </a:txBody>
                  <a:tcPr/>
                </a:tc>
                <a:tc>
                  <a:txBody>
                    <a:bodyPr/>
                    <a:lstStyle/>
                    <a:p>
                      <a:r>
                        <a:rPr lang="en-IN" b="1" dirty="0"/>
                        <a:t>Mahammad Ajar</a:t>
                      </a:r>
                    </a:p>
                  </a:txBody>
                  <a:tcPr/>
                </a:tc>
                <a:extLst>
                  <a:ext uri="{0D108BD9-81ED-4DB2-BD59-A6C34878D82A}">
                    <a16:rowId xmlns:a16="http://schemas.microsoft.com/office/drawing/2014/main" val="182084395"/>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649F7-0170-FFF1-81BD-57266E0CB5DF}"/>
              </a:ext>
            </a:extLst>
          </p:cNvPr>
          <p:cNvSpPr>
            <a:spLocks noGrp="1"/>
          </p:cNvSpPr>
          <p:nvPr>
            <p:ph type="title"/>
          </p:nvPr>
        </p:nvSpPr>
        <p:spPr/>
        <p:txBody>
          <a:bodyPr/>
          <a:lstStyle/>
          <a:p>
            <a:r>
              <a:rPr lang="en-IN" dirty="0"/>
              <a:t>CONTENT</a:t>
            </a:r>
          </a:p>
        </p:txBody>
      </p:sp>
      <p:sp>
        <p:nvSpPr>
          <p:cNvPr id="3" name="Content Placeholder 2">
            <a:extLst>
              <a:ext uri="{FF2B5EF4-FFF2-40B4-BE49-F238E27FC236}">
                <a16:creationId xmlns:a16="http://schemas.microsoft.com/office/drawing/2014/main" id="{616BEF0B-D88C-993E-C4F1-CD68DB39C137}"/>
              </a:ext>
            </a:extLst>
          </p:cNvPr>
          <p:cNvSpPr>
            <a:spLocks noGrp="1"/>
          </p:cNvSpPr>
          <p:nvPr>
            <p:ph idx="1"/>
          </p:nvPr>
        </p:nvSpPr>
        <p:spPr/>
        <p:txBody>
          <a:bodyPr>
            <a:normAutofit fontScale="92500" lnSpcReduction="20000"/>
          </a:bodyPr>
          <a:lstStyle/>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INTRODUCTION</a:t>
            </a:r>
          </a:p>
          <a:p>
            <a:pPr marL="495300" indent="-342900" algn="just">
              <a:lnSpc>
                <a:spcPct val="200000"/>
              </a:lnSpc>
              <a:spcBef>
                <a:spcPts val="0"/>
              </a:spcBef>
              <a:buFont typeface="Wingdings" panose="05000000000000000000" pitchFamily="2" charset="2"/>
              <a:buChar char="Ø"/>
            </a:pPr>
            <a:r>
              <a:rPr lang="en-GB" dirty="0"/>
              <a:t>Literature Review</a:t>
            </a:r>
            <a:endParaRPr lang="en-US"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r>
              <a:rPr lang="en-US" dirty="0"/>
              <a:t>Existing method Drawback</a:t>
            </a: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GB" dirty="0"/>
              <a:t>Proposed Method</a:t>
            </a: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GB" dirty="0"/>
              <a:t>Objectives</a:t>
            </a:r>
          </a:p>
          <a:p>
            <a:pPr marL="495300" indent="-342900" algn="just">
              <a:lnSpc>
                <a:spcPct val="200000"/>
              </a:lnSpc>
              <a:spcBef>
                <a:spcPts val="0"/>
              </a:spcBef>
              <a:buFont typeface="Wingdings" panose="05000000000000000000" pitchFamily="2" charset="2"/>
              <a:buChar char="Ø"/>
            </a:pPr>
            <a:r>
              <a:rPr lang="en-GB" dirty="0"/>
              <a:t>Methodology/Modules</a:t>
            </a:r>
            <a:endParaRPr lang="en-US"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US" dirty="0"/>
              <a:t>Architecture</a:t>
            </a:r>
            <a:endParaRPr lang="en-US"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r>
              <a:rPr lang="en-US" dirty="0"/>
              <a:t>Hardware/software components</a:t>
            </a: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endParaRPr lang="en-IN" dirty="0"/>
          </a:p>
        </p:txBody>
      </p:sp>
    </p:spTree>
    <p:extLst>
      <p:ext uri="{BB962C8B-B14F-4D97-AF65-F5344CB8AC3E}">
        <p14:creationId xmlns:p14="http://schemas.microsoft.com/office/powerpoint/2010/main" val="1838269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D2F5B-2E27-C44B-5CB3-888789663F6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4A1F8B3-D212-AC06-0D3A-297475E0FF66}"/>
              </a:ext>
            </a:extLst>
          </p:cNvPr>
          <p:cNvSpPr>
            <a:spLocks noGrp="1"/>
          </p:cNvSpPr>
          <p:nvPr>
            <p:ph idx="1"/>
          </p:nvPr>
        </p:nvSpPr>
        <p:spPr/>
        <p:txBody>
          <a:bodyPr>
            <a:normAutofit/>
          </a:bodyPr>
          <a:lstStyle/>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GB" dirty="0"/>
              <a:t>Timeline of Project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GB" dirty="0"/>
              <a:t>Expected Outcomes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GB" dirty="0"/>
              <a:t>Conclusion</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GB" dirty="0" err="1"/>
              <a:t>Github</a:t>
            </a:r>
            <a:r>
              <a:rPr lang="en-GB" dirty="0"/>
              <a:t> link</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GB" dirty="0"/>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t>Project work mapping with SDG</a:t>
            </a:r>
            <a:endParaRPr lang="en-GB" dirty="0"/>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GB" dirty="0"/>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GB" dirty="0"/>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endParaRPr lang="en-IN" dirty="0"/>
          </a:p>
        </p:txBody>
      </p:sp>
    </p:spTree>
    <p:extLst>
      <p:ext uri="{BB962C8B-B14F-4D97-AF65-F5344CB8AC3E}">
        <p14:creationId xmlns:p14="http://schemas.microsoft.com/office/powerpoint/2010/main" val="3902268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C8D8D-9B22-CE56-0124-2F633F1ABD48}"/>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EDB39ADF-5636-0FE0-0263-972DD6CA33ED}"/>
              </a:ext>
            </a:extLst>
          </p:cNvPr>
          <p:cNvSpPr>
            <a:spLocks noGrp="1"/>
          </p:cNvSpPr>
          <p:nvPr>
            <p:ph idx="1"/>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Build an android application that builds a communication gap between the hospitals and patients during emergencies. Build an android application that will display the nearest hospital and router to the selected hospital. After reaching the hospital, in some cases, patients are informed due to a lack of ventilators the patient cannot be admitted. So, the patient's family rushes toward another hospital. In this process, many patients lose their lives. To reduce this hassle our application displays all the available doctors in the hospitals. It displays the number of available resources like number of beds, number of ventilators, and number of available staff. Book an ambulance to the nearest hospital in one click.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7739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p>
        </p:txBody>
      </p:sp>
      <p:sp>
        <p:nvSpPr>
          <p:cNvPr id="3" name="Content Placeholder 2"/>
          <p:cNvSpPr>
            <a:spLocks noGrp="1"/>
          </p:cNvSpPr>
          <p:nvPr>
            <p:ph idx="1"/>
          </p:nvPr>
        </p:nvSpPr>
        <p:spPr/>
        <p:txBody>
          <a:bodyPr/>
          <a:lstStyle/>
          <a:p>
            <a:pPr algn="just"/>
            <a:r>
              <a:rPr lang="en-US" sz="2000" dirty="0">
                <a:latin typeface="Times New Roman" panose="02020603050405020304" pitchFamily="18" charset="0"/>
                <a:ea typeface="Cambria" panose="02040503050406030204" pitchFamily="18" charset="0"/>
                <a:cs typeface="Times New Roman" panose="02020603050405020304" pitchFamily="18" charset="0"/>
              </a:rPr>
              <a:t>In the state of mind that a common person is in during a medical emergency, it becomes difficult to take calculated decisions such as which hospital to rush to. This lapse of decision could mean the difference between life or death for a loved one. Additionally, there are several aspects to consider such as availability of the required medical facilities, medicines, blood group and specialists to provide the patient with a maximum chance of survival in those crucial moments. Our app aims to be the solution, giving the user all the necessary information during a medical emergency taking into account their location and requirements and providing the best-suited hospital in that hour of need.</a:t>
            </a:r>
          </a:p>
          <a:p>
            <a:pPr marL="0" indent="0">
              <a:buNone/>
            </a:pPr>
            <a:endParaRPr lang="en-GB" dirty="0"/>
          </a:p>
        </p:txBody>
      </p:sp>
    </p:spTree>
    <p:extLst>
      <p:ext uri="{BB962C8B-B14F-4D97-AF65-F5344CB8AC3E}">
        <p14:creationId xmlns:p14="http://schemas.microsoft.com/office/powerpoint/2010/main" val="3633487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AF72B-220E-686D-27EF-D12562D69318}"/>
              </a:ext>
            </a:extLst>
          </p:cNvPr>
          <p:cNvSpPr>
            <a:spLocks noGrp="1"/>
          </p:cNvSpPr>
          <p:nvPr>
            <p:ph type="title"/>
          </p:nvPr>
        </p:nvSpPr>
        <p:spPr>
          <a:xfrm>
            <a:off x="1079130" y="825623"/>
            <a:ext cx="10668000" cy="180060"/>
          </a:xfrm>
        </p:spPr>
        <p:txBody>
          <a:bodyPr/>
          <a:lstStyle/>
          <a:p>
            <a:r>
              <a:rPr lang="en-GB" dirty="0"/>
              <a:t>Literature Review</a:t>
            </a:r>
            <a:br>
              <a:rPr lang="en-US" dirty="0">
                <a:latin typeface="Cambria" panose="02040503050406030204" pitchFamily="18" charset="0"/>
                <a:ea typeface="Cambria" panose="02040503050406030204" pitchFamily="18" charset="0"/>
              </a:rPr>
            </a:br>
            <a:endParaRPr lang="en-IN" dirty="0"/>
          </a:p>
        </p:txBody>
      </p:sp>
      <p:sp>
        <p:nvSpPr>
          <p:cNvPr id="3" name="Content Placeholder 2">
            <a:extLst>
              <a:ext uri="{FF2B5EF4-FFF2-40B4-BE49-F238E27FC236}">
                <a16:creationId xmlns:a16="http://schemas.microsoft.com/office/drawing/2014/main" id="{21E979B2-5268-6D34-BA15-BAA5F496D316}"/>
              </a:ext>
            </a:extLst>
          </p:cNvPr>
          <p:cNvSpPr>
            <a:spLocks noGrp="1"/>
          </p:cNvSpPr>
          <p:nvPr>
            <p:ph idx="1"/>
          </p:nvPr>
        </p:nvSpPr>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1.Frost &amp; Sullivan (2017) </a:t>
            </a:r>
            <a:r>
              <a:rPr lang="en-US" sz="2000" dirty="0">
                <a:latin typeface="Times New Roman" panose="02020603050405020304" pitchFamily="18" charset="0"/>
                <a:cs typeface="Times New Roman" panose="02020603050405020304" pitchFamily="18" charset="0"/>
              </a:rPr>
              <a:t>- prevent medical accidents in advance by using an integrated solution based on information and communication. </a:t>
            </a:r>
          </a:p>
          <a:p>
            <a:pPr marL="0" indent="0">
              <a:buNone/>
            </a:pPr>
            <a:r>
              <a:rPr lang="en-US" sz="2000" b="1"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Karen Taylor  (2017) </a:t>
            </a:r>
            <a:r>
              <a:rPr lang="en-US" sz="2000" dirty="0">
                <a:latin typeface="Times New Roman" panose="02020603050405020304" pitchFamily="18" charset="0"/>
                <a:cs typeface="Times New Roman" panose="02020603050405020304" pitchFamily="18" charset="0"/>
              </a:rPr>
              <a:t>- improving treatment procedures for existing patients and introducing new functions.</a:t>
            </a:r>
          </a:p>
          <a:p>
            <a:pPr marL="0" indent="0">
              <a:buNone/>
            </a:pPr>
            <a:r>
              <a:rPr lang="en-US" sz="2000" b="1" dirty="0">
                <a:latin typeface="Times New Roman" panose="02020603050405020304" pitchFamily="18" charset="0"/>
                <a:cs typeface="Times New Roman" panose="02020603050405020304" pitchFamily="18" charset="0"/>
              </a:rPr>
              <a:t>3 </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European Union Agency for Network and Information Security  (2016) </a:t>
            </a:r>
            <a:r>
              <a:rPr lang="en-US" sz="2000" dirty="0">
                <a:latin typeface="Times New Roman" panose="02020603050405020304" pitchFamily="18" charset="0"/>
                <a:cs typeface="Times New Roman" panose="02020603050405020304" pitchFamily="18" charset="0"/>
              </a:rPr>
              <a:t>- A hospital that improves the patient treatment process based on IoT. </a:t>
            </a:r>
          </a:p>
          <a:p>
            <a:pPr marL="0" indent="0">
              <a:buNone/>
            </a:pPr>
            <a:r>
              <a:rPr lang="en-US" sz="2000" b="1" dirty="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Korea Embedded Software and System Industry Association  (2018)</a:t>
            </a:r>
          </a:p>
          <a:p>
            <a:pPr marL="0" indent="0">
              <a:buNone/>
            </a:pPr>
            <a:r>
              <a:rPr lang="en-US" sz="2000" b="1" dirty="0">
                <a:latin typeface="Times New Roman" panose="02020603050405020304" pitchFamily="18" charset="0"/>
                <a:cs typeface="Times New Roman" panose="02020603050405020304" pitchFamily="18" charset="0"/>
              </a:rPr>
              <a:t>5 </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Seoul Asan Hospital Innovation Design Center  (2020) </a:t>
            </a:r>
            <a:r>
              <a:rPr lang="en-US" sz="2000" dirty="0">
                <a:latin typeface="Times New Roman" panose="02020603050405020304" pitchFamily="18" charset="0"/>
                <a:cs typeface="Times New Roman" panose="02020603050405020304" pitchFamily="18" charset="0"/>
              </a:rPr>
              <a:t>- A next-generation hospital that exceeds the limits of existing hospitals in terms of quality of care.</a:t>
            </a:r>
          </a:p>
          <a:p>
            <a:pPr marL="0" indent="0">
              <a:buNone/>
            </a:pPr>
            <a:r>
              <a:rPr lang="en-US" sz="2000" b="1" dirty="0">
                <a:latin typeface="Times New Roman" panose="02020603050405020304" pitchFamily="18" charset="0"/>
                <a:cs typeface="Times New Roman" panose="02020603050405020304" pitchFamily="18" charset="0"/>
              </a:rPr>
              <a:t>6</a:t>
            </a:r>
            <a:r>
              <a:rPr lang="en-US" sz="2000" dirty="0">
                <a:latin typeface="Times New Roman" panose="02020603050405020304" pitchFamily="18" charset="0"/>
                <a:cs typeface="Times New Roman" panose="02020603050405020304" pitchFamily="18" charset="0"/>
              </a:rPr>
              <a:t> • </a:t>
            </a:r>
            <a:r>
              <a:rPr lang="en-US" sz="2000" b="1" dirty="0">
                <a:latin typeface="Times New Roman" panose="02020603050405020304" pitchFamily="18" charset="0"/>
                <a:cs typeface="Times New Roman" panose="02020603050405020304" pitchFamily="18" charset="0"/>
              </a:rPr>
              <a:t>Ministry of Health and Welfare  (2020) </a:t>
            </a:r>
            <a:r>
              <a:rPr lang="en-US" sz="2000" dirty="0">
                <a:latin typeface="Times New Roman" panose="02020603050405020304" pitchFamily="18" charset="0"/>
                <a:cs typeface="Times New Roman" panose="02020603050405020304" pitchFamily="18" charset="0"/>
              </a:rPr>
              <a:t>- provides medical services by applying ICT such as 5G and IoT to improve medical services such as enhancing patient safety.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644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91458-3602-B88D-69F2-536F2B2C1F17}"/>
              </a:ext>
            </a:extLst>
          </p:cNvPr>
          <p:cNvSpPr>
            <a:spLocks noGrp="1"/>
          </p:cNvSpPr>
          <p:nvPr>
            <p:ph type="title"/>
          </p:nvPr>
        </p:nvSpPr>
        <p:spPr>
          <a:xfrm>
            <a:off x="812800" y="376238"/>
            <a:ext cx="10668000" cy="487362"/>
          </a:xfrm>
        </p:spPr>
        <p:txBody>
          <a:bodyPr/>
          <a:lstStyle/>
          <a:p>
            <a:r>
              <a:rPr lang="en-US" dirty="0"/>
              <a:t>Existing method Drawback</a:t>
            </a:r>
            <a:endParaRPr lang="en-IN" dirty="0"/>
          </a:p>
        </p:txBody>
      </p:sp>
      <p:sp>
        <p:nvSpPr>
          <p:cNvPr id="3" name="Content Placeholder 2">
            <a:extLst>
              <a:ext uri="{FF2B5EF4-FFF2-40B4-BE49-F238E27FC236}">
                <a16:creationId xmlns:a16="http://schemas.microsoft.com/office/drawing/2014/main" id="{6B8BBEEA-9AE3-9AD1-DBF4-A2CC98EF1B9B}"/>
              </a:ext>
            </a:extLst>
          </p:cNvPr>
          <p:cNvSpPr>
            <a:spLocks noGrp="1"/>
          </p:cNvSpPr>
          <p:nvPr>
            <p:ph idx="1"/>
          </p:nvPr>
        </p:nvSpPr>
        <p:spPr/>
        <p:txBody>
          <a:bodyPr>
            <a:normAutofit/>
          </a:bodyPr>
          <a:lstStyle/>
          <a:p>
            <a:pPr marL="0" indent="0">
              <a:buNone/>
            </a:pPr>
            <a:r>
              <a:rPr lang="en-IN" dirty="0"/>
              <a:t>ADVANTAGES:</a:t>
            </a:r>
          </a:p>
          <a:p>
            <a:pPr algn="just">
              <a:buFont typeface="Arial" panose="020B0604020202020204" pitchFamily="34" charset="0"/>
              <a:buChar char="•"/>
            </a:pPr>
            <a:r>
              <a:rPr lang="en-US" sz="2200" b="1" i="0" dirty="0">
                <a:solidFill>
                  <a:srgbClr val="000000"/>
                </a:solidFill>
                <a:effectLst/>
                <a:latin typeface="Times New Roman" panose="02020603050405020304" pitchFamily="18" charset="0"/>
                <a:cs typeface="Times New Roman" panose="02020603050405020304" pitchFamily="18" charset="0"/>
              </a:rPr>
              <a:t>Improved efficiency and speed</a:t>
            </a:r>
            <a:r>
              <a:rPr lang="en-US" sz="2200" b="0" i="0" dirty="0">
                <a:solidFill>
                  <a:srgbClr val="000000"/>
                </a:solidFill>
                <a:effectLst/>
                <a:latin typeface="Times New Roman" panose="02020603050405020304" pitchFamily="18" charset="0"/>
                <a:cs typeface="Times New Roman" panose="02020603050405020304" pitchFamily="18" charset="0"/>
              </a:rPr>
              <a:t> – The healthcare apps can enhance healthcare delivery with more efficiency, as they can handle multiple queries and requirements at a time.</a:t>
            </a:r>
          </a:p>
          <a:p>
            <a:pPr algn="just">
              <a:buFont typeface="Arial" panose="020B0604020202020204" pitchFamily="34" charset="0"/>
              <a:buChar char="•"/>
            </a:pPr>
            <a:r>
              <a:rPr lang="en-US" sz="2200" b="1" i="0" dirty="0">
                <a:solidFill>
                  <a:srgbClr val="000000"/>
                </a:solidFill>
                <a:effectLst/>
                <a:latin typeface="Times New Roman" panose="02020603050405020304" pitchFamily="18" charset="0"/>
                <a:cs typeface="Times New Roman" panose="02020603050405020304" pitchFamily="18" charset="0"/>
              </a:rPr>
              <a:t>Reduction in healthcare costs</a:t>
            </a:r>
            <a:r>
              <a:rPr lang="en-US" sz="2200" b="0" i="0" dirty="0">
                <a:solidFill>
                  <a:srgbClr val="000000"/>
                </a:solidFill>
                <a:effectLst/>
                <a:latin typeface="Times New Roman" panose="02020603050405020304" pitchFamily="18" charset="0"/>
                <a:cs typeface="Times New Roman" panose="02020603050405020304" pitchFamily="18" charset="0"/>
              </a:rPr>
              <a:t> – The cost associated with the healthcare consultation reduced significantly with the usage of apps as the maintenance cost is less.</a:t>
            </a:r>
          </a:p>
          <a:p>
            <a:pPr algn="just">
              <a:buFont typeface="Arial" panose="020B0604020202020204" pitchFamily="34" charset="0"/>
              <a:buChar char="•"/>
            </a:pPr>
            <a:r>
              <a:rPr lang="en-US" sz="2200" b="1" i="0" dirty="0">
                <a:solidFill>
                  <a:srgbClr val="000000"/>
                </a:solidFill>
                <a:effectLst/>
                <a:latin typeface="Times New Roman" panose="02020603050405020304" pitchFamily="18" charset="0"/>
                <a:cs typeface="Times New Roman" panose="02020603050405020304" pitchFamily="18" charset="0"/>
              </a:rPr>
              <a:t>Easier and convenient to use </a:t>
            </a:r>
            <a:r>
              <a:rPr lang="en-US" sz="2200" b="0" i="0" dirty="0">
                <a:solidFill>
                  <a:srgbClr val="000000"/>
                </a:solidFill>
                <a:effectLst/>
                <a:latin typeface="Times New Roman" panose="02020603050405020304" pitchFamily="18" charset="0"/>
                <a:cs typeface="Times New Roman" panose="02020603050405020304" pitchFamily="18" charset="0"/>
              </a:rPr>
              <a:t>– The healthcare apps can be accessed at any time of the day. They have a 24/7 patient monitoring system. </a:t>
            </a:r>
          </a:p>
          <a:p>
            <a:pPr algn="just">
              <a:buFont typeface="Arial" panose="020B0604020202020204" pitchFamily="34" charset="0"/>
              <a:buChar char="•"/>
            </a:pPr>
            <a:r>
              <a:rPr lang="en-US" sz="2200" b="1" i="0" dirty="0">
                <a:solidFill>
                  <a:srgbClr val="000000"/>
                </a:solidFill>
                <a:effectLst/>
                <a:latin typeface="Times New Roman" panose="02020603050405020304" pitchFamily="18" charset="0"/>
                <a:cs typeface="Times New Roman" panose="02020603050405020304" pitchFamily="18" charset="0"/>
              </a:rPr>
              <a:t>Save time</a:t>
            </a:r>
            <a:r>
              <a:rPr lang="en-US" sz="2200" b="0" i="0" dirty="0">
                <a:solidFill>
                  <a:srgbClr val="000000"/>
                </a:solidFill>
                <a:effectLst/>
                <a:latin typeface="Times New Roman" panose="02020603050405020304" pitchFamily="18" charset="0"/>
                <a:cs typeface="Times New Roman" panose="02020603050405020304" pitchFamily="18" charset="0"/>
              </a:rPr>
              <a:t> – With the healthcare apps, the patients can easily connect with the healthcare provider for consultation. It saves traveling time between home and the healthcare center and also requires fewer visits as compared to the traditional approach.</a:t>
            </a:r>
          </a:p>
          <a:p>
            <a:pPr algn="just">
              <a:buFont typeface="Arial" panose="020B0604020202020204" pitchFamily="34" charset="0"/>
              <a:buChar char="•"/>
            </a:pPr>
            <a:r>
              <a:rPr lang="en-US" sz="2200" b="1" i="0" dirty="0">
                <a:solidFill>
                  <a:srgbClr val="000000"/>
                </a:solidFill>
                <a:effectLst/>
                <a:latin typeface="Times New Roman" panose="02020603050405020304" pitchFamily="18" charset="0"/>
                <a:cs typeface="Times New Roman" panose="02020603050405020304" pitchFamily="18" charset="0"/>
              </a:rPr>
              <a:t>Seamless exchange of data</a:t>
            </a:r>
            <a:r>
              <a:rPr lang="en-US" sz="2200" b="0" i="0" dirty="0">
                <a:solidFill>
                  <a:srgbClr val="000000"/>
                </a:solidFill>
                <a:effectLst/>
                <a:latin typeface="Times New Roman" panose="02020603050405020304" pitchFamily="18" charset="0"/>
                <a:cs typeface="Times New Roman" panose="02020603050405020304" pitchFamily="18" charset="0"/>
              </a:rPr>
              <a:t> – The healthcare apps come with an inbuilt option to share and transfer the health data across the healthcare system. </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7666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DC52F-4ED5-8199-791E-E85B5F498CBF}"/>
              </a:ext>
            </a:extLst>
          </p:cNvPr>
          <p:cNvSpPr>
            <a:spLocks noGrp="1"/>
          </p:cNvSpPr>
          <p:nvPr>
            <p:ph type="title"/>
          </p:nvPr>
        </p:nvSpPr>
        <p:spPr/>
        <p:txBody>
          <a:bodyPr/>
          <a:lstStyle/>
          <a:p>
            <a:r>
              <a:rPr lang="en-US" dirty="0"/>
              <a:t>Existing method Drawback</a:t>
            </a:r>
            <a:endParaRPr lang="en-IN" dirty="0"/>
          </a:p>
        </p:txBody>
      </p:sp>
      <p:sp>
        <p:nvSpPr>
          <p:cNvPr id="3" name="Content Placeholder 2">
            <a:extLst>
              <a:ext uri="{FF2B5EF4-FFF2-40B4-BE49-F238E27FC236}">
                <a16:creationId xmlns:a16="http://schemas.microsoft.com/office/drawing/2014/main" id="{C7D8A70B-B1B8-315D-E7D0-3791FEBE7BA6}"/>
              </a:ext>
            </a:extLst>
          </p:cNvPr>
          <p:cNvSpPr>
            <a:spLocks noGrp="1"/>
          </p:cNvSpPr>
          <p:nvPr>
            <p:ph idx="1"/>
          </p:nvPr>
        </p:nvSpPr>
        <p:spPr/>
        <p:txBody>
          <a:bodyPr>
            <a:normAutofit/>
          </a:bodyPr>
          <a:lstStyle/>
          <a:p>
            <a:pPr marL="0" indent="0">
              <a:buNone/>
            </a:pPr>
            <a:r>
              <a:rPr lang="en-IN" dirty="0"/>
              <a:t>DISADVANTAGES:</a:t>
            </a:r>
          </a:p>
          <a:p>
            <a:pPr algn="just">
              <a:buFont typeface="Arial" panose="020B0604020202020204" pitchFamily="34" charset="0"/>
              <a:buChar char="•"/>
            </a:pPr>
            <a:r>
              <a:rPr lang="en-US" sz="2000" b="1" i="0" dirty="0">
                <a:solidFill>
                  <a:srgbClr val="000000"/>
                </a:solidFill>
                <a:effectLst/>
                <a:latin typeface="Times New Roman" panose="02020603050405020304" pitchFamily="18" charset="0"/>
                <a:cs typeface="Times New Roman" panose="02020603050405020304" pitchFamily="18" charset="0"/>
              </a:rPr>
              <a:t>Data Privacy –</a:t>
            </a:r>
            <a:r>
              <a:rPr lang="en-US" sz="2000" b="0" i="0" dirty="0">
                <a:solidFill>
                  <a:srgbClr val="000000"/>
                </a:solidFill>
                <a:effectLst/>
                <a:latin typeface="Times New Roman" panose="02020603050405020304" pitchFamily="18" charset="0"/>
                <a:cs typeface="Times New Roman" panose="02020603050405020304" pitchFamily="18" charset="0"/>
              </a:rPr>
              <a:t> The health apps continuously collect and analyze the health data of the person. The threat to the exposure of personal information by the hacker and sharing with the third parties is a major concern</a:t>
            </a:r>
          </a:p>
          <a:p>
            <a:pPr algn="just">
              <a:buFont typeface="Arial" panose="020B0604020202020204" pitchFamily="34" charset="0"/>
              <a:buChar char="•"/>
            </a:pPr>
            <a:r>
              <a:rPr lang="en-US" sz="2000" b="1" i="0" dirty="0">
                <a:solidFill>
                  <a:srgbClr val="000000"/>
                </a:solidFill>
                <a:effectLst/>
                <a:latin typeface="Times New Roman" panose="02020603050405020304" pitchFamily="18" charset="0"/>
                <a:cs typeface="Times New Roman" panose="02020603050405020304" pitchFamily="18" charset="0"/>
              </a:rPr>
              <a:t>Accuracy of Data –</a:t>
            </a:r>
            <a:r>
              <a:rPr lang="en-US" sz="2000" b="0" i="0" dirty="0">
                <a:solidFill>
                  <a:srgbClr val="000000"/>
                </a:solidFill>
                <a:effectLst/>
                <a:latin typeface="Times New Roman" panose="02020603050405020304" pitchFamily="18" charset="0"/>
                <a:cs typeface="Times New Roman" panose="02020603050405020304" pitchFamily="18" charset="0"/>
              </a:rPr>
              <a:t> The information and advice provided by healthcare apps is also an important concern with healthcare apps. </a:t>
            </a:r>
          </a:p>
          <a:p>
            <a:pPr algn="just">
              <a:buFont typeface="Arial" panose="020B0604020202020204" pitchFamily="34" charset="0"/>
              <a:buChar char="•"/>
            </a:pPr>
            <a:r>
              <a:rPr lang="en-US" sz="2000" b="0" i="0" dirty="0">
                <a:solidFill>
                  <a:srgbClr val="000000"/>
                </a:solidFill>
                <a:effectLst/>
                <a:latin typeface="Times New Roman" panose="02020603050405020304" pitchFamily="18" charset="0"/>
                <a:cs typeface="Times New Roman" panose="02020603050405020304" pitchFamily="18" charset="0"/>
              </a:rPr>
              <a:t>Internet accessibility, the high cost of smartphones, lack of regulatory approval, high cost for in-purchase applications are some of the other key factors hampering penetration of the mobile health apps in the market, faltering their demand.</a:t>
            </a:r>
          </a:p>
          <a:p>
            <a:pPr marL="0" indent="0">
              <a:buNone/>
            </a:pPr>
            <a:endParaRPr lang="en-IN" dirty="0"/>
          </a:p>
        </p:txBody>
      </p:sp>
    </p:spTree>
    <p:extLst>
      <p:ext uri="{BB962C8B-B14F-4D97-AF65-F5344CB8AC3E}">
        <p14:creationId xmlns:p14="http://schemas.microsoft.com/office/powerpoint/2010/main" val="3011073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Proposed Method</a:t>
            </a:r>
          </a:p>
        </p:txBody>
      </p:sp>
      <p:sp>
        <p:nvSpPr>
          <p:cNvPr id="3" name="Content Placeholder 2"/>
          <p:cNvSpPr>
            <a:spLocks noGrp="1"/>
          </p:cNvSpPr>
          <p:nvPr>
            <p:ph idx="1"/>
          </p:nvPr>
        </p:nvSpPr>
        <p:spPr/>
        <p:txBody>
          <a:bodyPr>
            <a:normAutofit/>
          </a:bodyPr>
          <a:lstStyle/>
          <a:p>
            <a:pPr marL="0" indent="0" algn="just">
              <a:buNone/>
            </a:pPr>
            <a:r>
              <a:rPr lang="en-US" sz="2000" b="1" i="0" dirty="0">
                <a:effectLst/>
                <a:latin typeface="Times New Roman" panose="02020603050405020304" pitchFamily="18" charset="0"/>
                <a:cs typeface="Times New Roman" panose="02020603050405020304" pitchFamily="18" charset="0"/>
              </a:rPr>
              <a:t>User interface</a:t>
            </a:r>
            <a:endParaRPr lang="en-US" sz="2000" b="0" i="0" dirty="0">
              <a:effectLst/>
              <a:latin typeface="Times New Roman" panose="02020603050405020304" pitchFamily="18" charset="0"/>
              <a:cs typeface="Times New Roman" panose="02020603050405020304" pitchFamily="18" charset="0"/>
            </a:endParaRPr>
          </a:p>
          <a:p>
            <a:pPr algn="just" fontAlgn="ctr">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Design an intuitive interface with search bars, filters, and interactive maps. Use a consistent design language across platforms. </a:t>
            </a:r>
          </a:p>
          <a:p>
            <a:pPr marL="0" indent="0" algn="just">
              <a:buNone/>
            </a:pPr>
            <a:r>
              <a:rPr lang="en-US" sz="2000" b="1" i="0" dirty="0">
                <a:effectLst/>
                <a:latin typeface="Times New Roman" panose="02020603050405020304" pitchFamily="18" charset="0"/>
                <a:cs typeface="Times New Roman" panose="02020603050405020304" pitchFamily="18" charset="0"/>
              </a:rPr>
              <a:t>Communication</a:t>
            </a:r>
            <a:endParaRPr lang="en-US" sz="2000" b="0" i="0" dirty="0">
              <a:effectLst/>
              <a:latin typeface="Times New Roman" panose="02020603050405020304" pitchFamily="18" charset="0"/>
              <a:cs typeface="Times New Roman" panose="02020603050405020304" pitchFamily="18" charset="0"/>
            </a:endParaRPr>
          </a:p>
          <a:p>
            <a:pPr algn="just" fontAlgn="ctr">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Establish secure communication channels between the frontend and backend components. Use RESTful APIs or </a:t>
            </a:r>
            <a:r>
              <a:rPr lang="en-US" sz="2000" b="0" i="0" dirty="0" err="1">
                <a:effectLst/>
                <a:latin typeface="Times New Roman" panose="02020603050405020304" pitchFamily="18" charset="0"/>
                <a:cs typeface="Times New Roman" panose="02020603050405020304" pitchFamily="18" charset="0"/>
              </a:rPr>
              <a:t>GraphQL</a:t>
            </a:r>
            <a:r>
              <a:rPr lang="en-US" sz="2000" b="0" i="0" dirty="0">
                <a:effectLst/>
                <a:latin typeface="Times New Roman" panose="02020603050405020304" pitchFamily="18" charset="0"/>
                <a:cs typeface="Times New Roman" panose="02020603050405020304" pitchFamily="18" charset="0"/>
              </a:rPr>
              <a:t> for data retrieval and manipulation. </a:t>
            </a:r>
          </a:p>
          <a:p>
            <a:pPr marL="0" indent="0" algn="just">
              <a:buNone/>
            </a:pPr>
            <a:r>
              <a:rPr lang="en-US" sz="2000" b="1" i="0" dirty="0">
                <a:effectLst/>
                <a:latin typeface="Times New Roman" panose="02020603050405020304" pitchFamily="18" charset="0"/>
                <a:cs typeface="Times New Roman" panose="02020603050405020304" pitchFamily="18" charset="0"/>
              </a:rPr>
              <a:t>GPS</a:t>
            </a:r>
            <a:endParaRPr lang="en-US" sz="2000" b="0" i="0" dirty="0">
              <a:effectLst/>
              <a:latin typeface="Times New Roman" panose="02020603050405020304" pitchFamily="18" charset="0"/>
              <a:cs typeface="Times New Roman" panose="02020603050405020304" pitchFamily="18" charset="0"/>
            </a:endParaRPr>
          </a:p>
          <a:p>
            <a:pPr algn="just" fontAlgn="ctr">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Use the global positioning system (GPS) on smartphones to calculate the nearest hospitals and provide directions. </a:t>
            </a:r>
          </a:p>
          <a:p>
            <a:pPr marL="0" indent="0" algn="just">
              <a:buNone/>
            </a:pPr>
            <a:r>
              <a:rPr lang="en-US" sz="2000" b="1" i="0" dirty="0">
                <a:effectLst/>
                <a:latin typeface="Times New Roman" panose="02020603050405020304" pitchFamily="18" charset="0"/>
                <a:cs typeface="Times New Roman" panose="02020603050405020304" pitchFamily="18" charset="0"/>
              </a:rPr>
              <a:t>Hospital demographics</a:t>
            </a:r>
            <a:endParaRPr lang="en-US" sz="2000" b="0" i="0" dirty="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Include hospital demographics, inpatient procedure rates, outpatient calls, hospital quality data, and clinical trials data</a:t>
            </a:r>
          </a:p>
          <a:p>
            <a:endParaRPr lang="en-GB" dirty="0"/>
          </a:p>
        </p:txBody>
      </p:sp>
    </p:spTree>
    <p:extLst>
      <p:ext uri="{BB962C8B-B14F-4D97-AF65-F5344CB8AC3E}">
        <p14:creationId xmlns:p14="http://schemas.microsoft.com/office/powerpoint/2010/main" val="2659618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Objectives</a:t>
            </a:r>
          </a:p>
        </p:txBody>
      </p:sp>
      <p:sp>
        <p:nvSpPr>
          <p:cNvPr id="3" name="Content Placeholder 2"/>
          <p:cNvSpPr>
            <a:spLocks noGrp="1"/>
          </p:cNvSpPr>
          <p:nvPr>
            <p:ph idx="1"/>
          </p:nvPr>
        </p:nvSpPr>
        <p:spPr/>
        <p:txBody>
          <a:bodyPr>
            <a:normAutofit/>
          </a:bodyPr>
          <a:lstStyle/>
          <a:p>
            <a:pPr marL="457200" indent="-457200">
              <a:buAutoNum type="arabicPeriod"/>
            </a:pPr>
            <a:r>
              <a:rPr lang="en-US" sz="2000" b="1" i="0" dirty="0">
                <a:effectLst/>
                <a:latin typeface="Times New Roman" panose="02020603050405020304" pitchFamily="18" charset="0"/>
                <a:cs typeface="Times New Roman" panose="02020603050405020304" pitchFamily="18" charset="0"/>
              </a:rPr>
              <a:t>User-Friendly Interface</a:t>
            </a:r>
            <a:r>
              <a:rPr lang="en-US" sz="2000" b="0" i="0" dirty="0">
                <a:effectLst/>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 </a:t>
            </a:r>
            <a:r>
              <a:rPr lang="en-US" sz="2000" b="1" i="0" dirty="0">
                <a:effectLst/>
                <a:latin typeface="Times New Roman" panose="02020603050405020304" pitchFamily="18" charset="0"/>
                <a:cs typeface="Times New Roman" panose="02020603050405020304" pitchFamily="18" charset="0"/>
              </a:rPr>
              <a:t>Objective: </a:t>
            </a:r>
            <a:r>
              <a:rPr lang="en-US" sz="2000" b="0" i="0" dirty="0">
                <a:effectLst/>
                <a:latin typeface="Times New Roman" panose="02020603050405020304" pitchFamily="18" charset="0"/>
                <a:cs typeface="Times New Roman" panose="02020603050405020304" pitchFamily="18" charset="0"/>
              </a:rPr>
              <a:t>Design and develop an intuitive and user-friendly interface that allows users to easily navigate and search for hospitals.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457200" indent="-457200">
              <a:buAutoNum type="arabicPeriod"/>
            </a:pPr>
            <a:r>
              <a:rPr lang="en-US" sz="2000" b="0" i="0" dirty="0">
                <a:effectLst/>
                <a:latin typeface="Times New Roman" panose="02020603050405020304" pitchFamily="18" charset="0"/>
                <a:cs typeface="Times New Roman" panose="02020603050405020304" pitchFamily="18" charset="0"/>
              </a:rPr>
              <a:t>2. </a:t>
            </a:r>
            <a:r>
              <a:rPr lang="en-US" sz="2000" b="1" i="0" dirty="0">
                <a:effectLst/>
                <a:latin typeface="Times New Roman" panose="02020603050405020304" pitchFamily="18" charset="0"/>
                <a:cs typeface="Times New Roman" panose="02020603050405020304" pitchFamily="18" charset="0"/>
              </a:rPr>
              <a:t>Accurate Hospital Data:</a:t>
            </a:r>
            <a:br>
              <a:rPr lang="en-US" sz="2000" dirty="0">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 </a:t>
            </a:r>
            <a:r>
              <a:rPr lang="en-US" sz="2000" b="1" i="0" dirty="0">
                <a:effectLst/>
                <a:latin typeface="Times New Roman" panose="02020603050405020304" pitchFamily="18" charset="0"/>
                <a:cs typeface="Times New Roman" panose="02020603050405020304" pitchFamily="18" charset="0"/>
              </a:rPr>
              <a:t>Objective: </a:t>
            </a:r>
            <a:r>
              <a:rPr lang="en-US" sz="2000" b="0" i="0" dirty="0">
                <a:effectLst/>
                <a:latin typeface="Times New Roman" panose="02020603050405020304" pitchFamily="18" charset="0"/>
                <a:cs typeface="Times New Roman" panose="02020603050405020304" pitchFamily="18" charset="0"/>
              </a:rPr>
              <a:t>Ensure that the app provides up-to-date and accurate information about hospitals, including their locations, contact</a:t>
            </a:r>
            <a:br>
              <a:rPr lang="en-US" sz="2000" dirty="0">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details, services offered, and any other relevant data.</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3. </a:t>
            </a:r>
            <a:r>
              <a:rPr lang="en-US" sz="2000" b="1" i="0" dirty="0">
                <a:effectLst/>
                <a:latin typeface="Times New Roman" panose="02020603050405020304" pitchFamily="18" charset="0"/>
                <a:cs typeface="Times New Roman" panose="02020603050405020304" pitchFamily="18" charset="0"/>
              </a:rPr>
              <a:t>Geolocation Services:</a:t>
            </a:r>
            <a:br>
              <a:rPr lang="en-US" sz="2000" dirty="0">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 </a:t>
            </a:r>
            <a:r>
              <a:rPr lang="en-US" sz="2000" b="1" i="0" dirty="0">
                <a:effectLst/>
                <a:latin typeface="Times New Roman" panose="02020603050405020304" pitchFamily="18" charset="0"/>
                <a:cs typeface="Times New Roman" panose="02020603050405020304" pitchFamily="18" charset="0"/>
              </a:rPr>
              <a:t>Objective: </a:t>
            </a:r>
            <a:r>
              <a:rPr lang="en-US" sz="2000" b="0" i="0" dirty="0">
                <a:effectLst/>
                <a:latin typeface="Times New Roman" panose="02020603050405020304" pitchFamily="18" charset="0"/>
                <a:cs typeface="Times New Roman" panose="02020603050405020304" pitchFamily="18" charset="0"/>
              </a:rPr>
              <a:t>Implement geolocation features to enable users to find nearby hospitals based on their current location.</a:t>
            </a:r>
            <a:br>
              <a:rPr lang="en-US" sz="2000" dirty="0">
                <a:latin typeface="Times New Roman" panose="02020603050405020304" pitchFamily="18" charset="0"/>
                <a:cs typeface="Times New Roman" panose="02020603050405020304" pitchFamily="18" charset="0"/>
              </a:rPr>
            </a:br>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6729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6A281-2DBC-6E79-8BAE-C1146C57A21B}"/>
              </a:ext>
            </a:extLst>
          </p:cNvPr>
          <p:cNvSpPr>
            <a:spLocks noGrp="1"/>
          </p:cNvSpPr>
          <p:nvPr>
            <p:ph type="title"/>
          </p:nvPr>
        </p:nvSpPr>
        <p:spPr/>
        <p:txBody>
          <a:bodyPr/>
          <a:lstStyle/>
          <a:p>
            <a:r>
              <a:rPr lang="en-GB" dirty="0"/>
              <a:t>Objectives</a:t>
            </a:r>
            <a:endParaRPr lang="en-IN" dirty="0"/>
          </a:p>
        </p:txBody>
      </p:sp>
      <p:sp>
        <p:nvSpPr>
          <p:cNvPr id="3" name="Content Placeholder 2">
            <a:extLst>
              <a:ext uri="{FF2B5EF4-FFF2-40B4-BE49-F238E27FC236}">
                <a16:creationId xmlns:a16="http://schemas.microsoft.com/office/drawing/2014/main" id="{86A65A8D-7BB4-55B7-66B6-372DA22DB14A}"/>
              </a:ext>
            </a:extLst>
          </p:cNvPr>
          <p:cNvSpPr>
            <a:spLocks noGrp="1"/>
          </p:cNvSpPr>
          <p:nvPr>
            <p:ph idx="1"/>
          </p:nvPr>
        </p:nvSpPr>
        <p:spPr/>
        <p:txBody>
          <a:bodyPr>
            <a:normAutofit/>
          </a:bodyPr>
          <a:lstStyle/>
          <a:p>
            <a:pPr marL="0" indent="0" rtl="0">
              <a:buNone/>
            </a:pPr>
            <a:r>
              <a:rPr lang="en-US" sz="2000" b="0" i="0" dirty="0">
                <a:solidFill>
                  <a:srgbClr val="000000"/>
                </a:solidFill>
                <a:effectLst/>
                <a:latin typeface="Times New Roman" panose="02020603050405020304" pitchFamily="18" charset="0"/>
                <a:cs typeface="Times New Roman" panose="02020603050405020304" pitchFamily="18" charset="0"/>
              </a:rPr>
              <a:t>4. </a:t>
            </a:r>
            <a:r>
              <a:rPr lang="en-US" sz="2000" b="1" i="0" dirty="0">
                <a:solidFill>
                  <a:srgbClr val="000000"/>
                </a:solidFill>
                <a:effectLst/>
                <a:latin typeface="Times New Roman" panose="02020603050405020304" pitchFamily="18" charset="0"/>
                <a:cs typeface="Times New Roman" panose="02020603050405020304" pitchFamily="18" charset="0"/>
              </a:rPr>
              <a:t>Search and Filtering Options:</a:t>
            </a:r>
            <a:br>
              <a:rPr lang="en-US" sz="2000" b="0" i="0" dirty="0">
                <a:solidFill>
                  <a:srgbClr val="000000"/>
                </a:solidFill>
                <a:effectLst/>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Objective: Provide users with robust search and filtering options to refine their hospital search based on criteria such as </a:t>
            </a:r>
            <a:r>
              <a:rPr lang="en-US" sz="2000" b="0" i="0" dirty="0" err="1">
                <a:solidFill>
                  <a:srgbClr val="000000"/>
                </a:solidFill>
                <a:effectLst/>
                <a:latin typeface="Times New Roman" panose="02020603050405020304" pitchFamily="18" charset="0"/>
                <a:cs typeface="Times New Roman" panose="02020603050405020304" pitchFamily="18" charset="0"/>
              </a:rPr>
              <a:t>specialty,facilities</a:t>
            </a:r>
            <a:r>
              <a:rPr lang="en-US" sz="2000" b="0" i="0" dirty="0">
                <a:solidFill>
                  <a:srgbClr val="000000"/>
                </a:solidFill>
                <a:effectLst/>
                <a:latin typeface="Times New Roman" panose="02020603050405020304" pitchFamily="18" charset="0"/>
                <a:cs typeface="Times New Roman" panose="02020603050405020304" pitchFamily="18" charset="0"/>
              </a:rPr>
              <a:t>, ratings, and distance.</a:t>
            </a:r>
          </a:p>
          <a:p>
            <a:pPr marL="0" indent="0" rtl="0">
              <a:buNone/>
            </a:pPr>
            <a:br>
              <a:rPr lang="en-US" sz="2000" b="0" i="0" dirty="0">
                <a:solidFill>
                  <a:srgbClr val="000000"/>
                </a:solidFill>
                <a:effectLst/>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5. </a:t>
            </a:r>
            <a:r>
              <a:rPr lang="en-US" sz="2000" b="1" i="0" dirty="0">
                <a:solidFill>
                  <a:srgbClr val="000000"/>
                </a:solidFill>
                <a:effectLst/>
                <a:latin typeface="Times New Roman" panose="02020603050405020304" pitchFamily="18" charset="0"/>
                <a:cs typeface="Times New Roman" panose="02020603050405020304" pitchFamily="18" charset="0"/>
              </a:rPr>
              <a:t>Integration with Emergency Services</a:t>
            </a:r>
            <a:r>
              <a:rPr lang="en-US" sz="2000" b="0" i="0" dirty="0">
                <a:solidFill>
                  <a:srgbClr val="000000"/>
                </a:solidFill>
                <a:effectLst/>
                <a:latin typeface="Times New Roman" panose="02020603050405020304" pitchFamily="18" charset="0"/>
                <a:cs typeface="Times New Roman" panose="02020603050405020304" pitchFamily="18" charset="0"/>
              </a:rPr>
              <a:t>:</a:t>
            </a:r>
            <a:br>
              <a:rPr lang="en-US" sz="2000" b="0" i="0" dirty="0">
                <a:solidFill>
                  <a:srgbClr val="000000"/>
                </a:solidFill>
                <a:effectLst/>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Objective: Integrate emergency service information, such as contact numbers and emergency room wait times, to enhance the app’s usefulness during critical </a:t>
            </a:r>
            <a:r>
              <a:rPr lang="en-US" sz="2000" b="0" i="0" dirty="0" err="1">
                <a:solidFill>
                  <a:srgbClr val="000000"/>
                </a:solidFill>
                <a:effectLst/>
                <a:latin typeface="Times New Roman" panose="02020603050405020304" pitchFamily="18" charset="0"/>
                <a:cs typeface="Times New Roman" panose="02020603050405020304" pitchFamily="18" charset="0"/>
              </a:rPr>
              <a:t>situations.International</a:t>
            </a:r>
            <a:r>
              <a:rPr lang="en-US" sz="2000" b="0" i="0" dirty="0">
                <a:solidFill>
                  <a:srgbClr val="000000"/>
                </a:solidFill>
                <a:effectLst/>
                <a:latin typeface="Times New Roman" panose="02020603050405020304" pitchFamily="18" charset="0"/>
                <a:cs typeface="Times New Roman" panose="02020603050405020304" pitchFamily="18" charset="0"/>
              </a:rPr>
              <a:t> Journal of Research Publication and Reviews, Vol 5, no 1, pp 1904-1910 January 2024 1906.</a:t>
            </a:r>
          </a:p>
          <a:p>
            <a:pPr marL="0" indent="0" rtl="0">
              <a:buNone/>
            </a:pPr>
            <a:br>
              <a:rPr lang="en-US" sz="2000" b="0" i="0" dirty="0">
                <a:solidFill>
                  <a:srgbClr val="000000"/>
                </a:solidFill>
                <a:effectLst/>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6</a:t>
            </a:r>
            <a:r>
              <a:rPr lang="en-US" sz="2000" b="1" i="0" dirty="0">
                <a:solidFill>
                  <a:srgbClr val="000000"/>
                </a:solidFill>
                <a:effectLst/>
                <a:latin typeface="Times New Roman" panose="02020603050405020304" pitchFamily="18" charset="0"/>
                <a:cs typeface="Times New Roman" panose="02020603050405020304" pitchFamily="18" charset="0"/>
              </a:rPr>
              <a:t>. User Reviews and Ratings</a:t>
            </a:r>
            <a:r>
              <a:rPr lang="en-US" sz="2000" b="0" i="0" dirty="0">
                <a:solidFill>
                  <a:srgbClr val="000000"/>
                </a:solidFill>
                <a:effectLst/>
                <a:latin typeface="Times New Roman" panose="02020603050405020304" pitchFamily="18" charset="0"/>
                <a:cs typeface="Times New Roman" panose="02020603050405020304" pitchFamily="18" charset="0"/>
              </a:rPr>
              <a:t>:</a:t>
            </a:r>
            <a:br>
              <a:rPr lang="en-US" sz="2000" b="0" i="0" dirty="0">
                <a:solidFill>
                  <a:srgbClr val="000000"/>
                </a:solidFill>
                <a:effectLst/>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Objective: Enable users to leave reviews and ratings for hospitals, fostering a community-driven feedback system</a:t>
            </a:r>
            <a:r>
              <a:rPr lang="en-US" b="0" i="0" dirty="0">
                <a:solidFill>
                  <a:srgbClr val="000000"/>
                </a:solidFill>
                <a:effectLst/>
                <a:latin typeface="Arial" panose="020B0604020202020204" pitchFamily="34" charset="0"/>
              </a:rPr>
              <a:t>.</a:t>
            </a:r>
            <a:br>
              <a:rPr lang="en-US" b="0" i="0" dirty="0">
                <a:solidFill>
                  <a:srgbClr val="000000"/>
                </a:solidFill>
                <a:effectLst/>
                <a:latin typeface="Arial" panose="020B0604020202020204" pitchFamily="34" charset="0"/>
              </a:rPr>
            </a:br>
            <a:endParaRPr lang="en-US" b="0" i="0" dirty="0">
              <a:solidFill>
                <a:srgbClr val="000000"/>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1787865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Methodology/Modules</a:t>
            </a:r>
          </a:p>
        </p:txBody>
      </p:sp>
      <p:sp>
        <p:nvSpPr>
          <p:cNvPr id="3" name="Content Placeholder 2"/>
          <p:cNvSpPr>
            <a:spLocks noGrp="1"/>
          </p:cNvSpPr>
          <p:nvPr>
            <p:ph idx="1"/>
          </p:nvPr>
        </p:nvSpPr>
        <p:spPr>
          <a:xfrm>
            <a:off x="812800" y="1153161"/>
            <a:ext cx="10668000" cy="4952997"/>
          </a:xfrm>
        </p:spPr>
        <p:txBody>
          <a:bodyPr>
            <a:normAutofit/>
          </a:bodyPr>
          <a:lstStyle/>
          <a:p>
            <a:r>
              <a:rPr lang="en-US" sz="2000" b="1" i="0" dirty="0">
                <a:effectLst/>
                <a:latin typeface="Times New Roman" panose="02020603050405020304" pitchFamily="18" charset="0"/>
                <a:cs typeface="Times New Roman" panose="02020603050405020304" pitchFamily="18" charset="0"/>
              </a:rPr>
              <a:t>MODULES</a:t>
            </a:r>
            <a:br>
              <a:rPr lang="en-US" sz="2000" b="0" i="0" dirty="0">
                <a:effectLst/>
                <a:latin typeface="Times New Roman" panose="02020603050405020304" pitchFamily="18" charset="0"/>
                <a:cs typeface="Times New Roman" panose="02020603050405020304" pitchFamily="18" charset="0"/>
              </a:rPr>
            </a:br>
            <a:r>
              <a:rPr lang="en-US" sz="2000" b="1" i="0" dirty="0">
                <a:effectLst/>
                <a:latin typeface="Times New Roman" panose="02020603050405020304" pitchFamily="18" charset="0"/>
                <a:cs typeface="Times New Roman" panose="02020603050405020304" pitchFamily="18" charset="0"/>
              </a:rPr>
              <a:t>Registration: </a:t>
            </a:r>
            <a:r>
              <a:rPr lang="en-US" sz="2000" b="0" i="0" dirty="0">
                <a:effectLst/>
                <a:latin typeface="Times New Roman" panose="02020603050405020304" pitchFamily="18" charset="0"/>
                <a:cs typeface="Times New Roman" panose="02020603050405020304" pitchFamily="18" charset="0"/>
              </a:rPr>
              <a:t>process of signing up or enrolling in the app. During the registration process, users typically provide necessary information, such as their email address, username, password, and sometime additional details depending on the platform's requirements.</a:t>
            </a:r>
          </a:p>
          <a:p>
            <a:br>
              <a:rPr lang="en-US" sz="2000" b="0" i="0" dirty="0">
                <a:effectLst/>
                <a:latin typeface="Times New Roman" panose="02020603050405020304" pitchFamily="18" charset="0"/>
                <a:cs typeface="Times New Roman" panose="02020603050405020304" pitchFamily="18" charset="0"/>
              </a:rPr>
            </a:br>
            <a:r>
              <a:rPr lang="en-US" sz="2000" b="1" i="0" dirty="0">
                <a:effectLst/>
                <a:latin typeface="Times New Roman" panose="02020603050405020304" pitchFamily="18" charset="0"/>
                <a:cs typeface="Times New Roman" panose="02020603050405020304" pitchFamily="18" charset="0"/>
              </a:rPr>
              <a:t>Login: </a:t>
            </a:r>
            <a:r>
              <a:rPr lang="en-US" sz="2000" b="0" i="0" dirty="0">
                <a:effectLst/>
                <a:latin typeface="Times New Roman" panose="02020603050405020304" pitchFamily="18" charset="0"/>
                <a:cs typeface="Times New Roman" panose="02020603050405020304" pitchFamily="18" charset="0"/>
              </a:rPr>
              <a:t>it allows the user to log in by using a username and password. Login is the process by which users access an application, website, or service using their previously created credentials, typically a combination of a</a:t>
            </a:r>
            <a:r>
              <a:rPr lang="en-US" sz="2000" dirty="0">
                <a:latin typeface="Times New Roman" panose="02020603050405020304" pitchFamily="18" charset="0"/>
                <a:cs typeface="Times New Roman" panose="02020603050405020304" pitchFamily="18" charset="0"/>
              </a:rPr>
              <a:t> </a:t>
            </a:r>
            <a:r>
              <a:rPr lang="en-US" sz="2000" b="0" i="0" dirty="0">
                <a:effectLst/>
                <a:latin typeface="Times New Roman" panose="02020603050405020304" pitchFamily="18" charset="0"/>
                <a:cs typeface="Times New Roman" panose="02020603050405020304" pitchFamily="18" charset="0"/>
              </a:rPr>
              <a:t>username and password.</a:t>
            </a:r>
          </a:p>
          <a:p>
            <a:br>
              <a:rPr lang="en-US" sz="2000" b="0" i="0" dirty="0">
                <a:effectLst/>
                <a:latin typeface="Times New Roman" panose="02020603050405020304" pitchFamily="18" charset="0"/>
                <a:cs typeface="Times New Roman" panose="02020603050405020304" pitchFamily="18" charset="0"/>
              </a:rPr>
            </a:br>
            <a:r>
              <a:rPr lang="en-US" sz="2000" b="1" i="0" dirty="0">
                <a:effectLst/>
                <a:latin typeface="Times New Roman" panose="02020603050405020304" pitchFamily="18" charset="0"/>
                <a:cs typeface="Times New Roman" panose="02020603050405020304" pitchFamily="18" charset="0"/>
              </a:rPr>
              <a:t>Treatment for the Disease required: </a:t>
            </a:r>
            <a:r>
              <a:rPr lang="en-US" sz="2000" b="0" i="0" dirty="0">
                <a:effectLst/>
                <a:latin typeface="Times New Roman" panose="02020603050405020304" pitchFamily="18" charset="0"/>
                <a:cs typeface="Times New Roman" panose="02020603050405020304" pitchFamily="18" charset="0"/>
              </a:rPr>
              <a:t>search for the treatment specialist for the required disease. Start by understanding the nature of the disease or medical condition you are dealing with</a:t>
            </a:r>
            <a:r>
              <a:rPr lang="en-US" b="0" i="0" dirty="0">
                <a:effectLst/>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944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A156-B1FC-CA07-89DA-0BCF63C14900}"/>
              </a:ext>
            </a:extLst>
          </p:cNvPr>
          <p:cNvSpPr>
            <a:spLocks noGrp="1"/>
          </p:cNvSpPr>
          <p:nvPr>
            <p:ph type="title"/>
          </p:nvPr>
        </p:nvSpPr>
        <p:spPr/>
        <p:txBody>
          <a:bodyPr/>
          <a:lstStyle/>
          <a:p>
            <a:r>
              <a:rPr lang="en-US" dirty="0"/>
              <a:t>Architecture</a:t>
            </a:r>
            <a:endParaRPr lang="en-IN" dirty="0"/>
          </a:p>
        </p:txBody>
      </p:sp>
      <p:pic>
        <p:nvPicPr>
          <p:cNvPr id="5" name="Content Placeholder 4" descr="A diagram of a medical procedure&#10;&#10;Description automatically generated">
            <a:extLst>
              <a:ext uri="{FF2B5EF4-FFF2-40B4-BE49-F238E27FC236}">
                <a16:creationId xmlns:a16="http://schemas.microsoft.com/office/drawing/2014/main" id="{A849EC1A-024C-54CB-496A-BDB853B79C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17162" y="1171233"/>
            <a:ext cx="7877737" cy="4786237"/>
          </a:xfrm>
        </p:spPr>
      </p:pic>
    </p:spTree>
    <p:extLst>
      <p:ext uri="{BB962C8B-B14F-4D97-AF65-F5344CB8AC3E}">
        <p14:creationId xmlns:p14="http://schemas.microsoft.com/office/powerpoint/2010/main" val="593898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B97FD-7A7C-F5A7-82F8-E665F49E37A5}"/>
              </a:ext>
            </a:extLst>
          </p:cNvPr>
          <p:cNvSpPr>
            <a:spLocks noGrp="1"/>
          </p:cNvSpPr>
          <p:nvPr>
            <p:ph type="title"/>
          </p:nvPr>
        </p:nvSpPr>
        <p:spPr/>
        <p:txBody>
          <a:bodyPr/>
          <a:lstStyle/>
          <a:p>
            <a:r>
              <a:rPr lang="en-US" dirty="0"/>
              <a:t>Hardware/software components</a:t>
            </a:r>
            <a:endParaRPr lang="en-IN" dirty="0"/>
          </a:p>
        </p:txBody>
      </p:sp>
      <p:sp>
        <p:nvSpPr>
          <p:cNvPr id="3" name="Content Placeholder 2">
            <a:extLst>
              <a:ext uri="{FF2B5EF4-FFF2-40B4-BE49-F238E27FC236}">
                <a16:creationId xmlns:a16="http://schemas.microsoft.com/office/drawing/2014/main" id="{15C84BCC-0DB1-FDE0-3402-D7F5BF535CDB}"/>
              </a:ext>
            </a:extLst>
          </p:cNvPr>
          <p:cNvSpPr>
            <a:spLocks noGrp="1"/>
          </p:cNvSpPr>
          <p:nvPr>
            <p:ph idx="1"/>
          </p:nvPr>
        </p:nvSpPr>
        <p:spPr/>
        <p:txBody>
          <a:bodyPr/>
          <a:lstStyle/>
          <a:p>
            <a:pPr marL="342900" lvl="0" indent="-190500" algn="just" rtl="0">
              <a:lnSpc>
                <a:spcPct val="200000"/>
              </a:lnSpc>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Software Requirements: </a:t>
            </a:r>
          </a:p>
          <a:p>
            <a:pPr marL="495300" lvl="0" indent="-342900" algn="just" rtl="0">
              <a:lnSpc>
                <a:spcPct val="200000"/>
              </a:lnSpc>
              <a:spcBef>
                <a:spcPts val="0"/>
              </a:spcBef>
              <a:spcAft>
                <a:spcPts val="0"/>
              </a:spcAft>
              <a:buClr>
                <a:schemeClr val="dk1"/>
              </a:buClr>
              <a:buSzPct val="100000"/>
              <a:buFont typeface="Courier New" panose="02070309020205020404" pitchFamily="49" charset="0"/>
              <a:buChar char="o"/>
            </a:pPr>
            <a:r>
              <a:rPr lang="en-IN" dirty="0"/>
              <a:t>Android Studio</a:t>
            </a:r>
          </a:p>
          <a:p>
            <a:pPr marL="495300" lvl="0" indent="-342900" algn="just" rtl="0">
              <a:lnSpc>
                <a:spcPct val="200000"/>
              </a:lnSpc>
              <a:spcBef>
                <a:spcPts val="0"/>
              </a:spcBef>
              <a:spcAft>
                <a:spcPts val="0"/>
              </a:spcAft>
              <a:buClr>
                <a:schemeClr val="dk1"/>
              </a:buClr>
              <a:buSzPct val="100000"/>
              <a:buFont typeface="Courier New" panose="02070309020205020404" pitchFamily="49" charset="0"/>
              <a:buChar char="o"/>
            </a:pPr>
            <a:r>
              <a:rPr lang="en-IN" dirty="0"/>
              <a:t>HTML &amp; HTML5 </a:t>
            </a:r>
          </a:p>
          <a:p>
            <a:pPr marL="495300" lvl="0" indent="-342900" algn="just" rtl="0">
              <a:lnSpc>
                <a:spcPct val="200000"/>
              </a:lnSpc>
              <a:spcBef>
                <a:spcPts val="0"/>
              </a:spcBef>
              <a:spcAft>
                <a:spcPts val="0"/>
              </a:spcAft>
              <a:buClr>
                <a:schemeClr val="dk1"/>
              </a:buClr>
              <a:buSzPct val="100000"/>
              <a:buFont typeface="Courier New" panose="02070309020205020404" pitchFamily="49" charset="0"/>
              <a:buChar char="o"/>
            </a:pPr>
            <a:r>
              <a:rPr lang="en-IN" dirty="0"/>
              <a:t>CSS</a:t>
            </a:r>
          </a:p>
          <a:p>
            <a:pPr marL="495300" lvl="0" indent="-342900" algn="just" rtl="0">
              <a:lnSpc>
                <a:spcPct val="200000"/>
              </a:lnSpc>
              <a:spcBef>
                <a:spcPts val="0"/>
              </a:spcBef>
              <a:spcAft>
                <a:spcPts val="0"/>
              </a:spcAft>
              <a:buClr>
                <a:schemeClr val="dk1"/>
              </a:buClr>
              <a:buSzPct val="100000"/>
              <a:buFont typeface="Courier New" panose="02070309020205020404" pitchFamily="49" charset="0"/>
              <a:buChar char="o"/>
            </a:pPr>
            <a:r>
              <a:rPr lang="en-IN" dirty="0"/>
              <a:t>Google Maps API</a:t>
            </a:r>
          </a:p>
          <a:p>
            <a:pPr marL="495300" lvl="0" indent="-342900" algn="just" rtl="0">
              <a:lnSpc>
                <a:spcPct val="200000"/>
              </a:lnSpc>
              <a:spcBef>
                <a:spcPts val="0"/>
              </a:spcBef>
              <a:spcAft>
                <a:spcPts val="0"/>
              </a:spcAft>
              <a:buClr>
                <a:schemeClr val="dk1"/>
              </a:buClr>
              <a:buSzPct val="100000"/>
              <a:buFont typeface="Courier New" panose="02070309020205020404" pitchFamily="49" charset="0"/>
              <a:buChar char="o"/>
            </a:pPr>
            <a:r>
              <a:rPr lang="en-IN" dirty="0"/>
              <a:t>Node.js</a:t>
            </a:r>
          </a:p>
          <a:p>
            <a:endParaRPr lang="en-IN" dirty="0"/>
          </a:p>
        </p:txBody>
      </p:sp>
    </p:spTree>
    <p:extLst>
      <p:ext uri="{BB962C8B-B14F-4D97-AF65-F5344CB8AC3E}">
        <p14:creationId xmlns:p14="http://schemas.microsoft.com/office/powerpoint/2010/main" val="825552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Timeline of Project</a:t>
            </a:r>
          </a:p>
        </p:txBody>
      </p:sp>
      <p:sp>
        <p:nvSpPr>
          <p:cNvPr id="3" name="Content Placeholder 2"/>
          <p:cNvSpPr>
            <a:spLocks noGrp="1"/>
          </p:cNvSpPr>
          <p:nvPr>
            <p:ph idx="1"/>
          </p:nvPr>
        </p:nvSpPr>
        <p:spPr/>
        <p:txBody>
          <a:bodyPr/>
          <a:lstStyle/>
          <a:p>
            <a:pPr marL="495300" lvl="0" indent="-342900" algn="just">
              <a:lnSpc>
                <a:spcPct val="200000"/>
              </a:lnSpc>
              <a:spcBef>
                <a:spcPts val="0"/>
              </a:spcBef>
              <a:buSzPct val="100000"/>
              <a:buFont typeface="Wingdings" panose="05000000000000000000" pitchFamily="2" charset="2"/>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Research and Analysis: September 2024 -October 2024 </a:t>
            </a:r>
          </a:p>
          <a:p>
            <a:pPr marL="495300" lvl="0" indent="-342900" algn="just">
              <a:lnSpc>
                <a:spcPct val="200000"/>
              </a:lnSpc>
              <a:spcBef>
                <a:spcPts val="0"/>
              </a:spcBef>
              <a:buSzPct val="100000"/>
              <a:buFont typeface="Wingdings" panose="05000000000000000000" pitchFamily="2" charset="2"/>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Development of App(</a:t>
            </a:r>
            <a:r>
              <a:rPr lang="en-US" sz="2000" dirty="0" err="1">
                <a:latin typeface="Times New Roman" panose="02020603050405020304" pitchFamily="18" charset="0"/>
                <a:ea typeface="Cambria" panose="02040503050406030204" pitchFamily="18" charset="0"/>
                <a:cs typeface="Times New Roman" panose="02020603050405020304" pitchFamily="18" charset="0"/>
              </a:rPr>
              <a:t>Frontend&amp;Backend</a:t>
            </a:r>
            <a:r>
              <a:rPr lang="en-US" sz="2000" dirty="0">
                <a:latin typeface="Times New Roman" panose="02020603050405020304" pitchFamily="18" charset="0"/>
                <a:ea typeface="Cambria" panose="02040503050406030204" pitchFamily="18" charset="0"/>
                <a:cs typeface="Times New Roman" panose="02020603050405020304" pitchFamily="18" charset="0"/>
              </a:rPr>
              <a:t>): October 2024 - November 2024</a:t>
            </a:r>
          </a:p>
          <a:p>
            <a:pPr marL="495300" lvl="0" indent="-342900" algn="just">
              <a:lnSpc>
                <a:spcPct val="200000"/>
              </a:lnSpc>
              <a:spcBef>
                <a:spcPts val="0"/>
              </a:spcBef>
              <a:buSzPct val="100000"/>
              <a:buFont typeface="Wingdings" panose="05000000000000000000" pitchFamily="2" charset="2"/>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Testing and Refinement: November 2024</a:t>
            </a:r>
          </a:p>
          <a:p>
            <a:pPr marL="495300" lvl="0" indent="-342900" algn="just">
              <a:lnSpc>
                <a:spcPct val="200000"/>
              </a:lnSpc>
              <a:spcBef>
                <a:spcPts val="0"/>
              </a:spcBef>
              <a:buSzPct val="100000"/>
              <a:buFont typeface="Wingdings" panose="05000000000000000000" pitchFamily="2" charset="2"/>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Final Report and Presentation: December 2024</a:t>
            </a:r>
          </a:p>
          <a:p>
            <a:pPr marL="342900" lvl="0" indent="-190500" algn="just">
              <a:lnSpc>
                <a:spcPct val="200000"/>
              </a:lnSpc>
              <a:spcBef>
                <a:spcPts val="0"/>
              </a:spcBef>
              <a:buSzPct val="100000"/>
              <a:buNone/>
            </a:pPr>
            <a:r>
              <a:rPr lang="en-US" sz="2000" dirty="0">
                <a:latin typeface="Times New Roman" panose="02020603050405020304" pitchFamily="18" charset="0"/>
                <a:ea typeface="Cambria" panose="02040503050406030204" pitchFamily="18" charset="0"/>
                <a:cs typeface="Times New Roman" panose="02020603050405020304" pitchFamily="18" charset="0"/>
              </a:rPr>
              <a:t>   ( it will take around 3 to 4 months)</a:t>
            </a:r>
          </a:p>
          <a:p>
            <a:endParaRPr lang="en-GB" dirty="0"/>
          </a:p>
        </p:txBody>
      </p:sp>
    </p:spTree>
    <p:extLst>
      <p:ext uri="{BB962C8B-B14F-4D97-AF65-F5344CB8AC3E}">
        <p14:creationId xmlns:p14="http://schemas.microsoft.com/office/powerpoint/2010/main" val="3677332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Expected Outcomes</a:t>
            </a:r>
          </a:p>
        </p:txBody>
      </p:sp>
      <p:sp>
        <p:nvSpPr>
          <p:cNvPr id="3" name="Content Placeholder 2"/>
          <p:cNvSpPr>
            <a:spLocks noGrp="1"/>
          </p:cNvSpPr>
          <p:nvPr>
            <p:ph idx="1"/>
          </p:nvPr>
        </p:nvSpPr>
        <p:spPr/>
        <p:txBody>
          <a:bodyPr>
            <a:normAutofit fontScale="92500"/>
          </a:bodyPr>
          <a:lstStyle/>
          <a:p>
            <a:pPr marL="0" indent="0" algn="just">
              <a:buNone/>
            </a:pPr>
            <a:r>
              <a:rPr lang="en-US" sz="2200" b="1" dirty="0">
                <a:latin typeface="Times New Roman" panose="02020603050405020304" pitchFamily="18" charset="0"/>
                <a:cs typeface="Times New Roman" panose="02020603050405020304" pitchFamily="18" charset="0"/>
              </a:rPr>
              <a:t>1. Improved Healthcare Accessibility</a:t>
            </a:r>
          </a:p>
          <a:p>
            <a:pPr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Quick and Easy Access</a:t>
            </a:r>
            <a:r>
              <a:rPr lang="en-US" sz="2200" dirty="0">
                <a:latin typeface="Times New Roman" panose="02020603050405020304" pitchFamily="18" charset="0"/>
                <a:cs typeface="Times New Roman" panose="02020603050405020304" pitchFamily="18" charset="0"/>
              </a:rPr>
              <a:t>: Users can locate hospitals, clinics, or specialized healthcare facilities near them based on their current location or specified preferences.</a:t>
            </a:r>
          </a:p>
          <a:p>
            <a:pPr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24/7 Availability</a:t>
            </a:r>
            <a:r>
              <a:rPr lang="en-US" sz="2200" dirty="0">
                <a:latin typeface="Times New Roman" panose="02020603050405020304" pitchFamily="18" charset="0"/>
                <a:cs typeface="Times New Roman" panose="02020603050405020304" pitchFamily="18" charset="0"/>
              </a:rPr>
              <a:t>: A hospital finder app can provide continuous access to healthcare facility information, allowing users to find hospitals at any time, including during emergencies.</a:t>
            </a:r>
          </a:p>
          <a:p>
            <a:pPr marL="0" indent="0" algn="just">
              <a:buNone/>
            </a:pPr>
            <a:r>
              <a:rPr lang="en-US" sz="2200" b="1" dirty="0">
                <a:latin typeface="Times New Roman" panose="02020603050405020304" pitchFamily="18" charset="0"/>
                <a:cs typeface="Times New Roman" panose="02020603050405020304" pitchFamily="18" charset="0"/>
              </a:rPr>
              <a:t>2. Real-Time Information</a:t>
            </a:r>
          </a:p>
          <a:p>
            <a:pPr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Live Hospital Status</a:t>
            </a:r>
            <a:r>
              <a:rPr lang="en-US" sz="2200" dirty="0">
                <a:latin typeface="Times New Roman" panose="02020603050405020304" pitchFamily="18" charset="0"/>
                <a:cs typeface="Times New Roman" panose="02020603050405020304" pitchFamily="18" charset="0"/>
              </a:rPr>
              <a:t>: The app could provide real-time data about hospital availability, including information such as:</a:t>
            </a:r>
          </a:p>
          <a:p>
            <a:pPr marL="742950" lvl="1"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Bed occupancy</a:t>
            </a:r>
          </a:p>
          <a:p>
            <a:pPr marL="742950" lvl="1"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Emergency room wait times</a:t>
            </a:r>
          </a:p>
          <a:p>
            <a:pPr marL="742950" lvl="1"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Specialized equipment or doctors available (e.g., MRI, cardiologists)</a:t>
            </a:r>
          </a:p>
          <a:p>
            <a:pPr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Reduced Overcrowding</a:t>
            </a:r>
            <a:r>
              <a:rPr lang="en-US" sz="2200" dirty="0">
                <a:latin typeface="Times New Roman" panose="02020603050405020304" pitchFamily="18" charset="0"/>
                <a:cs typeface="Times New Roman" panose="02020603050405020304" pitchFamily="18" charset="0"/>
              </a:rPr>
              <a:t>: By providing real-time information on hospital capacity, the app can direct users to less crowded hospitals, reducing the strain on busy healthcare facilities.</a:t>
            </a:r>
          </a:p>
          <a:p>
            <a:endParaRPr lang="en-GB" dirty="0"/>
          </a:p>
        </p:txBody>
      </p:sp>
    </p:spTree>
    <p:extLst>
      <p:ext uri="{BB962C8B-B14F-4D97-AF65-F5344CB8AC3E}">
        <p14:creationId xmlns:p14="http://schemas.microsoft.com/office/powerpoint/2010/main" val="1923928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CD93F-305D-003F-4BE5-B3B0AF2A156F}"/>
              </a:ext>
            </a:extLst>
          </p:cNvPr>
          <p:cNvSpPr>
            <a:spLocks noGrp="1"/>
          </p:cNvSpPr>
          <p:nvPr>
            <p:ph type="title"/>
          </p:nvPr>
        </p:nvSpPr>
        <p:spPr/>
        <p:txBody>
          <a:bodyPr/>
          <a:lstStyle/>
          <a:p>
            <a:r>
              <a:rPr lang="en-GB" dirty="0"/>
              <a:t>Expected Outcomes</a:t>
            </a:r>
            <a:endParaRPr lang="en-IN" dirty="0"/>
          </a:p>
        </p:txBody>
      </p:sp>
      <p:sp>
        <p:nvSpPr>
          <p:cNvPr id="3" name="Content Placeholder 2">
            <a:extLst>
              <a:ext uri="{FF2B5EF4-FFF2-40B4-BE49-F238E27FC236}">
                <a16:creationId xmlns:a16="http://schemas.microsoft.com/office/drawing/2014/main" id="{90F9BC6E-B562-2CC4-3435-68368237927E}"/>
              </a:ext>
            </a:extLst>
          </p:cNvPr>
          <p:cNvSpPr>
            <a:spLocks noGrp="1"/>
          </p:cNvSpPr>
          <p:nvPr>
            <p:ph idx="1"/>
          </p:nvPr>
        </p:nvSpPr>
        <p:spPr/>
        <p:txBody>
          <a:bodyPr>
            <a:normAutofit/>
          </a:bodyPr>
          <a:lstStyle/>
          <a:p>
            <a:pPr marL="0" indent="0" algn="just">
              <a:buNone/>
            </a:pPr>
            <a:r>
              <a:rPr lang="en-US" sz="2200" b="1" dirty="0">
                <a:latin typeface="Times New Roman" panose="02020603050405020304" pitchFamily="18" charset="0"/>
                <a:cs typeface="Times New Roman" panose="02020603050405020304" pitchFamily="18" charset="0"/>
              </a:rPr>
              <a:t>3. Optimized Emergency Response</a:t>
            </a:r>
          </a:p>
          <a:p>
            <a:pPr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Reduced Response Time</a:t>
            </a:r>
            <a:r>
              <a:rPr lang="en-US" sz="2200" dirty="0">
                <a:latin typeface="Times New Roman" panose="02020603050405020304" pitchFamily="18" charset="0"/>
                <a:cs typeface="Times New Roman" panose="02020603050405020304" pitchFamily="18" charset="0"/>
              </a:rPr>
              <a:t>: In emergency situations, users can quickly find the nearest hospital with emergency services, reducing the time spent searching for appropriate care.</a:t>
            </a:r>
          </a:p>
          <a:p>
            <a:pPr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Integration with Ambulance Services</a:t>
            </a:r>
            <a:r>
              <a:rPr lang="en-US" sz="2200" dirty="0">
                <a:latin typeface="Times New Roman" panose="02020603050405020304" pitchFamily="18" charset="0"/>
                <a:cs typeface="Times New Roman" panose="02020603050405020304" pitchFamily="18" charset="0"/>
              </a:rPr>
              <a:t>: The app can integrate with local emergency services to send location-based alerts, or dispatch an ambulance, further optimizing the response process.</a:t>
            </a:r>
          </a:p>
          <a:p>
            <a:pPr marL="0" indent="0" algn="just">
              <a:buNone/>
            </a:pPr>
            <a:r>
              <a:rPr lang="en-US" sz="2200" b="1" dirty="0">
                <a:latin typeface="Times New Roman" panose="02020603050405020304" pitchFamily="18" charset="0"/>
                <a:cs typeface="Times New Roman" panose="02020603050405020304" pitchFamily="18" charset="0"/>
              </a:rPr>
              <a:t>4. Better Resource Management for Hospitals</a:t>
            </a:r>
          </a:p>
          <a:p>
            <a:pPr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Efficient Patient Distribution</a:t>
            </a:r>
            <a:r>
              <a:rPr lang="en-US" sz="2200" dirty="0">
                <a:latin typeface="Times New Roman" panose="02020603050405020304" pitchFamily="18" charset="0"/>
                <a:cs typeface="Times New Roman" panose="02020603050405020304" pitchFamily="18" charset="0"/>
              </a:rPr>
              <a:t>: Hospitals can manage incoming patient flow more effectively by sharing real-time capacity information, reducing bottlenecks in emergency rooms and overcrowding.</a:t>
            </a:r>
          </a:p>
          <a:p>
            <a:pPr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Data-Driven Insights</a:t>
            </a:r>
            <a:r>
              <a:rPr lang="en-US" sz="2200" dirty="0">
                <a:latin typeface="Times New Roman" panose="02020603050405020304" pitchFamily="18" charset="0"/>
                <a:cs typeface="Times New Roman" panose="02020603050405020304" pitchFamily="18" charset="0"/>
              </a:rPr>
              <a:t>: Hospitals can leverage user data for better resource allocation and to identify trends in patient needs (e.g., higher demand for certain specialists or services).</a:t>
            </a:r>
          </a:p>
          <a:p>
            <a:endParaRPr lang="en-IN" dirty="0"/>
          </a:p>
        </p:txBody>
      </p:sp>
    </p:spTree>
    <p:extLst>
      <p:ext uri="{BB962C8B-B14F-4D97-AF65-F5344CB8AC3E}">
        <p14:creationId xmlns:p14="http://schemas.microsoft.com/office/powerpoint/2010/main" val="60302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Conclusion</a:t>
            </a:r>
          </a:p>
        </p:txBody>
      </p:sp>
      <p:sp>
        <p:nvSpPr>
          <p:cNvPr id="3" name="Content Placeholder 2"/>
          <p:cNvSpPr>
            <a:spLocks noGrp="1"/>
          </p:cNvSpPr>
          <p:nvPr>
            <p:ph idx="1"/>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hospital finder app</a:t>
            </a:r>
            <a:r>
              <a:rPr lang="en-US" sz="2000" dirty="0">
                <a:latin typeface="Times New Roman" panose="02020603050405020304" pitchFamily="18" charset="0"/>
                <a:cs typeface="Times New Roman" panose="02020603050405020304" pitchFamily="18" charset="0"/>
              </a:rPr>
              <a:t> holds immense potential to revolutionize healthcare accessibility by bridging the gap between patients and medical facilities. Its core benefits include providing users with quick and easy access to nearby hospitals, real-time information on hospital capacity and services, and optimized emergency responses. By integrating location-based services, real-time data, and personalized recommendations, the app enhances decision-making for patients, leading to faster and more efficient access to care, especially in emergency situations.</a:t>
            </a:r>
          </a:p>
          <a:p>
            <a:pPr algn="just"/>
            <a:r>
              <a:rPr lang="en-US" sz="2000" dirty="0">
                <a:latin typeface="Times New Roman" panose="02020603050405020304" pitchFamily="18" charset="0"/>
                <a:cs typeface="Times New Roman" panose="02020603050405020304" pitchFamily="18" charset="0"/>
              </a:rPr>
              <a:t>Moreover, hospitals benefit from better resource management, as real-time capacity updates help balance patient flow and prevent overcrowding. The app fosters transparency through patient reviews and ratings, empowering users to make informed healthcare choices. Integrations with telemedicine services, ambulance dispatch, and preventive care alerts further extend the app's utility, making it a comprehensive tool for both routine healthcare needs and urgent care situations</a:t>
            </a:r>
            <a:r>
              <a:rPr lang="en-US" sz="2600" dirty="0">
                <a:latin typeface="Times New Roman" panose="02020603050405020304" pitchFamily="18" charset="0"/>
                <a:cs typeface="Times New Roman" panose="02020603050405020304" pitchFamily="18" charset="0"/>
              </a:rPr>
              <a:t>.</a:t>
            </a:r>
          </a:p>
          <a:p>
            <a:pPr marL="0" indent="0">
              <a:buNone/>
            </a:pPr>
            <a:endParaRPr lang="en-GB" dirty="0"/>
          </a:p>
        </p:txBody>
      </p:sp>
    </p:spTree>
    <p:extLst>
      <p:ext uri="{BB962C8B-B14F-4D97-AF65-F5344CB8AC3E}">
        <p14:creationId xmlns:p14="http://schemas.microsoft.com/office/powerpoint/2010/main" val="2238571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    </a:t>
            </a:r>
            <a:r>
              <a:rPr lang="en-US" b="1" dirty="0">
                <a:solidFill>
                  <a:schemeClr val="tx1"/>
                </a:solidFill>
                <a:latin typeface="Cambria" panose="02040503050406030204" pitchFamily="18" charset="0"/>
                <a:ea typeface="Cambria" panose="02040503050406030204" pitchFamily="18" charset="0"/>
                <a:hlinkClick r:id="rId3"/>
              </a:rPr>
              <a:t>https://github.com/Mahesh-219/hopsitalfinder</a:t>
            </a:r>
            <a:endParaRPr lang="en-US" b="1" dirty="0">
              <a:solidFill>
                <a:schemeClr val="tx1"/>
              </a:solidFill>
              <a:latin typeface="Cambria" panose="02040503050406030204" pitchFamily="18" charset="0"/>
              <a:ea typeface="Cambria" panose="02040503050406030204" pitchFamily="18" charset="0"/>
            </a:endParaRPr>
          </a:p>
          <a:p>
            <a:pPr marL="342900" indent="-190500" algn="just">
              <a:spcBef>
                <a:spcPts val="0"/>
              </a:spcBef>
              <a:buSzPct val="100000"/>
              <a:buNone/>
            </a:pPr>
            <a:endParaRPr lang="en-US" b="1" dirty="0">
              <a:solidFill>
                <a:schemeClr val="tx1"/>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p:txBody>
          <a:bodyPr>
            <a:normAutofit/>
          </a:bodyPr>
          <a:lstStyle/>
          <a:p>
            <a:pPr marL="609600" lvl="1" indent="0">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1.Agarwal, S., &amp; LeFevre, A. E. (2017). Finding healthcare at your fingertips: A case study of apps addressing healthcare needs in India. In Proceedings of the Ninth International Conference on Information and Communication Technologies and Development (ICTD). </a:t>
            </a:r>
          </a:p>
          <a:p>
            <a:pPr marL="609600" lvl="1" indent="0">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2. Hossain, M. S., &amp; Ahmed, K. (2019). Telemedicine system using Hospital Finder app. In 2019 3rd International Conference on Electrical, Computer &amp; Telecommunication Engineering (ICECTE).</a:t>
            </a:r>
          </a:p>
          <a:p>
            <a:pPr marL="609600" lvl="1" indent="0">
              <a:spcBef>
                <a:spcPts val="0"/>
              </a:spcBef>
              <a:buNone/>
            </a:pPr>
            <a:r>
              <a:rPr lang="en-IN" dirty="0">
                <a:latin typeface="Times New Roman" panose="02020603050405020304" pitchFamily="18" charset="0"/>
                <a:ea typeface="Cambria" panose="02040503050406030204" pitchFamily="18" charset="0"/>
                <a:cs typeface="Times New Roman" panose="02020603050405020304" pitchFamily="18" charset="0"/>
              </a:rPr>
              <a:t>3. Mehta, N., Pandit, A., &amp; Shukla, S. (2016). Hospital Finder mobile applications: a systematic review. International Journal of Pharmacy &amp; Technology, 8(3), 16065-16073.</a:t>
            </a:r>
          </a:p>
          <a:p>
            <a:pPr marL="609600" lvl="1" indent="0">
              <a:spcBef>
                <a:spcPts val="0"/>
              </a:spcBef>
              <a:buNone/>
            </a:pPr>
            <a:r>
              <a:rPr lang="en-IN" dirty="0">
                <a:latin typeface="Times New Roman" panose="02020603050405020304" pitchFamily="18" charset="0"/>
                <a:ea typeface="Cambria" panose="02040503050406030204" pitchFamily="18" charset="0"/>
                <a:cs typeface="Times New Roman" panose="02020603050405020304" pitchFamily="18" charset="0"/>
              </a:rPr>
              <a:t>4. National Institute of Standards and Technology (NIST). (2020). Digital Identity Guidelines: Authentication and Lifecycle Management. Retrieved from </a:t>
            </a:r>
            <a:r>
              <a:rPr lang="en-IN" dirty="0">
                <a:latin typeface="Times New Roman" panose="02020603050405020304" pitchFamily="18" charset="0"/>
                <a:ea typeface="Cambria" panose="02040503050406030204" pitchFamily="18" charset="0"/>
                <a:cs typeface="Times New Roman" panose="02020603050405020304" pitchFamily="18" charset="0"/>
                <a:hlinkClick r:id="rId2"/>
              </a:rPr>
              <a:t>https://nvlpubs.nist.gov/nistpubs/SpecialPublications/NIST.SP.800-63b.pdf</a:t>
            </a:r>
            <a:endParaRPr lang="en-IN" dirty="0">
              <a:latin typeface="Times New Roman" panose="02020603050405020304" pitchFamily="18" charset="0"/>
              <a:ea typeface="Cambria" panose="02040503050406030204" pitchFamily="18" charset="0"/>
              <a:cs typeface="Times New Roman" panose="02020603050405020304" pitchFamily="18" charset="0"/>
            </a:endParaRPr>
          </a:p>
          <a:p>
            <a:pPr marL="609600" lvl="1" indent="0">
              <a:spcBef>
                <a:spcPts val="0"/>
              </a:spcBef>
              <a:buNone/>
            </a:pPr>
            <a:r>
              <a:rPr lang="en-IN" dirty="0">
                <a:latin typeface="Times New Roman" panose="02020603050405020304" pitchFamily="18" charset="0"/>
                <a:ea typeface="Cambria" panose="02040503050406030204" pitchFamily="18" charset="0"/>
                <a:cs typeface="Times New Roman" panose="02020603050405020304" pitchFamily="18" charset="0"/>
              </a:rPr>
              <a:t>5.</a:t>
            </a:r>
            <a:r>
              <a:rPr lang="en-US" dirty="0">
                <a:latin typeface="Times New Roman" panose="02020603050405020304" pitchFamily="18" charset="0"/>
                <a:ea typeface="Cambria" panose="02040503050406030204" pitchFamily="18" charset="0"/>
                <a:cs typeface="Times New Roman" panose="02020603050405020304" pitchFamily="18" charset="0"/>
              </a:rPr>
              <a:t> </a:t>
            </a:r>
            <a:r>
              <a:rPr lang="en-US" dirty="0" err="1">
                <a:latin typeface="Times New Roman" panose="02020603050405020304" pitchFamily="18" charset="0"/>
                <a:ea typeface="Cambria" panose="02040503050406030204" pitchFamily="18" charset="0"/>
                <a:cs typeface="Times New Roman" panose="02020603050405020304" pitchFamily="18" charset="0"/>
              </a:rPr>
              <a:t>Llorens</a:t>
            </a:r>
            <a:r>
              <a:rPr lang="en-US" dirty="0">
                <a:latin typeface="Times New Roman" panose="02020603050405020304" pitchFamily="18" charset="0"/>
                <a:ea typeface="Cambria" panose="02040503050406030204" pitchFamily="18" charset="0"/>
                <a:cs typeface="Times New Roman" panose="02020603050405020304" pitchFamily="18" charset="0"/>
              </a:rPr>
              <a:t>-Montes, F. J., Ruiz-Moreno, A., &amp; del Barrio-García, S. (2015). Hospital Finder applications and service quality: Influencing patient loyalty and recommendation. Computers in Human Behavior, 48, 542-549</a:t>
            </a:r>
          </a:p>
          <a:p>
            <a:pPr marL="152400" indent="0">
              <a:spcBef>
                <a:spcPts val="0"/>
              </a:spcBef>
              <a:buNone/>
            </a:pPr>
            <a:r>
              <a:rPr lang="en-US" sz="2000" dirty="0">
                <a:latin typeface="Times New Roman" panose="02020603050405020304" pitchFamily="18" charset="0"/>
                <a:ea typeface="Cambria" panose="02040503050406030204" pitchFamily="18" charset="0"/>
                <a:cs typeface="Times New Roman" panose="02020603050405020304" pitchFamily="18" charset="0"/>
                <a:hlinkClick r:id="rId3"/>
              </a:rPr>
              <a:t>https://www.indeed.com/career-advice/career-development/how-to-cite-a-research-paper</a:t>
            </a:r>
            <a:endParaRPr lang="en-US" sz="2000"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spcBef>
                <a:spcPts val="0"/>
              </a:spcBef>
              <a:buNone/>
            </a:pPr>
            <a:endParaRPr lang="en-US" sz="2000" dirty="0">
              <a:latin typeface="Times New Roman" panose="02020603050405020304" pitchFamily="18" charset="0"/>
              <a:ea typeface="Cambria" panose="02040503050406030204" pitchFamily="18" charset="0"/>
              <a:cs typeface="Times New Roman" panose="02020603050405020304" pitchFamily="18" charset="0"/>
            </a:endParaRPr>
          </a:p>
          <a:p>
            <a:endParaRPr lang="en-GB" dirty="0"/>
          </a:p>
        </p:txBody>
      </p:sp>
    </p:spTree>
    <p:extLst>
      <p:ext uri="{BB962C8B-B14F-4D97-AF65-F5344CB8AC3E}">
        <p14:creationId xmlns:p14="http://schemas.microsoft.com/office/powerpoint/2010/main" val="3613863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38A02-66E7-D4A9-0B63-EC7A4969F9A5}"/>
              </a:ext>
            </a:extLst>
          </p:cNvPr>
          <p:cNvSpPr>
            <a:spLocks noGrp="1"/>
          </p:cNvSpPr>
          <p:nvPr>
            <p:ph type="title"/>
          </p:nvPr>
        </p:nvSpPr>
        <p:spPr/>
        <p:txBody>
          <a:bodyPr/>
          <a:lstStyle/>
          <a:p>
            <a:r>
              <a:rPr lang="en-US" dirty="0"/>
              <a:t>Project work mapping with SDG</a:t>
            </a:r>
            <a:endParaRPr lang="en-IN" dirty="0"/>
          </a:p>
        </p:txBody>
      </p:sp>
      <p:sp>
        <p:nvSpPr>
          <p:cNvPr id="4" name="AutoShape 2" descr="Image preview">
            <a:extLst>
              <a:ext uri="{FF2B5EF4-FFF2-40B4-BE49-F238E27FC236}">
                <a16:creationId xmlns:a16="http://schemas.microsoft.com/office/drawing/2014/main" id="{96B0E362-745E-C478-1396-BA189B71502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6" descr="Image preview">
            <a:extLst>
              <a:ext uri="{FF2B5EF4-FFF2-40B4-BE49-F238E27FC236}">
                <a16:creationId xmlns:a16="http://schemas.microsoft.com/office/drawing/2014/main" id="{EA944A2A-59CE-0D28-76C1-2B1B38111B31}"/>
              </a:ext>
            </a:extLst>
          </p:cNvPr>
          <p:cNvSpPr>
            <a:spLocks noGrp="1" noChangeAspect="1" noChangeArrowheads="1"/>
          </p:cNvSpPr>
          <p:nvPr>
            <p:ph type="body"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5" name="Picture 4" descr="A mobile phone with a globe and a city in the background&#10;&#10;Description automatically generated">
            <a:extLst>
              <a:ext uri="{FF2B5EF4-FFF2-40B4-BE49-F238E27FC236}">
                <a16:creationId xmlns:a16="http://schemas.microsoft.com/office/drawing/2014/main" id="{9F75B1C0-7F3D-C5AB-2C5E-EE81E39AF0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800" y="1143001"/>
            <a:ext cx="10668000" cy="4952997"/>
          </a:xfrm>
          <a:prstGeom prst="rect">
            <a:avLst/>
          </a:prstGeom>
        </p:spPr>
      </p:pic>
    </p:spTree>
    <p:extLst>
      <p:ext uri="{BB962C8B-B14F-4D97-AF65-F5344CB8AC3E}">
        <p14:creationId xmlns:p14="http://schemas.microsoft.com/office/powerpoint/2010/main" val="37954494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marL="0" indent="0" algn="ctr">
              <a:buNone/>
            </a:pPr>
            <a:endParaRPr lang="en-GB" sz="4400" dirty="0"/>
          </a:p>
          <a:p>
            <a:pPr marL="0" indent="0" algn="ctr">
              <a:buNone/>
            </a:pPr>
            <a:endParaRPr lang="en-GB" sz="4400" dirty="0"/>
          </a:p>
          <a:p>
            <a:pPr marL="0" indent="0" algn="ctr">
              <a:buNone/>
            </a:pPr>
            <a:r>
              <a:rPr lang="en-GB" sz="6000" dirty="0"/>
              <a:t>Thank You</a:t>
            </a:r>
          </a:p>
        </p:txBody>
      </p:sp>
    </p:spTree>
    <p:extLst>
      <p:ext uri="{BB962C8B-B14F-4D97-AF65-F5344CB8AC3E}">
        <p14:creationId xmlns:p14="http://schemas.microsoft.com/office/powerpoint/2010/main" val="3691672322"/>
      </p:ext>
    </p:extLst>
  </p:cSld>
  <p:clrMapOvr>
    <a:masterClrMapping/>
  </p:clrMapOvr>
</p:sld>
</file>

<file path=ppt/theme/theme1.xml><?xml version="1.0" encoding="utf-8"?>
<a:theme xmlns:a="http://schemas.openxmlformats.org/drawingml/2006/main" name="Bioinformatic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ioinformatics" id="{2C23B8A5-E958-4A8C-AECF-01EA482D72F9}" vid="{45DF3A2B-1BA7-4465-AD96-220179DE36D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Bioinformatics</Template>
  <TotalTime>2252</TotalTime>
  <Words>1971</Words>
  <Application>Microsoft Office PowerPoint</Application>
  <PresentationFormat>Widescreen</PresentationFormat>
  <Paragraphs>144</Paragraphs>
  <Slides>22</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Bookman Old Style</vt:lpstr>
      <vt:lpstr>Calibri</vt:lpstr>
      <vt:lpstr>Cambria</vt:lpstr>
      <vt:lpstr>Courier New</vt:lpstr>
      <vt:lpstr>Times New Roman</vt:lpstr>
      <vt:lpstr>Verdana</vt:lpstr>
      <vt:lpstr>Wingdings</vt:lpstr>
      <vt:lpstr>Bioinformatics</vt:lpstr>
      <vt:lpstr>HOSPITAL FINDER</vt:lpstr>
      <vt:lpstr>CONTENT</vt:lpstr>
      <vt:lpstr>PowerPoint Presentation</vt:lpstr>
      <vt:lpstr>PROBLEM STATEMENT</vt:lpstr>
      <vt:lpstr>Introduction</vt:lpstr>
      <vt:lpstr>Literature Review </vt:lpstr>
      <vt:lpstr>Existing method Drawback</vt:lpstr>
      <vt:lpstr>Existing method Drawback</vt:lpstr>
      <vt:lpstr>Proposed Method</vt:lpstr>
      <vt:lpstr>Objectives</vt:lpstr>
      <vt:lpstr>Objectives</vt:lpstr>
      <vt:lpstr>Methodology/Modules</vt:lpstr>
      <vt:lpstr>Architecture</vt:lpstr>
      <vt:lpstr>Hardware/software components</vt:lpstr>
      <vt:lpstr>Timeline of Project</vt:lpstr>
      <vt:lpstr>Expected Outcomes</vt:lpstr>
      <vt:lpstr>Expected Outcomes</vt:lpstr>
      <vt:lpstr>Conclusion</vt:lpstr>
      <vt:lpstr>Github Link</vt:lpstr>
      <vt:lpstr>References</vt:lpstr>
      <vt:lpstr>Project work mapping with SDG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Sanjeev P Kaulgud-Asst. Prof-CSE</dc:creator>
  <cp:lastModifiedBy>Vadde Vinod</cp:lastModifiedBy>
  <cp:revision>24</cp:revision>
  <dcterms:created xsi:type="dcterms:W3CDTF">2023-03-16T03:26:27Z</dcterms:created>
  <dcterms:modified xsi:type="dcterms:W3CDTF">2025-01-08T13:32:14Z</dcterms:modified>
</cp:coreProperties>
</file>