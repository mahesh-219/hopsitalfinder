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1" r:id="rId3"/>
    <p:sldId id="282" r:id="rId4"/>
    <p:sldId id="294" r:id="rId5"/>
    <p:sldId id="257" r:id="rId6"/>
    <p:sldId id="291" r:id="rId7"/>
    <p:sldId id="276" r:id="rId8"/>
    <p:sldId id="278" r:id="rId9"/>
    <p:sldId id="259" r:id="rId10"/>
    <p:sldId id="260" r:id="rId11"/>
    <p:sldId id="279" r:id="rId12"/>
    <p:sldId id="261" r:id="rId13"/>
    <p:sldId id="275" r:id="rId14"/>
    <p:sldId id="277" r:id="rId15"/>
    <p:sldId id="262" r:id="rId16"/>
    <p:sldId id="263" r:id="rId17"/>
    <p:sldId id="280" r:id="rId18"/>
    <p:sldId id="264" r:id="rId19"/>
    <p:sldId id="268" r:id="rId20"/>
    <p:sldId id="265" r:id="rId21"/>
    <p:sldId id="274" r:id="rId22"/>
    <p:sldId id="295" r:id="rId23"/>
    <p:sldId id="296"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63" d="100"/>
          <a:sy n="63" d="100"/>
        </p:scale>
        <p:origin x="78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08-01-2025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08/01/2025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08/01/2025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08/01/2025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08/01/2025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ahesh-219/hopsitalfind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ndeed.com/career-advice/career-development/how-to-cite-a-research-paper" TargetMode="External"/><Relationship Id="rId2" Type="http://schemas.openxmlformats.org/officeDocument/2006/relationships/hyperlink" Target="https://nvlpubs.nist.gov/nistpubs/SpecialPublications/NIST.SP.800-63b.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HOSPITAL FINDER</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76169" y="1372642"/>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Number:CBD-10</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SRINIVAS</a:t>
            </a:r>
            <a:r>
              <a:rPr lang="en-US" b="1" dirty="0">
                <a:latin typeface="Cambria" panose="02040503050406030204" pitchFamily="18" charset="0"/>
                <a:ea typeface="Cambria" panose="02040503050406030204" pitchFamily="18" charset="0"/>
                <a:cs typeface="Verdana"/>
                <a:sym typeface="Verdana"/>
              </a:rPr>
              <a:t>AN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T</a:t>
            </a:r>
            <a:r>
              <a:rPr lang="en-US" sz="1800" b="1" dirty="0">
                <a:solidFill>
                  <a:schemeClr val="tx1"/>
                </a:solidFill>
                <a:latin typeface="Cambria" panose="02040503050406030204" pitchFamily="18" charset="0"/>
                <a:ea typeface="Cambria" panose="02040503050406030204" pitchFamily="18" charset="0"/>
                <a:cs typeface="Verdana"/>
                <a:sym typeface="Verdana"/>
              </a:rPr>
              <a:t> R,</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Professor,</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2032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solidFill>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DR. PRAVINTHRAJA</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solidFill>
                  <a:schemeClr val="tx1"/>
                </a:solidFill>
                <a:latin typeface="Cambria" panose="02040503050406030204" pitchFamily="18" charset="0"/>
                <a:ea typeface="Cambria" panose="02040503050406030204" pitchFamily="18" charset="0"/>
                <a:cs typeface="Verdana"/>
                <a:sym typeface="Verdana"/>
              </a:rPr>
              <a:t>MS. SUMA NG</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a:p>
            <a:pPr marL="0" marR="0" lvl="0" indent="0" rtl="0">
              <a:spcBef>
                <a:spcPts val="0"/>
              </a:spcBef>
              <a:spcAft>
                <a:spcPts val="0"/>
              </a:spcAft>
              <a:buClr>
                <a:srgbClr val="17365D"/>
              </a:buClr>
              <a:buSzPct val="100000"/>
              <a:buFont typeface="Arial"/>
              <a:buNone/>
            </a:pP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4F66D1AE-9448-EFF1-5A0C-8D82DA0A881C}"/>
              </a:ext>
            </a:extLst>
          </p:cNvPr>
          <p:cNvGraphicFramePr>
            <a:graphicFrameLocks noGrp="1"/>
          </p:cNvGraphicFramePr>
          <p:nvPr>
            <p:extLst>
              <p:ext uri="{D42A27DB-BD31-4B8C-83A1-F6EECF244321}">
                <p14:modId xmlns:p14="http://schemas.microsoft.com/office/powerpoint/2010/main" val="413550334"/>
              </p:ext>
            </p:extLst>
          </p:nvPr>
        </p:nvGraphicFramePr>
        <p:xfrm>
          <a:off x="197505" y="1992549"/>
          <a:ext cx="6096000" cy="1828800"/>
        </p:xfrm>
        <a:graphic>
          <a:graphicData uri="http://schemas.openxmlformats.org/drawingml/2006/table">
            <a:tbl>
              <a:tblPr firstRow="1" bandRow="1"/>
              <a:tblGrid>
                <a:gridCol w="3048000">
                  <a:extLst>
                    <a:ext uri="{9D8B030D-6E8A-4147-A177-3AD203B41FA5}">
                      <a16:colId xmlns:a16="http://schemas.microsoft.com/office/drawing/2014/main" val="547692186"/>
                    </a:ext>
                  </a:extLst>
                </a:gridCol>
                <a:gridCol w="3048000">
                  <a:extLst>
                    <a:ext uri="{9D8B030D-6E8A-4147-A177-3AD203B41FA5}">
                      <a16:colId xmlns:a16="http://schemas.microsoft.com/office/drawing/2014/main" val="4139844074"/>
                    </a:ext>
                  </a:extLst>
                </a:gridCol>
              </a:tblGrid>
              <a:tr h="355559">
                <a:tc>
                  <a:txBody>
                    <a:bodyPr/>
                    <a:lstStyle/>
                    <a:p>
                      <a:r>
                        <a:rPr lang="en-IN" b="1" dirty="0">
                          <a:solidFill>
                            <a:schemeClr val="tx2"/>
                          </a:solidFill>
                        </a:rPr>
                        <a:t>ROLL NO</a:t>
                      </a:r>
                    </a:p>
                  </a:txBody>
                  <a:tcPr/>
                </a:tc>
                <a:tc>
                  <a:txBody>
                    <a:bodyPr/>
                    <a:lstStyle/>
                    <a:p>
                      <a:r>
                        <a:rPr lang="en-IN" b="1" dirty="0">
                          <a:solidFill>
                            <a:schemeClr val="tx2"/>
                          </a:solidFill>
                        </a:rPr>
                        <a:t>NAME</a:t>
                      </a:r>
                    </a:p>
                  </a:txBody>
                  <a:tcPr/>
                </a:tc>
                <a:extLst>
                  <a:ext uri="{0D108BD9-81ED-4DB2-BD59-A6C34878D82A}">
                    <a16:rowId xmlns:a16="http://schemas.microsoft.com/office/drawing/2014/main" val="2767175782"/>
                  </a:ext>
                </a:extLst>
              </a:tr>
              <a:tr h="355559">
                <a:tc>
                  <a:txBody>
                    <a:bodyPr/>
                    <a:lstStyle/>
                    <a:p>
                      <a:r>
                        <a:rPr lang="en-IN" b="1" dirty="0"/>
                        <a:t>20211CBD0059</a:t>
                      </a:r>
                    </a:p>
                  </a:txBody>
                  <a:tcPr/>
                </a:tc>
                <a:tc>
                  <a:txBody>
                    <a:bodyPr/>
                    <a:lstStyle/>
                    <a:p>
                      <a:r>
                        <a:rPr lang="en-IN" b="1" dirty="0"/>
                        <a:t>Mahesh Reddy</a:t>
                      </a:r>
                    </a:p>
                  </a:txBody>
                  <a:tcPr/>
                </a:tc>
                <a:extLst>
                  <a:ext uri="{0D108BD9-81ED-4DB2-BD59-A6C34878D82A}">
                    <a16:rowId xmlns:a16="http://schemas.microsoft.com/office/drawing/2014/main" val="364130314"/>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20211CBD0018</a:t>
                      </a:r>
                    </a:p>
                  </a:txBody>
                  <a:tcPr/>
                </a:tc>
                <a:tc>
                  <a:txBody>
                    <a:bodyPr/>
                    <a:lstStyle/>
                    <a:p>
                      <a:r>
                        <a:rPr lang="en-IN" b="1" dirty="0"/>
                        <a:t>Vadde Vinod</a:t>
                      </a:r>
                    </a:p>
                  </a:txBody>
                  <a:tcPr/>
                </a:tc>
                <a:extLst>
                  <a:ext uri="{0D108BD9-81ED-4DB2-BD59-A6C34878D82A}">
                    <a16:rowId xmlns:a16="http://schemas.microsoft.com/office/drawing/2014/main" val="3282110540"/>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20211CBD0051</a:t>
                      </a:r>
                    </a:p>
                  </a:txBody>
                  <a:tcPr/>
                </a:tc>
                <a:tc>
                  <a:txBody>
                    <a:bodyPr/>
                    <a:lstStyle/>
                    <a:p>
                      <a:r>
                        <a:rPr lang="en-IN" b="1" dirty="0"/>
                        <a:t>Mahammad </a:t>
                      </a:r>
                      <a:r>
                        <a:rPr lang="en-IN" b="1" dirty="0" err="1"/>
                        <a:t>Thouheed</a:t>
                      </a:r>
                      <a:endParaRPr lang="en-IN" b="1" dirty="0"/>
                    </a:p>
                  </a:txBody>
                  <a:tcPr/>
                </a:tc>
                <a:extLst>
                  <a:ext uri="{0D108BD9-81ED-4DB2-BD59-A6C34878D82A}">
                    <a16:rowId xmlns:a16="http://schemas.microsoft.com/office/drawing/2014/main" val="2696390207"/>
                  </a:ext>
                </a:extLst>
              </a:tr>
              <a:tr h="1516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20211CBD0010</a:t>
                      </a:r>
                    </a:p>
                  </a:txBody>
                  <a:tcPr/>
                </a:tc>
                <a:tc>
                  <a:txBody>
                    <a:bodyPr/>
                    <a:lstStyle/>
                    <a:p>
                      <a:r>
                        <a:rPr lang="en-IN" b="1" dirty="0"/>
                        <a:t>Mahammad Ajar</a:t>
                      </a:r>
                    </a:p>
                  </a:txBody>
                  <a:tcPr/>
                </a:tc>
                <a:extLst>
                  <a:ext uri="{0D108BD9-81ED-4DB2-BD59-A6C34878D82A}">
                    <a16:rowId xmlns:a16="http://schemas.microsoft.com/office/drawing/2014/main" val="1820843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649F7-0170-FFF1-81BD-57266E0CB5DF}"/>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616BEF0B-D88C-993E-C4F1-CD68DB39C137}"/>
              </a:ext>
            </a:extLst>
          </p:cNvPr>
          <p:cNvSpPr>
            <a:spLocks noGrp="1"/>
          </p:cNvSpPr>
          <p:nvPr>
            <p:ph idx="1"/>
          </p:nvPr>
        </p:nvSpPr>
        <p:spPr/>
        <p:txBody>
          <a:bodyPr>
            <a:normAutofit fontScale="925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GB" dirty="0"/>
              <a:t>Literature Review</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Existing method Drawback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Proposed Method</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Objectives</a:t>
            </a:r>
          </a:p>
          <a:p>
            <a:pPr marL="495300" indent="-342900" algn="just">
              <a:lnSpc>
                <a:spcPct val="200000"/>
              </a:lnSpc>
              <a:spcBef>
                <a:spcPts val="0"/>
              </a:spcBef>
              <a:buFont typeface="Wingdings" panose="05000000000000000000" pitchFamily="2" charset="2"/>
              <a:buChar char="Ø"/>
            </a:pPr>
            <a:r>
              <a:rPr lang="en-GB" dirty="0"/>
              <a:t>Methodology/Modules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US" dirty="0"/>
              <a:t>Architecture</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Hardware/software components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838269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2F5B-2E27-C44B-5CB3-888789663F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A1F8B3-D212-AC06-0D3A-297475E0FF66}"/>
              </a:ext>
            </a:extLst>
          </p:cNvPr>
          <p:cNvSpPr>
            <a:spLocks noGrp="1"/>
          </p:cNvSpPr>
          <p:nvPr>
            <p:ph idx="1"/>
          </p:nvPr>
        </p:nvSpPr>
        <p:spPr/>
        <p:txBody>
          <a:bodyPr>
            <a:norm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Timeline of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Expected Outcomes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Conclusion</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err="1"/>
              <a:t>Github</a:t>
            </a:r>
            <a:r>
              <a:rPr lang="en-GB" dirty="0"/>
              <a:t> link</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t>Project work mapping with SDG</a:t>
            </a: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390226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8D8D-9B22-CE56-0124-2F633F1ABD48}"/>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EDB39ADF-5636-0FE0-0263-972DD6CA33ED}"/>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Build an android application that builds a communication gap between the hospitals and patients during emergencies. Build an android application that will display the nearest hospital and router to the selected hospital. After reaching the hospital, in some cases, patients are informed due to a lack of ventilators the patient cannot be admitted. So, the patient's family rushes toward another hospital. In this process, many patients lose their lives. To reduce this hassle our application displays all the available doctors in the hospitals. It displays the number of available resources like number of beds, number of ventilators, and number of available staff. Book an ambulance to the nearest hospital in one click.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739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pPr algn="just"/>
            <a:r>
              <a:rPr lang="en-US" sz="2000" dirty="0">
                <a:latin typeface="Times New Roman" panose="02020603050405020304" pitchFamily="18" charset="0"/>
                <a:ea typeface="Cambria" panose="02040503050406030204" pitchFamily="18" charset="0"/>
                <a:cs typeface="Times New Roman" panose="02020603050405020304" pitchFamily="18" charset="0"/>
              </a:rPr>
              <a:t>In the state of mind that a common person is in during a medical emergency, it becomes difficult to take calculated decisions such as which hospital to rush to. This lapse of decision could mean the difference between life or death for a loved one. Additionally, there are several aspects to consider such as availability of the required medical facilities, medicines, blood group and specialists to provide the patient with a maximum chance of survival in those crucial moments. Our app aims to be the solution, giving the user all the necessary information during a medical emergency taking into account their location and requirements and providing the best-suited hospital in that hour of need.</a:t>
            </a:r>
          </a:p>
          <a:p>
            <a:pPr marL="0" indent="0">
              <a:buNone/>
            </a:pPr>
            <a:endParaRPr lang="en-GB" dirty="0"/>
          </a:p>
        </p:txBody>
      </p:sp>
    </p:spTree>
    <p:extLst>
      <p:ext uri="{BB962C8B-B14F-4D97-AF65-F5344CB8AC3E}">
        <p14:creationId xmlns:p14="http://schemas.microsoft.com/office/powerpoint/2010/main" val="363348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F72B-220E-686D-27EF-D12562D69318}"/>
              </a:ext>
            </a:extLst>
          </p:cNvPr>
          <p:cNvSpPr>
            <a:spLocks noGrp="1"/>
          </p:cNvSpPr>
          <p:nvPr>
            <p:ph type="title"/>
          </p:nvPr>
        </p:nvSpPr>
        <p:spPr>
          <a:xfrm>
            <a:off x="1079130" y="825623"/>
            <a:ext cx="10668000" cy="180060"/>
          </a:xfrm>
        </p:spPr>
        <p:txBody>
          <a:bodyPr/>
          <a:lstStyle/>
          <a:p>
            <a:r>
              <a:rPr lang="en-GB" dirty="0"/>
              <a:t>Literature Review</a:t>
            </a:r>
            <a:br>
              <a:rPr lang="en-US" dirty="0">
                <a:latin typeface="Cambria" panose="02040503050406030204" pitchFamily="18" charset="0"/>
                <a:ea typeface="Cambria" panose="02040503050406030204" pitchFamily="18" charset="0"/>
              </a:rPr>
            </a:br>
            <a:endParaRPr lang="en-IN" dirty="0"/>
          </a:p>
        </p:txBody>
      </p:sp>
      <p:sp>
        <p:nvSpPr>
          <p:cNvPr id="3" name="Content Placeholder 2">
            <a:extLst>
              <a:ext uri="{FF2B5EF4-FFF2-40B4-BE49-F238E27FC236}">
                <a16:creationId xmlns:a16="http://schemas.microsoft.com/office/drawing/2014/main" id="{21E979B2-5268-6D34-BA15-BAA5F496D316}"/>
              </a:ext>
            </a:extLst>
          </p:cNvPr>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1.Frost &amp; Sullivan (2017) </a:t>
            </a:r>
            <a:r>
              <a:rPr lang="en-US" sz="2000" dirty="0">
                <a:latin typeface="Times New Roman" panose="02020603050405020304" pitchFamily="18" charset="0"/>
                <a:cs typeface="Times New Roman" panose="02020603050405020304" pitchFamily="18" charset="0"/>
              </a:rPr>
              <a:t>- prevent medical accidents in advance by using an integrated solution based on information and communication. </a:t>
            </a:r>
          </a:p>
          <a:p>
            <a:pPr marL="0" indent="0">
              <a:buNone/>
            </a:pPr>
            <a:r>
              <a:rPr lang="en-US" sz="2000" b="1"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Karen Taylor  (2017) </a:t>
            </a:r>
            <a:r>
              <a:rPr lang="en-US" sz="2000" dirty="0">
                <a:latin typeface="Times New Roman" panose="02020603050405020304" pitchFamily="18" charset="0"/>
                <a:cs typeface="Times New Roman" panose="02020603050405020304" pitchFamily="18" charset="0"/>
              </a:rPr>
              <a:t>- improving treatment procedures for existing patients and introducing new functions.</a:t>
            </a:r>
          </a:p>
          <a:p>
            <a:pPr marL="0" indent="0">
              <a:buNone/>
            </a:pPr>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European Union Agency for Network and Information Security  (2016) </a:t>
            </a:r>
            <a:r>
              <a:rPr lang="en-US" sz="2000" dirty="0">
                <a:latin typeface="Times New Roman" panose="02020603050405020304" pitchFamily="18" charset="0"/>
                <a:cs typeface="Times New Roman" panose="02020603050405020304" pitchFamily="18" charset="0"/>
              </a:rPr>
              <a:t>- A hospital that improves the patient treatment process based on IoT. </a:t>
            </a:r>
          </a:p>
          <a:p>
            <a:pPr marL="0" indent="0">
              <a:buNone/>
            </a:pPr>
            <a:r>
              <a:rPr lang="en-US" sz="2000" b="1"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Korea Embedded Software and System Industry Association  (2018)</a:t>
            </a:r>
          </a:p>
          <a:p>
            <a:pPr marL="0" indent="0">
              <a:buNone/>
            </a:pPr>
            <a:r>
              <a:rPr lang="en-US" sz="2000" b="1" dirty="0">
                <a:latin typeface="Times New Roman" panose="02020603050405020304" pitchFamily="18" charset="0"/>
                <a:cs typeface="Times New Roman" panose="02020603050405020304" pitchFamily="18" charset="0"/>
              </a:rPr>
              <a:t>5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Seoul Asan Hospital Innovation Design Center  (2020) </a:t>
            </a:r>
            <a:r>
              <a:rPr lang="en-US" sz="2000" dirty="0">
                <a:latin typeface="Times New Roman" panose="02020603050405020304" pitchFamily="18" charset="0"/>
                <a:cs typeface="Times New Roman" panose="02020603050405020304" pitchFamily="18" charset="0"/>
              </a:rPr>
              <a:t>- A next-generation hospital that exceeds the limits of existing hospitals in terms of quality of care.</a:t>
            </a:r>
          </a:p>
          <a:p>
            <a:pPr marL="0" indent="0">
              <a:buNone/>
            </a:pPr>
            <a:r>
              <a:rPr lang="en-US" sz="2000" b="1"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Ministry of Health and Welfare  (2020) </a:t>
            </a:r>
            <a:r>
              <a:rPr lang="en-US" sz="2000" dirty="0">
                <a:latin typeface="Times New Roman" panose="02020603050405020304" pitchFamily="18" charset="0"/>
                <a:cs typeface="Times New Roman" panose="02020603050405020304" pitchFamily="18" charset="0"/>
              </a:rPr>
              <a:t>- provides medical services by applying ICT such as 5G and IoT to improve medical services such as enhancing patient safety.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44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a:xfrm>
            <a:off x="812800" y="376238"/>
            <a:ext cx="10668000" cy="487362"/>
          </a:xfrm>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a:bodyPr>
          <a:lstStyle/>
          <a:p>
            <a:pPr marL="0" indent="0">
              <a:buNone/>
            </a:pPr>
            <a:r>
              <a:rPr lang="en-IN" dirty="0"/>
              <a:t>ADVANTAGES:</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Improved efficiency and speed</a:t>
            </a:r>
            <a:r>
              <a:rPr lang="en-US" sz="2200" b="0" i="0" dirty="0">
                <a:solidFill>
                  <a:srgbClr val="000000"/>
                </a:solidFill>
                <a:effectLst/>
                <a:latin typeface="Times New Roman" panose="02020603050405020304" pitchFamily="18" charset="0"/>
                <a:cs typeface="Times New Roman" panose="02020603050405020304" pitchFamily="18" charset="0"/>
              </a:rPr>
              <a:t> – The healthcare apps can enhance healthcare delivery with more efficiency, as they can handle multiple queries and requirements at a time.</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Reduction in healthcare costs</a:t>
            </a:r>
            <a:r>
              <a:rPr lang="en-US" sz="2200" b="0" i="0" dirty="0">
                <a:solidFill>
                  <a:srgbClr val="000000"/>
                </a:solidFill>
                <a:effectLst/>
                <a:latin typeface="Times New Roman" panose="02020603050405020304" pitchFamily="18" charset="0"/>
                <a:cs typeface="Times New Roman" panose="02020603050405020304" pitchFamily="18" charset="0"/>
              </a:rPr>
              <a:t> – The cost associated with the healthcare consultation reduced significantly with the usage of apps as the maintenance cost is less.</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Easier and convenient to use </a:t>
            </a:r>
            <a:r>
              <a:rPr lang="en-US" sz="2200" b="0" i="0" dirty="0">
                <a:solidFill>
                  <a:srgbClr val="000000"/>
                </a:solidFill>
                <a:effectLst/>
                <a:latin typeface="Times New Roman" panose="02020603050405020304" pitchFamily="18" charset="0"/>
                <a:cs typeface="Times New Roman" panose="02020603050405020304" pitchFamily="18" charset="0"/>
              </a:rPr>
              <a:t>– The healthcare apps can be accessed at any time of the day. They have a 24/7 patient monitoring system. </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Save time</a:t>
            </a:r>
            <a:r>
              <a:rPr lang="en-US" sz="2200" b="0" i="0" dirty="0">
                <a:solidFill>
                  <a:srgbClr val="000000"/>
                </a:solidFill>
                <a:effectLst/>
                <a:latin typeface="Times New Roman" panose="02020603050405020304" pitchFamily="18" charset="0"/>
                <a:cs typeface="Times New Roman" panose="02020603050405020304" pitchFamily="18" charset="0"/>
              </a:rPr>
              <a:t> – With the healthcare apps, the patients can easily connect with the healthcare provider for consultation. It saves traveling time between home and the healthcare center and also requires fewer visits as compared to the traditional approach.</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Seamless exchange of data</a:t>
            </a:r>
            <a:r>
              <a:rPr lang="en-US" sz="2200" b="0" i="0" dirty="0">
                <a:solidFill>
                  <a:srgbClr val="000000"/>
                </a:solidFill>
                <a:effectLst/>
                <a:latin typeface="Times New Roman" panose="02020603050405020304" pitchFamily="18" charset="0"/>
                <a:cs typeface="Times New Roman" panose="02020603050405020304" pitchFamily="18" charset="0"/>
              </a:rPr>
              <a:t> – The healthcare apps come with an inbuilt option to share and transfer the health data across the healthcare system.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66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C52F-4ED5-8199-791E-E85B5F498CBF}"/>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C7D8A70B-B1B8-315D-E7D0-3791FEBE7BA6}"/>
              </a:ext>
            </a:extLst>
          </p:cNvPr>
          <p:cNvSpPr>
            <a:spLocks noGrp="1"/>
          </p:cNvSpPr>
          <p:nvPr>
            <p:ph idx="1"/>
          </p:nvPr>
        </p:nvSpPr>
        <p:spPr/>
        <p:txBody>
          <a:bodyPr>
            <a:normAutofit/>
          </a:bodyPr>
          <a:lstStyle/>
          <a:p>
            <a:pPr marL="0" indent="0">
              <a:buNone/>
            </a:pPr>
            <a:r>
              <a:rPr lang="en-IN" dirty="0"/>
              <a:t>DISADVANTAGES:</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Data Privacy –</a:t>
            </a:r>
            <a:r>
              <a:rPr lang="en-US" sz="2000" b="0" i="0" dirty="0">
                <a:solidFill>
                  <a:srgbClr val="000000"/>
                </a:solidFill>
                <a:effectLst/>
                <a:latin typeface="Times New Roman" panose="02020603050405020304" pitchFamily="18" charset="0"/>
                <a:cs typeface="Times New Roman" panose="02020603050405020304" pitchFamily="18" charset="0"/>
              </a:rPr>
              <a:t> The health apps continuously collect and analyze the health data of the person. The threat to the exposure of personal information by the hacker and sharing with the third parties is a major concern</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Accuracy of Data –</a:t>
            </a:r>
            <a:r>
              <a:rPr lang="en-US" sz="2000" b="0" i="0" dirty="0">
                <a:solidFill>
                  <a:srgbClr val="000000"/>
                </a:solidFill>
                <a:effectLst/>
                <a:latin typeface="Times New Roman" panose="02020603050405020304" pitchFamily="18" charset="0"/>
                <a:cs typeface="Times New Roman" panose="02020603050405020304" pitchFamily="18" charset="0"/>
              </a:rPr>
              <a:t> The information and advice provided by healthcare apps is also an important concern with healthcare apps. </a:t>
            </a:r>
          </a:p>
          <a:p>
            <a:pPr algn="just">
              <a:buFont typeface="Arial" panose="020B0604020202020204" pitchFamily="34" charset="0"/>
              <a:buChar char="•"/>
            </a:pPr>
            <a:r>
              <a:rPr lang="en-US" sz="2000" b="0" i="0" dirty="0">
                <a:solidFill>
                  <a:srgbClr val="000000"/>
                </a:solidFill>
                <a:effectLst/>
                <a:latin typeface="Times New Roman" panose="02020603050405020304" pitchFamily="18" charset="0"/>
                <a:cs typeface="Times New Roman" panose="02020603050405020304" pitchFamily="18" charset="0"/>
              </a:rPr>
              <a:t>Internet accessibility, the high cost of smartphones, lack of regulatory approval, high cost for in-purchase applications are some of the other key factors hampering penetration of the mobile health apps in the market, faltering their demand.</a:t>
            </a:r>
          </a:p>
          <a:p>
            <a:pPr marL="0" indent="0">
              <a:buNone/>
            </a:pPr>
            <a:endParaRPr lang="en-IN" dirty="0"/>
          </a:p>
        </p:txBody>
      </p:sp>
    </p:spTree>
    <p:extLst>
      <p:ext uri="{BB962C8B-B14F-4D97-AF65-F5344CB8AC3E}">
        <p14:creationId xmlns:p14="http://schemas.microsoft.com/office/powerpoint/2010/main" val="3011073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rmAutofit/>
          </a:bodyPr>
          <a:lstStyle/>
          <a:p>
            <a:pPr marL="0" indent="0" algn="just">
              <a:buNone/>
            </a:pPr>
            <a:r>
              <a:rPr lang="en-US" sz="2000" b="1" i="0" dirty="0">
                <a:effectLst/>
                <a:latin typeface="Times New Roman" panose="02020603050405020304" pitchFamily="18" charset="0"/>
                <a:cs typeface="Times New Roman" panose="02020603050405020304" pitchFamily="18" charset="0"/>
              </a:rPr>
              <a:t>User interface</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Design an intuitive interface with search bars, filters, and interactive maps. Use a consistent design language across platforms. </a:t>
            </a:r>
          </a:p>
          <a:p>
            <a:pPr marL="0" indent="0" algn="just">
              <a:buNone/>
            </a:pPr>
            <a:r>
              <a:rPr lang="en-US" sz="2000" b="1" i="0" dirty="0">
                <a:effectLst/>
                <a:latin typeface="Times New Roman" panose="02020603050405020304" pitchFamily="18" charset="0"/>
                <a:cs typeface="Times New Roman" panose="02020603050405020304" pitchFamily="18" charset="0"/>
              </a:rPr>
              <a:t>Communication</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Establish secure communication channels between the frontend and backend components. Use RESTful APIs or </a:t>
            </a:r>
            <a:r>
              <a:rPr lang="en-US" sz="2000" b="0" i="0" dirty="0" err="1">
                <a:effectLst/>
                <a:latin typeface="Times New Roman" panose="02020603050405020304" pitchFamily="18" charset="0"/>
                <a:cs typeface="Times New Roman" panose="02020603050405020304" pitchFamily="18" charset="0"/>
              </a:rPr>
              <a:t>GraphQL</a:t>
            </a:r>
            <a:r>
              <a:rPr lang="en-US" sz="2000" b="0" i="0" dirty="0">
                <a:effectLst/>
                <a:latin typeface="Times New Roman" panose="02020603050405020304" pitchFamily="18" charset="0"/>
                <a:cs typeface="Times New Roman" panose="02020603050405020304" pitchFamily="18" charset="0"/>
              </a:rPr>
              <a:t> for data retrieval and manipulation. </a:t>
            </a:r>
          </a:p>
          <a:p>
            <a:pPr marL="0" indent="0" algn="just">
              <a:buNone/>
            </a:pPr>
            <a:r>
              <a:rPr lang="en-US" sz="2000" b="1" i="0" dirty="0">
                <a:effectLst/>
                <a:latin typeface="Times New Roman" panose="02020603050405020304" pitchFamily="18" charset="0"/>
                <a:cs typeface="Times New Roman" panose="02020603050405020304" pitchFamily="18" charset="0"/>
              </a:rPr>
              <a:t>GPS</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Use the global positioning system (GPS) on smartphones to calculate the nearest hospitals and provide directions. </a:t>
            </a:r>
          </a:p>
          <a:p>
            <a:pPr marL="0" indent="0" algn="just">
              <a:buNone/>
            </a:pPr>
            <a:r>
              <a:rPr lang="en-US" sz="2000" b="1" i="0" dirty="0">
                <a:effectLst/>
                <a:latin typeface="Times New Roman" panose="02020603050405020304" pitchFamily="18" charset="0"/>
                <a:cs typeface="Times New Roman" panose="02020603050405020304" pitchFamily="18" charset="0"/>
              </a:rPr>
              <a:t>Hospital demographics</a:t>
            </a:r>
            <a:endParaRPr lang="en-US" sz="20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Include hospital demographics, inpatient procedure rates, outpatient calls, hospital quality data, and clinical trials data</a:t>
            </a: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normAutofit/>
          </a:bodyPr>
          <a:lstStyle/>
          <a:p>
            <a:pPr marL="457200" indent="-457200">
              <a:buAutoNum type="arabicPeriod"/>
            </a:pPr>
            <a:r>
              <a:rPr lang="en-US" sz="2000" b="1" i="0" dirty="0">
                <a:effectLst/>
                <a:latin typeface="Times New Roman" panose="02020603050405020304" pitchFamily="18" charset="0"/>
                <a:cs typeface="Times New Roman" panose="02020603050405020304" pitchFamily="18" charset="0"/>
              </a:rPr>
              <a:t>User-Friendly Interface</a:t>
            </a:r>
            <a:r>
              <a:rPr lang="en-US" sz="2000" b="0" i="0" dirty="0">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Design and develop an intuitive and user-friendly interface that allows users to easily navigate and search for hospitals.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b="0" i="0" dirty="0">
                <a:effectLst/>
                <a:latin typeface="Times New Roman" panose="02020603050405020304" pitchFamily="18" charset="0"/>
                <a:cs typeface="Times New Roman" panose="02020603050405020304" pitchFamily="18" charset="0"/>
              </a:rPr>
              <a:t>2. </a:t>
            </a:r>
            <a:r>
              <a:rPr lang="en-US" sz="2000" b="1" i="0" dirty="0">
                <a:effectLst/>
                <a:latin typeface="Times New Roman" panose="02020603050405020304" pitchFamily="18" charset="0"/>
                <a:cs typeface="Times New Roman" panose="02020603050405020304" pitchFamily="18" charset="0"/>
              </a:rPr>
              <a:t>Accurate Hospital Data:</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Ensure that the app provides up-to-date and accurate information about hospitals, including their locations, contact</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details, services offered, and any other relevant data.</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3. </a:t>
            </a:r>
            <a:r>
              <a:rPr lang="en-US" sz="2000" b="1" i="0" dirty="0">
                <a:effectLst/>
                <a:latin typeface="Times New Roman" panose="02020603050405020304" pitchFamily="18" charset="0"/>
                <a:cs typeface="Times New Roman" panose="02020603050405020304" pitchFamily="18" charset="0"/>
              </a:rPr>
              <a:t>Geolocation Services:</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Implement geolocation features to enable users to find nearby hospitals based on their current location.</a:t>
            </a:r>
            <a:br>
              <a:rPr lang="en-US" sz="2000" dirty="0">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72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A281-2DBC-6E79-8BAE-C1146C57A21B}"/>
              </a:ext>
            </a:extLst>
          </p:cNvPr>
          <p:cNvSpPr>
            <a:spLocks noGrp="1"/>
          </p:cNvSpPr>
          <p:nvPr>
            <p:ph type="title"/>
          </p:nvPr>
        </p:nvSpPr>
        <p:spPr/>
        <p:txBody>
          <a:bodyPr/>
          <a:lstStyle/>
          <a:p>
            <a:r>
              <a:rPr lang="en-GB" dirty="0"/>
              <a:t>Objectives</a:t>
            </a:r>
            <a:endParaRPr lang="en-IN" dirty="0"/>
          </a:p>
        </p:txBody>
      </p:sp>
      <p:sp>
        <p:nvSpPr>
          <p:cNvPr id="3" name="Content Placeholder 2">
            <a:extLst>
              <a:ext uri="{FF2B5EF4-FFF2-40B4-BE49-F238E27FC236}">
                <a16:creationId xmlns:a16="http://schemas.microsoft.com/office/drawing/2014/main" id="{86A65A8D-7BB4-55B7-66B6-372DA22DB14A}"/>
              </a:ext>
            </a:extLst>
          </p:cNvPr>
          <p:cNvSpPr>
            <a:spLocks noGrp="1"/>
          </p:cNvSpPr>
          <p:nvPr>
            <p:ph idx="1"/>
          </p:nvPr>
        </p:nvSpPr>
        <p:spPr/>
        <p:txBody>
          <a:bodyPr>
            <a:normAutofit/>
          </a:bodyPr>
          <a:lstStyle/>
          <a:p>
            <a:pPr marL="0" indent="0" rtl="0">
              <a:buNone/>
            </a:pPr>
            <a:r>
              <a:rPr lang="en-US" sz="2000" b="0" i="0" dirty="0">
                <a:solidFill>
                  <a:srgbClr val="000000"/>
                </a:solidFill>
                <a:effectLst/>
                <a:latin typeface="Times New Roman" panose="02020603050405020304" pitchFamily="18" charset="0"/>
                <a:cs typeface="Times New Roman" panose="02020603050405020304" pitchFamily="18" charset="0"/>
              </a:rPr>
              <a:t>4. </a:t>
            </a:r>
            <a:r>
              <a:rPr lang="en-US" sz="2000" b="1" i="0" dirty="0">
                <a:solidFill>
                  <a:srgbClr val="000000"/>
                </a:solidFill>
                <a:effectLst/>
                <a:latin typeface="Times New Roman" panose="02020603050405020304" pitchFamily="18" charset="0"/>
                <a:cs typeface="Times New Roman" panose="02020603050405020304" pitchFamily="18" charset="0"/>
              </a:rPr>
              <a:t>Search and Filtering Options:</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Provide users with robust search and filtering options to refine their hospital search based on criteria such as </a:t>
            </a:r>
            <a:r>
              <a:rPr lang="en-US" sz="2000" b="0" i="0" dirty="0" err="1">
                <a:solidFill>
                  <a:srgbClr val="000000"/>
                </a:solidFill>
                <a:effectLst/>
                <a:latin typeface="Times New Roman" panose="02020603050405020304" pitchFamily="18" charset="0"/>
                <a:cs typeface="Times New Roman" panose="02020603050405020304" pitchFamily="18" charset="0"/>
              </a:rPr>
              <a:t>specialty,facilities</a:t>
            </a:r>
            <a:r>
              <a:rPr lang="en-US" sz="2000" b="0" i="0" dirty="0">
                <a:solidFill>
                  <a:srgbClr val="000000"/>
                </a:solidFill>
                <a:effectLst/>
                <a:latin typeface="Times New Roman" panose="02020603050405020304" pitchFamily="18" charset="0"/>
                <a:cs typeface="Times New Roman" panose="02020603050405020304" pitchFamily="18" charset="0"/>
              </a:rPr>
              <a:t>, ratings, and distance.</a:t>
            </a:r>
          </a:p>
          <a:p>
            <a:pPr marL="0" indent="0" rtl="0">
              <a:buNone/>
            </a:pP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5. </a:t>
            </a:r>
            <a:r>
              <a:rPr lang="en-US" sz="2000" b="1" i="0" dirty="0">
                <a:solidFill>
                  <a:srgbClr val="000000"/>
                </a:solidFill>
                <a:effectLst/>
                <a:latin typeface="Times New Roman" panose="02020603050405020304" pitchFamily="18" charset="0"/>
                <a:cs typeface="Times New Roman" panose="02020603050405020304" pitchFamily="18" charset="0"/>
              </a:rPr>
              <a:t>Integration with Emergency Services</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Integrate emergency service information, such as contact numbers and emergency room wait times, to enhance the app’s usefulness during critical </a:t>
            </a:r>
            <a:r>
              <a:rPr lang="en-US" sz="2000" b="0" i="0" dirty="0" err="1">
                <a:solidFill>
                  <a:srgbClr val="000000"/>
                </a:solidFill>
                <a:effectLst/>
                <a:latin typeface="Times New Roman" panose="02020603050405020304" pitchFamily="18" charset="0"/>
                <a:cs typeface="Times New Roman" panose="02020603050405020304" pitchFamily="18" charset="0"/>
              </a:rPr>
              <a:t>situations.International</a:t>
            </a:r>
            <a:r>
              <a:rPr lang="en-US" sz="2000" b="0" i="0" dirty="0">
                <a:solidFill>
                  <a:srgbClr val="000000"/>
                </a:solidFill>
                <a:effectLst/>
                <a:latin typeface="Times New Roman" panose="02020603050405020304" pitchFamily="18" charset="0"/>
                <a:cs typeface="Times New Roman" panose="02020603050405020304" pitchFamily="18" charset="0"/>
              </a:rPr>
              <a:t> Journal of Research Publication and Reviews, Vol 5, no 1, pp 1904-1910 January 2024 1906.</a:t>
            </a:r>
          </a:p>
          <a:p>
            <a:pPr marL="0" indent="0" rtl="0">
              <a:buNone/>
            </a:pP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6</a:t>
            </a:r>
            <a:r>
              <a:rPr lang="en-US" sz="2000" b="1" i="0" dirty="0">
                <a:solidFill>
                  <a:srgbClr val="000000"/>
                </a:solidFill>
                <a:effectLst/>
                <a:latin typeface="Times New Roman" panose="02020603050405020304" pitchFamily="18" charset="0"/>
                <a:cs typeface="Times New Roman" panose="02020603050405020304" pitchFamily="18" charset="0"/>
              </a:rPr>
              <a:t>. User Reviews and Ratings</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Enable users to leave reviews and ratings for hospitals, fostering a community-driven feedback system</a:t>
            </a:r>
            <a:r>
              <a:rPr lang="en-US" b="0" i="0" dirty="0">
                <a:solidFill>
                  <a:srgbClr val="000000"/>
                </a:solidFill>
                <a:effectLst/>
                <a:latin typeface="Arial" panose="020B0604020202020204" pitchFamily="34" charset="0"/>
              </a:rPr>
              <a:t>.</a:t>
            </a:r>
            <a:br>
              <a:rPr lang="en-US" b="0" i="0" dirty="0">
                <a:solidFill>
                  <a:srgbClr val="000000"/>
                </a:solidFill>
                <a:effectLst/>
                <a:latin typeface="Arial" panose="020B0604020202020204" pitchFamily="34" charset="0"/>
              </a:rPr>
            </a:br>
            <a:endParaRPr lang="en-US" b="0" i="0" dirty="0">
              <a:solidFill>
                <a:srgbClr val="000000"/>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787865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a:xfrm>
            <a:off x="812800" y="1153161"/>
            <a:ext cx="10668000" cy="4952997"/>
          </a:xfrm>
        </p:spPr>
        <p:txBody>
          <a:bodyPr>
            <a:normAutofit/>
          </a:bodyPr>
          <a:lstStyle/>
          <a:p>
            <a:r>
              <a:rPr lang="en-US" sz="2000" b="1" i="0" dirty="0">
                <a:effectLst/>
                <a:latin typeface="Times New Roman" panose="02020603050405020304" pitchFamily="18" charset="0"/>
                <a:cs typeface="Times New Roman" panose="02020603050405020304" pitchFamily="18" charset="0"/>
              </a:rPr>
              <a:t>MODULES</a:t>
            </a:r>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Registration: </a:t>
            </a:r>
            <a:r>
              <a:rPr lang="en-US" sz="2000" b="0" i="0" dirty="0">
                <a:effectLst/>
                <a:latin typeface="Times New Roman" panose="02020603050405020304" pitchFamily="18" charset="0"/>
                <a:cs typeface="Times New Roman" panose="02020603050405020304" pitchFamily="18" charset="0"/>
              </a:rPr>
              <a:t>process of signing up or enrolling in the app. During the registration process, users typically provide necessary information, such as their email address, username, password, and sometime additional details depending on the platform's requirements.</a:t>
            </a:r>
          </a:p>
          <a:p>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Login: </a:t>
            </a:r>
            <a:r>
              <a:rPr lang="en-US" sz="2000" b="0" i="0" dirty="0">
                <a:effectLst/>
                <a:latin typeface="Times New Roman" panose="02020603050405020304" pitchFamily="18" charset="0"/>
                <a:cs typeface="Times New Roman" panose="02020603050405020304" pitchFamily="18" charset="0"/>
              </a:rPr>
              <a:t>it allows the user to log in by using a username and password. Login is the process by which users access an application, website, or service using their previously created credentials, typically a combination of a</a:t>
            </a:r>
            <a:r>
              <a:rPr lang="en-US"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username and password.</a:t>
            </a:r>
          </a:p>
          <a:p>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Treatment for the Disease required: </a:t>
            </a:r>
            <a:r>
              <a:rPr lang="en-US" sz="2000" b="0" i="0" dirty="0">
                <a:effectLst/>
                <a:latin typeface="Times New Roman" panose="02020603050405020304" pitchFamily="18" charset="0"/>
                <a:cs typeface="Times New Roman" panose="02020603050405020304" pitchFamily="18" charset="0"/>
              </a:rPr>
              <a:t>search for the treatment specialist for the required disease. Start by understanding the nature of the disease or medical condition you are dealing with</a:t>
            </a:r>
            <a:r>
              <a:rPr lang="en-US" b="0" i="0" dirty="0">
                <a:effectLst/>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5" name="Content Placeholder 4" descr="A diagram of a medical procedure&#10;&#10;Description automatically generated">
            <a:extLst>
              <a:ext uri="{FF2B5EF4-FFF2-40B4-BE49-F238E27FC236}">
                <a16:creationId xmlns:a16="http://schemas.microsoft.com/office/drawing/2014/main" id="{A849EC1A-024C-54CB-496A-BDB853B79C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7162" y="1171233"/>
            <a:ext cx="7877737" cy="4786237"/>
          </a:xfrm>
        </p:spPr>
      </p:pic>
    </p:spTree>
    <p:extLst>
      <p:ext uri="{BB962C8B-B14F-4D97-AF65-F5344CB8AC3E}">
        <p14:creationId xmlns:p14="http://schemas.microsoft.com/office/powerpoint/2010/main" val="59389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Android Studio</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HTML &amp; HTML5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CSS</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Google Maps API</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Node.js</a:t>
            </a: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sp>
        <p:nvSpPr>
          <p:cNvPr id="3" name="Content Placeholder 2"/>
          <p:cNvSpPr>
            <a:spLocks noGrp="1"/>
          </p:cNvSpPr>
          <p:nvPr>
            <p:ph idx="1"/>
          </p:nvPr>
        </p:nvSpPr>
        <p:spPr/>
        <p:txBody>
          <a:bodyPr/>
          <a:lstStyle/>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Research and Analysis: September 2024 -October 2024 </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Development of App(</a:t>
            </a:r>
            <a:r>
              <a:rPr lang="en-US" sz="2000" dirty="0" err="1">
                <a:latin typeface="Times New Roman" panose="02020603050405020304" pitchFamily="18" charset="0"/>
                <a:ea typeface="Cambria" panose="02040503050406030204" pitchFamily="18" charset="0"/>
                <a:cs typeface="Times New Roman" panose="02020603050405020304" pitchFamily="18" charset="0"/>
              </a:rPr>
              <a:t>Frontend&amp;Backend</a:t>
            </a:r>
            <a:r>
              <a:rPr lang="en-US" sz="2000" dirty="0">
                <a:latin typeface="Times New Roman" panose="02020603050405020304" pitchFamily="18" charset="0"/>
                <a:ea typeface="Cambria" panose="02040503050406030204" pitchFamily="18" charset="0"/>
                <a:cs typeface="Times New Roman" panose="02020603050405020304" pitchFamily="18" charset="0"/>
              </a:rPr>
              <a:t>): October 2024 - November 2024</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Testing and Refinement: November 2024</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Final Report and Presentation: December 2024</a:t>
            </a:r>
          </a:p>
          <a:p>
            <a:pPr marL="342900" lvl="0" indent="-190500" algn="just">
              <a:lnSpc>
                <a:spcPct val="200000"/>
              </a:lnSpc>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 it will take around 3 to 4 months)</a:t>
            </a:r>
          </a:p>
          <a:p>
            <a:endParaRPr lang="en-GB" dirty="0"/>
          </a:p>
        </p:txBody>
      </p:sp>
    </p:spTree>
    <p:extLst>
      <p:ext uri="{BB962C8B-B14F-4D97-AF65-F5344CB8AC3E}">
        <p14:creationId xmlns:p14="http://schemas.microsoft.com/office/powerpoint/2010/main" val="36773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rmAutofit fontScale="92500"/>
          </a:bodyPr>
          <a:lstStyle/>
          <a:p>
            <a:pPr marL="0" indent="0" algn="just">
              <a:buNone/>
            </a:pPr>
            <a:r>
              <a:rPr lang="en-US" sz="2200" b="1" dirty="0">
                <a:latin typeface="Times New Roman" panose="02020603050405020304" pitchFamily="18" charset="0"/>
                <a:cs typeface="Times New Roman" panose="02020603050405020304" pitchFamily="18" charset="0"/>
              </a:rPr>
              <a:t>1. Improved Healthcare Accessibility</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Quick and Easy Access</a:t>
            </a:r>
            <a:r>
              <a:rPr lang="en-US" sz="2200" dirty="0">
                <a:latin typeface="Times New Roman" panose="02020603050405020304" pitchFamily="18" charset="0"/>
                <a:cs typeface="Times New Roman" panose="02020603050405020304" pitchFamily="18" charset="0"/>
              </a:rPr>
              <a:t>: Users can locate hospitals, clinics, or specialized healthcare facilities near them based on their current location or specified preferences.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24/7 Availability</a:t>
            </a:r>
            <a:r>
              <a:rPr lang="en-US" sz="2200" dirty="0">
                <a:latin typeface="Times New Roman" panose="02020603050405020304" pitchFamily="18" charset="0"/>
                <a:cs typeface="Times New Roman" panose="02020603050405020304" pitchFamily="18" charset="0"/>
              </a:rPr>
              <a:t>: A hospital finder app can provide continuous access to healthcare facility information, allowing users to find hospitals at any time, including during emergencies.</a:t>
            </a:r>
          </a:p>
          <a:p>
            <a:pPr marL="0" indent="0" algn="just">
              <a:buNone/>
            </a:pPr>
            <a:r>
              <a:rPr lang="en-US" sz="2200" b="1" dirty="0">
                <a:latin typeface="Times New Roman" panose="02020603050405020304" pitchFamily="18" charset="0"/>
                <a:cs typeface="Times New Roman" panose="02020603050405020304" pitchFamily="18" charset="0"/>
              </a:rPr>
              <a:t>2. Real-Time Information</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Live Hospital Status</a:t>
            </a:r>
            <a:r>
              <a:rPr lang="en-US" sz="2200" dirty="0">
                <a:latin typeface="Times New Roman" panose="02020603050405020304" pitchFamily="18" charset="0"/>
                <a:cs typeface="Times New Roman" panose="02020603050405020304" pitchFamily="18" charset="0"/>
              </a:rPr>
              <a:t>: The app could provide real-time data about hospital availability, including information such as:</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Bed occupancy</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Emergency room wait times</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Specialized equipment or doctors available (e.g., MRI, cardiologists)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Reduced Overcrowding</a:t>
            </a:r>
            <a:r>
              <a:rPr lang="en-US" sz="2200" dirty="0">
                <a:latin typeface="Times New Roman" panose="02020603050405020304" pitchFamily="18" charset="0"/>
                <a:cs typeface="Times New Roman" panose="02020603050405020304" pitchFamily="18" charset="0"/>
              </a:rPr>
              <a:t>: By providing real-time information on hospital capacity, the app can direct users to less crowded hospitals, reducing the strain on busy healthcare facilities.</a:t>
            </a:r>
          </a:p>
          <a:p>
            <a:endParaRPr lang="en-GB" dirty="0"/>
          </a:p>
        </p:txBody>
      </p:sp>
    </p:spTree>
    <p:extLst>
      <p:ext uri="{BB962C8B-B14F-4D97-AF65-F5344CB8AC3E}">
        <p14:creationId xmlns:p14="http://schemas.microsoft.com/office/powerpoint/2010/main" val="192392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D93F-305D-003F-4BE5-B3B0AF2A156F}"/>
              </a:ext>
            </a:extLst>
          </p:cNvPr>
          <p:cNvSpPr>
            <a:spLocks noGrp="1"/>
          </p:cNvSpPr>
          <p:nvPr>
            <p:ph type="title"/>
          </p:nvPr>
        </p:nvSpPr>
        <p:spPr/>
        <p:txBody>
          <a:bodyPr/>
          <a:lstStyle/>
          <a:p>
            <a:r>
              <a:rPr lang="en-GB" dirty="0"/>
              <a:t>Expected Outcomes</a:t>
            </a:r>
            <a:endParaRPr lang="en-IN" dirty="0"/>
          </a:p>
        </p:txBody>
      </p:sp>
      <p:sp>
        <p:nvSpPr>
          <p:cNvPr id="3" name="Content Placeholder 2">
            <a:extLst>
              <a:ext uri="{FF2B5EF4-FFF2-40B4-BE49-F238E27FC236}">
                <a16:creationId xmlns:a16="http://schemas.microsoft.com/office/drawing/2014/main" id="{90F9BC6E-B562-2CC4-3435-68368237927E}"/>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3. Optimized Emergency Response</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Reduced Response Time</a:t>
            </a:r>
            <a:r>
              <a:rPr lang="en-US" sz="2200" dirty="0">
                <a:latin typeface="Times New Roman" panose="02020603050405020304" pitchFamily="18" charset="0"/>
                <a:cs typeface="Times New Roman" panose="02020603050405020304" pitchFamily="18" charset="0"/>
              </a:rPr>
              <a:t>: In emergency situations, users can quickly find the nearest hospital with emergency services, reducing the time spent searching for appropriate care.</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Integration with Ambulance Services</a:t>
            </a:r>
            <a:r>
              <a:rPr lang="en-US" sz="2200" dirty="0">
                <a:latin typeface="Times New Roman" panose="02020603050405020304" pitchFamily="18" charset="0"/>
                <a:cs typeface="Times New Roman" panose="02020603050405020304" pitchFamily="18" charset="0"/>
              </a:rPr>
              <a:t>: The app can integrate with local emergency services to send location-based alerts, or dispatch an ambulance, further optimizing the response process.</a:t>
            </a:r>
          </a:p>
          <a:p>
            <a:pPr marL="0" indent="0" algn="just">
              <a:buNone/>
            </a:pPr>
            <a:r>
              <a:rPr lang="en-US" sz="2200" b="1" dirty="0">
                <a:latin typeface="Times New Roman" panose="02020603050405020304" pitchFamily="18" charset="0"/>
                <a:cs typeface="Times New Roman" panose="02020603050405020304" pitchFamily="18" charset="0"/>
              </a:rPr>
              <a:t>4. Better Resource Management for Hospitals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Efficient Patient Distribution</a:t>
            </a:r>
            <a:r>
              <a:rPr lang="en-US" sz="2200" dirty="0">
                <a:latin typeface="Times New Roman" panose="02020603050405020304" pitchFamily="18" charset="0"/>
                <a:cs typeface="Times New Roman" panose="02020603050405020304" pitchFamily="18" charset="0"/>
              </a:rPr>
              <a:t>: Hospitals can manage incoming patient flow more effectively by sharing real-time capacity information, reducing bottlenecks in emergency rooms and overcrowding.</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Data-Driven Insights</a:t>
            </a:r>
            <a:r>
              <a:rPr lang="en-US" sz="2200" dirty="0">
                <a:latin typeface="Times New Roman" panose="02020603050405020304" pitchFamily="18" charset="0"/>
                <a:cs typeface="Times New Roman" panose="02020603050405020304" pitchFamily="18" charset="0"/>
              </a:rPr>
              <a:t>: Hospitals can leverage user data for better resource allocation and to identify trends in patient needs (e.g., higher demand for certain specialists or services).</a:t>
            </a:r>
          </a:p>
          <a:p>
            <a:endParaRPr lang="en-IN" dirty="0"/>
          </a:p>
        </p:txBody>
      </p:sp>
    </p:spTree>
    <p:extLst>
      <p:ext uri="{BB962C8B-B14F-4D97-AF65-F5344CB8AC3E}">
        <p14:creationId xmlns:p14="http://schemas.microsoft.com/office/powerpoint/2010/main" val="60302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hospital finder app</a:t>
            </a:r>
            <a:r>
              <a:rPr lang="en-US" sz="2000" dirty="0">
                <a:latin typeface="Times New Roman" panose="02020603050405020304" pitchFamily="18" charset="0"/>
                <a:cs typeface="Times New Roman" panose="02020603050405020304" pitchFamily="18" charset="0"/>
              </a:rPr>
              <a:t> holds immense potential to revolutionize healthcare accessibility by bridging the gap between patients and medical facilities. Its core benefits include providing users with quick and easy access to nearby hospitals, real-time information on hospital capacity and services, and optimized emergency responses. By integrating location-based services, real-time data, and personalized recommendations, the app enhances decision-making for patients, leading to faster and more efficient access to care, especially in emergency situations.</a:t>
            </a:r>
          </a:p>
          <a:p>
            <a:pPr algn="just"/>
            <a:r>
              <a:rPr lang="en-US" sz="2000" dirty="0">
                <a:latin typeface="Times New Roman" panose="02020603050405020304" pitchFamily="18" charset="0"/>
                <a:cs typeface="Times New Roman" panose="02020603050405020304" pitchFamily="18" charset="0"/>
              </a:rPr>
              <a:t>Moreover, hospitals benefit from better resource management, as real-time capacity updates help balance patient flow and prevent overcrowding. The app fosters transparency through patient reviews and ratings, empowering users to make informed healthcare choices. Integrations with telemedicine services, ambulance dispatch, and preventive care alerts further extend the app's utility, making it a comprehensive tool for both routine healthcare needs and urgent care situations</a:t>
            </a:r>
            <a:r>
              <a:rPr lang="en-US" sz="2600" dirty="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223857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r>
              <a:rPr lang="en-US" b="1" dirty="0">
                <a:solidFill>
                  <a:schemeClr val="tx1"/>
                </a:solidFill>
                <a:latin typeface="Cambria" panose="02040503050406030204" pitchFamily="18" charset="0"/>
                <a:ea typeface="Cambria" panose="02040503050406030204" pitchFamily="18" charset="0"/>
                <a:hlinkClick r:id="rId3"/>
              </a:rPr>
              <a:t>https://github.com/Mahesh-219/hopsitalfinder</a:t>
            </a: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a:bodyPr>
          <a:lstStyle/>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1.Agarwal, S., &amp; LeFevre, A. E. (2017). Finding healthcare at your fingertips: A case study of apps addressing healthcare needs in India. In Proceedings of the Ninth International Conference on Information and Communication Technologies and Development (ICTD). </a:t>
            </a: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2. Hossain, M. S., &amp; Ahmed, K. (2019). Telemedicine system using Hospital Finder app. In 2019 3rd International Conference on Electrical, Computer &amp; Telecommunication Engineering (ICECTE).</a:t>
            </a: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3. Mehta, N., Pandit, A., &amp; Shukla, S. (2016). Hospital Finder mobile applications: a systematic review. International Journal of Pharmacy &amp; Technology, 8(3), 16065-16073.</a:t>
            </a: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4. National Institute of Standards and Technology (NIST). (2020). Digital Identity Guidelines: Authentication and Lifecycle Management. Retrieved from </a:t>
            </a:r>
            <a:r>
              <a:rPr lang="en-IN" dirty="0">
                <a:latin typeface="Times New Roman" panose="02020603050405020304" pitchFamily="18" charset="0"/>
                <a:ea typeface="Cambria" panose="02040503050406030204" pitchFamily="18" charset="0"/>
                <a:cs typeface="Times New Roman" panose="02020603050405020304" pitchFamily="18" charset="0"/>
                <a:hlinkClick r:id="rId2"/>
              </a:rPr>
              <a:t>https://nvlpubs.nist.gov/nistpubs/SpecialPublications/NIST.SP.800-63b.pdf</a:t>
            </a: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5.</a:t>
            </a: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dirty="0" err="1">
                <a:latin typeface="Times New Roman" panose="02020603050405020304" pitchFamily="18" charset="0"/>
                <a:ea typeface="Cambria" panose="02040503050406030204" pitchFamily="18" charset="0"/>
                <a:cs typeface="Times New Roman" panose="02020603050405020304" pitchFamily="18" charset="0"/>
              </a:rPr>
              <a:t>Llorens</a:t>
            </a:r>
            <a:r>
              <a:rPr lang="en-US" dirty="0">
                <a:latin typeface="Times New Roman" panose="02020603050405020304" pitchFamily="18" charset="0"/>
                <a:ea typeface="Cambria" panose="02040503050406030204" pitchFamily="18" charset="0"/>
                <a:cs typeface="Times New Roman" panose="02020603050405020304" pitchFamily="18" charset="0"/>
              </a:rPr>
              <a:t>-Montes, F. J., Ruiz-Moreno, A., &amp; del Barrio-García, S. (2015). Hospital Finder applications and service quality: Influencing patient loyalty and recommendation. Computers in Human Behavior, 48, 542-549</a:t>
            </a:r>
          </a:p>
          <a:p>
            <a:pPr marL="152400" indent="0">
              <a:spcBef>
                <a:spcPts val="0"/>
              </a:spcBef>
              <a:buNone/>
            </a:pP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3"/>
              </a:rPr>
              <a:t>https://www.indeed.com/career-advice/career-development/how-to-cite-a-research-paper</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descr="A mobile phone with a globe and a city in the background&#10;&#10;Description automatically generated">
            <a:extLst>
              <a:ext uri="{FF2B5EF4-FFF2-40B4-BE49-F238E27FC236}">
                <a16:creationId xmlns:a16="http://schemas.microsoft.com/office/drawing/2014/main" id="{9F75B1C0-7F3D-C5AB-2C5E-EE81E39AF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143001"/>
            <a:ext cx="10668000" cy="4952997"/>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FCAA-1CD6-2464-82DD-113591C7B0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1755A7-62B8-C6A1-F250-5667A001B3D1}"/>
              </a:ext>
            </a:extLst>
          </p:cNvPr>
          <p:cNvSpPr>
            <a:spLocks noGrp="1"/>
          </p:cNvSpPr>
          <p:nvPr>
            <p:ph idx="1"/>
          </p:nvPr>
        </p:nvSpPr>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Sustainable development goals of hospital finder: </a:t>
            </a:r>
            <a:r>
              <a:rPr lang="en-US" dirty="0">
                <a:latin typeface="Times New Roman" panose="02020603050405020304" pitchFamily="18" charset="0"/>
                <a:cs typeface="Times New Roman" panose="02020603050405020304" pitchFamily="18" charset="0"/>
              </a:rPr>
              <a:t>Explanation: Creating a web app focused on hospital finder aligns with several Sustainable Development Goals (SDGs). However, it's important to note that directly copying or paraphrasing content without proper citation is considered plagiarism. Here's a list of potential SDGs related to a hospital finder web app, along with brief explanations to help you develop your content while avoiding plagiarism.</a:t>
            </a:r>
          </a:p>
          <a:p>
            <a:r>
              <a:rPr lang="en-US" b="1" dirty="0">
                <a:latin typeface="Times New Roman" panose="02020603050405020304" pitchFamily="18" charset="0"/>
                <a:cs typeface="Times New Roman" panose="02020603050405020304" pitchFamily="18" charset="0"/>
              </a:rPr>
              <a:t>Good Health and Well-being (SDG 3): </a:t>
            </a:r>
            <a:r>
              <a:rPr lang="en-US" dirty="0">
                <a:latin typeface="Times New Roman" panose="02020603050405020304" pitchFamily="18" charset="0"/>
                <a:cs typeface="Times New Roman" panose="02020603050405020304" pitchFamily="18" charset="0"/>
              </a:rPr>
              <a:t>Explanation: The primary goal of a hospital finder app is to contribute to improving access to healthcare services, ensuring good health and well-being for individuals.</a:t>
            </a:r>
          </a:p>
          <a:p>
            <a:r>
              <a:rPr lang="en-US" b="1" dirty="0">
                <a:latin typeface="Times New Roman" panose="02020603050405020304" pitchFamily="18" charset="0"/>
                <a:cs typeface="Times New Roman" panose="02020603050405020304" pitchFamily="18" charset="0"/>
              </a:rPr>
              <a:t>Industry, Innovation, and Infrastructure (SDG 9): </a:t>
            </a:r>
            <a:r>
              <a:rPr lang="en-US" dirty="0">
                <a:latin typeface="Times New Roman" panose="02020603050405020304" pitchFamily="18" charset="0"/>
                <a:cs typeface="Times New Roman" panose="02020603050405020304" pitchFamily="18" charset="0"/>
              </a:rPr>
              <a:t>Explanation: Developing a technology-based solution like a hospital finder app involves innovation in healthcare infrastructure, contributing to sustainable development.</a:t>
            </a:r>
          </a:p>
          <a:p>
            <a:r>
              <a:rPr lang="en-US" b="1" dirty="0">
                <a:latin typeface="Times New Roman" panose="02020603050405020304" pitchFamily="18" charset="0"/>
                <a:cs typeface="Times New Roman" panose="02020603050405020304" pitchFamily="18" charset="0"/>
              </a:rPr>
              <a:t>Reduced Inequality (SDG 10):</a:t>
            </a:r>
            <a:r>
              <a:rPr lang="en-US" dirty="0">
                <a:latin typeface="Times New Roman" panose="02020603050405020304" pitchFamily="18" charset="0"/>
                <a:cs typeface="Times New Roman" panose="02020603050405020304" pitchFamily="18" charset="0"/>
              </a:rPr>
              <a:t> Explanation: By facilitating equal access to healthcare services through the app, you can contribute to reducing inequalities in health outcomes across different socio-economic groups.</a:t>
            </a:r>
          </a:p>
          <a:p>
            <a:r>
              <a:rPr lang="en-US" b="1" dirty="0">
                <a:latin typeface="Times New Roman" panose="02020603050405020304" pitchFamily="18" charset="0"/>
                <a:cs typeface="Times New Roman" panose="02020603050405020304" pitchFamily="18" charset="0"/>
              </a:rPr>
              <a:t>Partnerships for the Goals (SDG 17): </a:t>
            </a:r>
            <a:r>
              <a:rPr lang="en-US" dirty="0">
                <a:latin typeface="Times New Roman" panose="02020603050405020304" pitchFamily="18" charset="0"/>
                <a:cs typeface="Times New Roman" panose="02020603050405020304" pitchFamily="18" charset="0"/>
              </a:rPr>
              <a:t>Explanation: Collaborating with healthcare providers, governmental bodies, and NGOs is crucial for the success of the hospital finder app, promoting partnerships to achieve sustainable development goals</a:t>
            </a:r>
            <a:r>
              <a:rPr lang="en-US" dirty="0"/>
              <a:t>.</a:t>
            </a:r>
            <a:endParaRPr lang="en-IN" dirty="0"/>
          </a:p>
        </p:txBody>
      </p:sp>
    </p:spTree>
    <p:extLst>
      <p:ext uri="{BB962C8B-B14F-4D97-AF65-F5344CB8AC3E}">
        <p14:creationId xmlns:p14="http://schemas.microsoft.com/office/powerpoint/2010/main" val="1710979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38CD-D5EF-5C13-8B9B-ECD32FF8B0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046B34-249A-0229-2069-A5B31682F77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Life on Land (SDG 15): Explanation:</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Ensuring access to healthcare services, especially in rural or remote areas, contributes to sustainable development by promoting the well-being of communities and the ecosystems they are part of.</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Responsible Consumption and Production (SDG 12): Explanation: </a:t>
            </a:r>
            <a:r>
              <a:rPr lang="en-US" sz="2000" dirty="0">
                <a:latin typeface="Times New Roman" panose="02020603050405020304" pitchFamily="18" charset="0"/>
                <a:cs typeface="Times New Roman" panose="02020603050405020304" pitchFamily="18" charset="0"/>
              </a:rPr>
              <a:t>Developing a hospital finder app involves considering sustainable practices in software development, contributing to responsible consumption and production. When incorporating these SDGs into your content, make sure to express the ideas in your own words and provide proper citations if you use specific information or statistics. This helps you avoid plagiarism and ensures the content is original and accurate.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397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2267</TotalTime>
  <Words>2299</Words>
  <Application>Microsoft Office PowerPoint</Application>
  <PresentationFormat>Widescreen</PresentationFormat>
  <Paragraphs>151</Paragraphs>
  <Slides>24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Bookman Old Style</vt:lpstr>
      <vt:lpstr>Calibri</vt:lpstr>
      <vt:lpstr>Cambria</vt:lpstr>
      <vt:lpstr>Courier New</vt:lpstr>
      <vt:lpstr>Times New Roman</vt:lpstr>
      <vt:lpstr>Verdana</vt:lpstr>
      <vt:lpstr>Wingdings</vt:lpstr>
      <vt:lpstr>Bioinformatics</vt:lpstr>
      <vt:lpstr>HOSPITAL FINDER</vt:lpstr>
      <vt:lpstr>CONTENT</vt:lpstr>
      <vt:lpstr>PowerPoint Presentation</vt:lpstr>
      <vt:lpstr>PROBLEM STATEMENT</vt:lpstr>
      <vt:lpstr>Introduction</vt:lpstr>
      <vt:lpstr>Literature Review </vt:lpstr>
      <vt:lpstr>Existing method Drawback</vt:lpstr>
      <vt:lpstr>Existing method Drawback</vt:lpstr>
      <vt:lpstr>Proposed Method</vt:lpstr>
      <vt:lpstr>Objectives</vt:lpstr>
      <vt:lpstr>Objectives</vt:lpstr>
      <vt:lpstr>Methodology/Modules</vt:lpstr>
      <vt:lpstr>Architecture</vt:lpstr>
      <vt:lpstr>Hardware/software components</vt:lpstr>
      <vt:lpstr>Timeline of Project</vt:lpstr>
      <vt:lpstr>Expected Outcomes</vt:lpstr>
      <vt:lpstr>Expected Outcomes</vt:lpstr>
      <vt:lpstr>Conclusion</vt:lpstr>
      <vt:lpstr>Github Link</vt:lpstr>
      <vt:lpstr>References</vt:lpstr>
      <vt:lpstr>Project work mapping with SDG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Vadde Vinod</cp:lastModifiedBy>
  <cp:revision>26</cp:revision>
  <dcterms:created xsi:type="dcterms:W3CDTF">2023-03-16T03:26:27Z</dcterms:created>
  <dcterms:modified xsi:type="dcterms:W3CDTF">2025-01-08T13:56:02Z</dcterms:modified>
</cp:coreProperties>
</file>